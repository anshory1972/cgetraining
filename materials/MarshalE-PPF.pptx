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5" r:id="rId4"/>
    <p:sldId id="266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28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37518-8D9C-46D2-AA35-6837E4AFAF11}" type="datetimeFigureOut">
              <a:rPr lang="en-US" smtClean="0"/>
              <a:pPr/>
              <a:t>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4DCB7-166B-4065-9A09-02DB9DEEA5B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269544" y="609600"/>
            <a:ext cx="2702256" cy="2584820"/>
            <a:chOff x="269544" y="609600"/>
            <a:chExt cx="2702256" cy="2584820"/>
          </a:xfrm>
        </p:grpSpPr>
        <p:cxnSp>
          <p:nvCxnSpPr>
            <p:cNvPr id="134" name="Straight Arrow Connector 133"/>
            <p:cNvCxnSpPr/>
            <p:nvPr/>
          </p:nvCxnSpPr>
          <p:spPr>
            <a:xfrm>
              <a:off x="1828800" y="2971800"/>
              <a:ext cx="11430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>
              <a:off x="2057400" y="2819400"/>
              <a:ext cx="4572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i="1" baseline="30000" dirty="0">
                  <a:latin typeface="Times New Roman" pitchFamily="18" charset="0"/>
                  <a:cs typeface="Times New Roman" pitchFamily="18" charset="0"/>
                </a:rPr>
                <a:t>*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2" name="Straight Arrow Connector 131"/>
            <p:cNvCxnSpPr/>
            <p:nvPr/>
          </p:nvCxnSpPr>
          <p:spPr>
            <a:xfrm rot="10800000">
              <a:off x="685800" y="2971800"/>
              <a:ext cx="990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990600" y="2825088"/>
              <a:ext cx="4572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i="1" baseline="30000" dirty="0">
                  <a:latin typeface="Times New Roman" pitchFamily="18" charset="0"/>
                  <a:cs typeface="Times New Roman" pitchFamily="18" charset="0"/>
                </a:rPr>
                <a:t>*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28" name="Straight Arrow Connector 127"/>
            <p:cNvCxnSpPr/>
            <p:nvPr/>
          </p:nvCxnSpPr>
          <p:spPr>
            <a:xfrm rot="5400000">
              <a:off x="-317654" y="1370806"/>
              <a:ext cx="15240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/>
            <p:nvPr/>
          </p:nvCxnSpPr>
          <p:spPr>
            <a:xfrm rot="5400000">
              <a:off x="139546" y="2514600"/>
              <a:ext cx="609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/>
            <p:cNvSpPr txBox="1"/>
            <p:nvPr/>
          </p:nvSpPr>
          <p:spPr>
            <a:xfrm>
              <a:off x="269544" y="2334904"/>
              <a:ext cx="4572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i="1" baseline="30000" dirty="0">
                  <a:latin typeface="Times New Roman" pitchFamily="18" charset="0"/>
                  <a:cs typeface="Times New Roman" pitchFamily="18" charset="0"/>
                </a:rPr>
                <a:t>*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291152" y="1066800"/>
              <a:ext cx="4572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i="1" baseline="30000" dirty="0">
                  <a:latin typeface="Times New Roman" pitchFamily="18" charset="0"/>
                  <a:cs typeface="Times New Roman" pitchFamily="18" charset="0"/>
                </a:rPr>
                <a:t>*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26" name="Group 125"/>
            <p:cNvGrpSpPr/>
            <p:nvPr/>
          </p:nvGrpSpPr>
          <p:grpSpPr>
            <a:xfrm>
              <a:off x="533400" y="623248"/>
              <a:ext cx="2362200" cy="2362200"/>
              <a:chOff x="533400" y="623248"/>
              <a:chExt cx="2362200" cy="2362200"/>
            </a:xfrm>
          </p:grpSpPr>
          <p:cxnSp>
            <p:nvCxnSpPr>
              <p:cNvPr id="119" name="Straight Connector 118"/>
              <p:cNvCxnSpPr/>
              <p:nvPr/>
            </p:nvCxnSpPr>
            <p:spPr>
              <a:xfrm>
                <a:off x="533400" y="2182504"/>
                <a:ext cx="2362200" cy="158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rot="16200000" flipH="1">
                <a:off x="560410" y="1785298"/>
                <a:ext cx="2362200" cy="381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Rectangle 3"/>
          <p:cNvSpPr/>
          <p:nvPr/>
        </p:nvSpPr>
        <p:spPr>
          <a:xfrm>
            <a:off x="685800" y="609600"/>
            <a:ext cx="2209800" cy="22098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40"/>
          <p:cNvGrpSpPr/>
          <p:nvPr/>
        </p:nvGrpSpPr>
        <p:grpSpPr>
          <a:xfrm>
            <a:off x="3429000" y="609600"/>
            <a:ext cx="2286000" cy="2266950"/>
            <a:chOff x="3429000" y="609600"/>
            <a:chExt cx="2286000" cy="2266950"/>
          </a:xfrm>
        </p:grpSpPr>
        <p:pic>
          <p:nvPicPr>
            <p:cNvPr id="2059" name="Picture 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429000" y="609600"/>
              <a:ext cx="2286000" cy="2266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3" name="Group 35"/>
            <p:cNvGrpSpPr/>
            <p:nvPr/>
          </p:nvGrpSpPr>
          <p:grpSpPr>
            <a:xfrm>
              <a:off x="3504406" y="610394"/>
              <a:ext cx="2210594" cy="2210594"/>
              <a:chOff x="685006" y="610394"/>
              <a:chExt cx="2210594" cy="2210594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 rot="5400000">
                <a:off x="-419100" y="1714500"/>
                <a:ext cx="2209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685800" y="2819400"/>
                <a:ext cx="2209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39"/>
          <p:cNvGrpSpPr/>
          <p:nvPr/>
        </p:nvGrpSpPr>
        <p:grpSpPr>
          <a:xfrm>
            <a:off x="6019800" y="609600"/>
            <a:ext cx="2286000" cy="2286000"/>
            <a:chOff x="6019800" y="609600"/>
            <a:chExt cx="2286000" cy="2286000"/>
          </a:xfrm>
        </p:grpSpPr>
        <p:pic>
          <p:nvPicPr>
            <p:cNvPr id="2060" name="Picture 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19800" y="628650"/>
              <a:ext cx="2286000" cy="2266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7" name="Group 36"/>
            <p:cNvGrpSpPr/>
            <p:nvPr/>
          </p:nvGrpSpPr>
          <p:grpSpPr>
            <a:xfrm>
              <a:off x="6095206" y="609600"/>
              <a:ext cx="2210594" cy="2210594"/>
              <a:chOff x="685006" y="610394"/>
              <a:chExt cx="2210594" cy="2210594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rot="5400000">
                <a:off x="-419100" y="1714500"/>
                <a:ext cx="2209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685800" y="2819400"/>
                <a:ext cx="2209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Group 22"/>
          <p:cNvGrpSpPr/>
          <p:nvPr/>
        </p:nvGrpSpPr>
        <p:grpSpPr>
          <a:xfrm rot="10800000">
            <a:off x="6096000" y="533399"/>
            <a:ext cx="2286000" cy="2286000"/>
            <a:chOff x="6019800" y="609600"/>
            <a:chExt cx="2286000" cy="2286000"/>
          </a:xfrm>
        </p:grpSpPr>
        <p:pic>
          <p:nvPicPr>
            <p:cNvPr id="24" name="Picture 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19800" y="628650"/>
              <a:ext cx="2286000" cy="2266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25" name="Group 36"/>
            <p:cNvGrpSpPr/>
            <p:nvPr/>
          </p:nvGrpSpPr>
          <p:grpSpPr>
            <a:xfrm>
              <a:off x="6095206" y="609600"/>
              <a:ext cx="2210594" cy="2210594"/>
              <a:chOff x="685006" y="610394"/>
              <a:chExt cx="2210594" cy="2210594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rot="5400000">
                <a:off x="-419100" y="1714500"/>
                <a:ext cx="2209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685800" y="2819400"/>
                <a:ext cx="2209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Freeform 42"/>
          <p:cNvSpPr/>
          <p:nvPr/>
        </p:nvSpPr>
        <p:spPr>
          <a:xfrm>
            <a:off x="675861" y="628153"/>
            <a:ext cx="2226365" cy="2202511"/>
          </a:xfrm>
          <a:custGeom>
            <a:avLst/>
            <a:gdLst>
              <a:gd name="connsiteX0" fmla="*/ 2226365 w 2226365"/>
              <a:gd name="connsiteY0" fmla="*/ 0 h 2202511"/>
              <a:gd name="connsiteX1" fmla="*/ 1375576 w 2226365"/>
              <a:gd name="connsiteY1" fmla="*/ 1510748 h 2202511"/>
              <a:gd name="connsiteX2" fmla="*/ 0 w 2226365"/>
              <a:gd name="connsiteY2" fmla="*/ 2202511 h 2202511"/>
              <a:gd name="connsiteX0" fmla="*/ 2226365 w 2226365"/>
              <a:gd name="connsiteY0" fmla="*/ 0 h 2202511"/>
              <a:gd name="connsiteX1" fmla="*/ 1375576 w 2226365"/>
              <a:gd name="connsiteY1" fmla="*/ 1282148 h 2202511"/>
              <a:gd name="connsiteX2" fmla="*/ 0 w 2226365"/>
              <a:gd name="connsiteY2" fmla="*/ 2202511 h 220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6365" h="2202511">
                <a:moveTo>
                  <a:pt x="2226365" y="0"/>
                </a:moveTo>
                <a:cubicBezTo>
                  <a:pt x="1986501" y="571831"/>
                  <a:pt x="1746637" y="915063"/>
                  <a:pt x="1375576" y="1282148"/>
                </a:cubicBezTo>
                <a:cubicBezTo>
                  <a:pt x="1004515" y="1649233"/>
                  <a:pt x="502257" y="2040172"/>
                  <a:pt x="0" y="2202511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6009861" y="4122586"/>
            <a:ext cx="2295939" cy="2278214"/>
            <a:chOff x="6009861" y="3874936"/>
            <a:chExt cx="2295939" cy="2278214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09861" y="3886200"/>
              <a:ext cx="2286000" cy="2266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50" name="Group 49"/>
            <p:cNvGrpSpPr/>
            <p:nvPr/>
          </p:nvGrpSpPr>
          <p:grpSpPr>
            <a:xfrm>
              <a:off x="6086061" y="3874936"/>
              <a:ext cx="2219739" cy="2221064"/>
              <a:chOff x="675861" y="609601"/>
              <a:chExt cx="2219739" cy="2221064"/>
            </a:xfrm>
          </p:grpSpPr>
          <p:cxnSp>
            <p:nvCxnSpPr>
              <p:cNvPr id="46" name="Straight Connector 45"/>
              <p:cNvCxnSpPr>
                <a:endCxn id="43" idx="2"/>
              </p:cNvCxnSpPr>
              <p:nvPr/>
            </p:nvCxnSpPr>
            <p:spPr>
              <a:xfrm rot="5400000">
                <a:off x="-429701" y="1715163"/>
                <a:ext cx="2221064" cy="99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>
                <a:stCxn id="43" idx="2"/>
              </p:cNvCxnSpPr>
              <p:nvPr/>
            </p:nvCxnSpPr>
            <p:spPr>
              <a:xfrm flipV="1">
                <a:off x="675861" y="2820988"/>
                <a:ext cx="2219739" cy="9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Group 116"/>
          <p:cNvGrpSpPr/>
          <p:nvPr/>
        </p:nvGrpSpPr>
        <p:grpSpPr>
          <a:xfrm>
            <a:off x="275854" y="193344"/>
            <a:ext cx="2619746" cy="2626850"/>
            <a:chOff x="275854" y="193344"/>
            <a:chExt cx="2619746" cy="2626850"/>
          </a:xfrm>
        </p:grpSpPr>
        <p:cxnSp>
          <p:nvCxnSpPr>
            <p:cNvPr id="59" name="Straight Arrow Connector 58"/>
            <p:cNvCxnSpPr/>
            <p:nvPr/>
          </p:nvCxnSpPr>
          <p:spPr>
            <a:xfrm rot="5400000">
              <a:off x="-647700" y="1714500"/>
              <a:ext cx="22098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>
              <a:off x="685800" y="381000"/>
              <a:ext cx="22098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1475096" y="193344"/>
              <a:ext cx="33374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i="1" baseline="30000" dirty="0" err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75854" y="1611868"/>
              <a:ext cx="36420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 err="1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i="1" baseline="30000" dirty="0" err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3369598" y="240268"/>
            <a:ext cx="2650202" cy="2796064"/>
            <a:chOff x="3369598" y="240268"/>
            <a:chExt cx="2650202" cy="2796064"/>
          </a:xfrm>
        </p:grpSpPr>
        <p:sp>
          <p:nvSpPr>
            <p:cNvPr id="64" name="TextBox 63"/>
            <p:cNvSpPr txBox="1"/>
            <p:nvPr/>
          </p:nvSpPr>
          <p:spPr>
            <a:xfrm>
              <a:off x="3369598" y="240268"/>
              <a:ext cx="36420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694070" y="2667000"/>
              <a:ext cx="325730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5884198" y="240268"/>
            <a:ext cx="2726402" cy="2796064"/>
            <a:chOff x="5884198" y="240268"/>
            <a:chExt cx="2726402" cy="2796064"/>
          </a:xfrm>
        </p:grpSpPr>
        <p:sp>
          <p:nvSpPr>
            <p:cNvPr id="65" name="TextBox 64"/>
            <p:cNvSpPr txBox="1"/>
            <p:nvPr/>
          </p:nvSpPr>
          <p:spPr>
            <a:xfrm>
              <a:off x="5884198" y="240268"/>
              <a:ext cx="36420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284870" y="2667000"/>
              <a:ext cx="325730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533400" y="3745468"/>
            <a:ext cx="2667000" cy="2731532"/>
            <a:chOff x="533400" y="3745468"/>
            <a:chExt cx="2667000" cy="2731532"/>
          </a:xfrm>
        </p:grpSpPr>
        <p:grpSp>
          <p:nvGrpSpPr>
            <p:cNvPr id="57" name="Group 56"/>
            <p:cNvGrpSpPr/>
            <p:nvPr/>
          </p:nvGrpSpPr>
          <p:grpSpPr>
            <a:xfrm>
              <a:off x="682388" y="4122586"/>
              <a:ext cx="2223151" cy="2221064"/>
              <a:chOff x="682388" y="3874936"/>
              <a:chExt cx="2223151" cy="2221064"/>
            </a:xfrm>
          </p:grpSpPr>
          <p:sp>
            <p:nvSpPr>
              <p:cNvPr id="54" name="Freeform 53"/>
              <p:cNvSpPr/>
              <p:nvPr/>
            </p:nvSpPr>
            <p:spPr>
              <a:xfrm>
                <a:off x="682388" y="4067033"/>
                <a:ext cx="1937982" cy="2019868"/>
              </a:xfrm>
              <a:custGeom>
                <a:avLst/>
                <a:gdLst>
                  <a:gd name="connsiteX0" fmla="*/ 0 w 1937982"/>
                  <a:gd name="connsiteY0" fmla="*/ 0 h 2019868"/>
                  <a:gd name="connsiteX1" fmla="*/ 1282890 w 1937982"/>
                  <a:gd name="connsiteY1" fmla="*/ 750627 h 2019868"/>
                  <a:gd name="connsiteX2" fmla="*/ 1937982 w 1937982"/>
                  <a:gd name="connsiteY2" fmla="*/ 2019868 h 2019868"/>
                  <a:gd name="connsiteX0" fmla="*/ 0 w 1937982"/>
                  <a:gd name="connsiteY0" fmla="*/ 0 h 2019868"/>
                  <a:gd name="connsiteX1" fmla="*/ 1282890 w 1937982"/>
                  <a:gd name="connsiteY1" fmla="*/ 750627 h 2019868"/>
                  <a:gd name="connsiteX2" fmla="*/ 1937982 w 1937982"/>
                  <a:gd name="connsiteY2" fmla="*/ 2019868 h 2019868"/>
                  <a:gd name="connsiteX0" fmla="*/ 0 w 1937982"/>
                  <a:gd name="connsiteY0" fmla="*/ 0 h 2019868"/>
                  <a:gd name="connsiteX1" fmla="*/ 1282890 w 1937982"/>
                  <a:gd name="connsiteY1" fmla="*/ 674427 h 2019868"/>
                  <a:gd name="connsiteX2" fmla="*/ 1937982 w 1937982"/>
                  <a:gd name="connsiteY2" fmla="*/ 2019868 h 2019868"/>
                  <a:gd name="connsiteX0" fmla="*/ 0 w 1937982"/>
                  <a:gd name="connsiteY0" fmla="*/ 0 h 2019868"/>
                  <a:gd name="connsiteX1" fmla="*/ 1282890 w 1937982"/>
                  <a:gd name="connsiteY1" fmla="*/ 674427 h 2019868"/>
                  <a:gd name="connsiteX2" fmla="*/ 1937982 w 1937982"/>
                  <a:gd name="connsiteY2" fmla="*/ 2019868 h 2019868"/>
                  <a:gd name="connsiteX0" fmla="*/ 0 w 1937982"/>
                  <a:gd name="connsiteY0" fmla="*/ 0 h 2019868"/>
                  <a:gd name="connsiteX1" fmla="*/ 1282890 w 1937982"/>
                  <a:gd name="connsiteY1" fmla="*/ 674427 h 2019868"/>
                  <a:gd name="connsiteX2" fmla="*/ 1937982 w 1937982"/>
                  <a:gd name="connsiteY2" fmla="*/ 2019868 h 201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7982" h="2019868">
                    <a:moveTo>
                      <a:pt x="0" y="0"/>
                    </a:moveTo>
                    <a:cubicBezTo>
                      <a:pt x="479946" y="206991"/>
                      <a:pt x="820003" y="225188"/>
                      <a:pt x="1282890" y="674427"/>
                    </a:cubicBezTo>
                    <a:cubicBezTo>
                      <a:pt x="1756012" y="1173708"/>
                      <a:pt x="1771934" y="1553570"/>
                      <a:pt x="1937982" y="2019868"/>
                    </a:cubicBezTo>
                  </a:path>
                </a:pathLst>
              </a:cu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1" name="Group 50"/>
              <p:cNvGrpSpPr/>
              <p:nvPr/>
            </p:nvGrpSpPr>
            <p:grpSpPr>
              <a:xfrm>
                <a:off x="685800" y="3874936"/>
                <a:ext cx="2219739" cy="2221064"/>
                <a:chOff x="675861" y="609601"/>
                <a:chExt cx="2219739" cy="2221064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 rot="5400000">
                  <a:off x="-429701" y="1715163"/>
                  <a:ext cx="2221064" cy="99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 flipV="1">
                  <a:off x="675861" y="2820988"/>
                  <a:ext cx="2219739" cy="967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8" name="TextBox 67"/>
            <p:cNvSpPr txBox="1"/>
            <p:nvPr/>
          </p:nvSpPr>
          <p:spPr>
            <a:xfrm>
              <a:off x="2836198" y="6107668"/>
              <a:ext cx="36420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33400" y="3745468"/>
              <a:ext cx="36420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6019800" y="3733800"/>
            <a:ext cx="2667000" cy="2731532"/>
            <a:chOff x="6019800" y="3733800"/>
            <a:chExt cx="2667000" cy="2731532"/>
          </a:xfrm>
        </p:grpSpPr>
        <p:sp>
          <p:nvSpPr>
            <p:cNvPr id="70" name="TextBox 69"/>
            <p:cNvSpPr txBox="1"/>
            <p:nvPr/>
          </p:nvSpPr>
          <p:spPr>
            <a:xfrm>
              <a:off x="8322598" y="6096000"/>
              <a:ext cx="36420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019800" y="3733800"/>
              <a:ext cx="364202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838200" y="4250109"/>
            <a:ext cx="2860071" cy="1652547"/>
            <a:chOff x="838200" y="4250109"/>
            <a:chExt cx="2860071" cy="1652547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838200" y="4250109"/>
              <a:ext cx="2438400" cy="1412544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3007056" y="5533324"/>
              <a:ext cx="691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 /p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sp>
          <p:nvSpPr>
            <p:cNvPr id="82" name="Oval 81"/>
            <p:cNvSpPr/>
            <p:nvPr/>
          </p:nvSpPr>
          <p:spPr>
            <a:xfrm>
              <a:off x="1552494" y="4640249"/>
              <a:ext cx="76200" cy="762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990601" y="1550430"/>
            <a:ext cx="2362200" cy="1954770"/>
            <a:chOff x="990600" y="1550430"/>
            <a:chExt cx="2473643" cy="2095502"/>
          </a:xfrm>
        </p:grpSpPr>
        <p:cxnSp>
          <p:nvCxnSpPr>
            <p:cNvPr id="94" name="Straight Connector 93"/>
            <p:cNvCxnSpPr/>
            <p:nvPr/>
          </p:nvCxnSpPr>
          <p:spPr>
            <a:xfrm>
              <a:off x="990600" y="1550430"/>
              <a:ext cx="2209800" cy="18288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2971800" y="3276600"/>
              <a:ext cx="4924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w/r</a:t>
              </a:r>
              <a:endParaRPr lang="en-US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1710180" y="2144172"/>
              <a:ext cx="76200" cy="762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263856" y="4420394"/>
            <a:ext cx="1627496" cy="2257910"/>
            <a:chOff x="263856" y="4420394"/>
            <a:chExt cx="1627496" cy="2257910"/>
          </a:xfrm>
        </p:grpSpPr>
        <p:grpSp>
          <p:nvGrpSpPr>
            <p:cNvPr id="107" name="Group 106"/>
            <p:cNvGrpSpPr/>
            <p:nvPr/>
          </p:nvGrpSpPr>
          <p:grpSpPr>
            <a:xfrm>
              <a:off x="685800" y="4420394"/>
              <a:ext cx="1143000" cy="1905000"/>
              <a:chOff x="685800" y="4420394"/>
              <a:chExt cx="1143000" cy="1905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 rot="5400000">
                <a:off x="647700" y="5372100"/>
                <a:ext cx="1905000" cy="158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rot="10800000">
                <a:off x="685800" y="4675496"/>
                <a:ext cx="1143000" cy="158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TextBox 107"/>
            <p:cNvSpPr txBox="1"/>
            <p:nvPr/>
          </p:nvSpPr>
          <p:spPr>
            <a:xfrm>
              <a:off x="1434152" y="630897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i="1" baseline="30000" dirty="0">
                  <a:latin typeface="Times New Roman" pitchFamily="18" charset="0"/>
                  <a:cs typeface="Times New Roman" pitchFamily="18" charset="0"/>
                </a:rPr>
                <a:t>*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263856" y="4476464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i="1" baseline="30000" dirty="0">
                  <a:latin typeface="Times New Roman" pitchFamily="18" charset="0"/>
                  <a:cs typeface="Times New Roman" pitchFamily="18" charset="0"/>
                </a:rPr>
                <a:t>*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380096" y="3012145"/>
            <a:ext cx="5306704" cy="1091601"/>
            <a:chOff x="3380096" y="3012145"/>
            <a:chExt cx="5306704" cy="1091601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80096" y="3012145"/>
              <a:ext cx="2619375" cy="561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050661" y="3048000"/>
              <a:ext cx="2636139" cy="5311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629400" y="3733800"/>
              <a:ext cx="1152525" cy="3699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72" name="Group 171"/>
          <p:cNvGrpSpPr/>
          <p:nvPr/>
        </p:nvGrpSpPr>
        <p:grpSpPr>
          <a:xfrm>
            <a:off x="685800" y="2362200"/>
            <a:ext cx="5257800" cy="3886200"/>
            <a:chOff x="685800" y="2438400"/>
            <a:chExt cx="5257800" cy="3886200"/>
          </a:xfrm>
        </p:grpSpPr>
        <p:sp>
          <p:nvSpPr>
            <p:cNvPr id="160" name="Rectangle 159"/>
            <p:cNvSpPr/>
            <p:nvPr/>
          </p:nvSpPr>
          <p:spPr>
            <a:xfrm rot="16200000">
              <a:off x="-133350" y="4705350"/>
              <a:ext cx="2438400" cy="8001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GENERAL</a:t>
              </a:r>
              <a:br>
                <a:rPr lang="en-US" b="1" dirty="0"/>
              </a:br>
              <a:r>
                <a:rPr lang="en-US" b="1" dirty="0"/>
                <a:t> EQUILIBIRUM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1562100" y="3886200"/>
              <a:ext cx="1752600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RESOURCE CONSTRAINT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1562100" y="4724400"/>
              <a:ext cx="1752600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PRODUCTION TECHNOLOGY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1562100" y="5562600"/>
              <a:ext cx="1752600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CONSUMER’S PREFERENCE</a:t>
              </a:r>
            </a:p>
          </p:txBody>
        </p:sp>
        <p:cxnSp>
          <p:nvCxnSpPr>
            <p:cNvPr id="166" name="Straight Arrow Connector 165"/>
            <p:cNvCxnSpPr/>
            <p:nvPr/>
          </p:nvCxnSpPr>
          <p:spPr>
            <a:xfrm rot="16200000" flipV="1">
              <a:off x="1447800" y="2895600"/>
              <a:ext cx="1295400" cy="38100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/>
            <p:cNvCxnSpPr/>
            <p:nvPr/>
          </p:nvCxnSpPr>
          <p:spPr>
            <a:xfrm flipV="1">
              <a:off x="3429000" y="3581400"/>
              <a:ext cx="1524000" cy="137160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/>
            <p:cNvCxnSpPr/>
            <p:nvPr/>
          </p:nvCxnSpPr>
          <p:spPr>
            <a:xfrm flipV="1">
              <a:off x="3505200" y="5638800"/>
              <a:ext cx="2438400" cy="30480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3505200" y="609600"/>
            <a:ext cx="4136408" cy="2209800"/>
            <a:chOff x="3505200" y="609600"/>
            <a:chExt cx="4136408" cy="2209800"/>
          </a:xfrm>
        </p:grpSpPr>
        <p:cxnSp>
          <p:nvCxnSpPr>
            <p:cNvPr id="85" name="Straight Connector 84"/>
            <p:cNvCxnSpPr/>
            <p:nvPr/>
          </p:nvCxnSpPr>
          <p:spPr>
            <a:xfrm rot="16200000" flipH="1">
              <a:off x="3480149" y="1158920"/>
              <a:ext cx="1600200" cy="14478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16200000" flipH="1">
              <a:off x="6117608" y="1251004"/>
              <a:ext cx="1600200" cy="14478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V="1">
              <a:off x="3505200" y="990600"/>
              <a:ext cx="228600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 flipH="1" flipV="1">
              <a:off x="5676900" y="1028700"/>
              <a:ext cx="2209800" cy="1371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139 L -0.30833 0.00139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9" presetClass="exit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68363E-6 L -0.59167 1.68363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7567E-6 L -0.59114 0.00231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5295" y="780844"/>
            <a:ext cx="4439713" cy="510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98672" y="421944"/>
            <a:ext cx="3919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Mathematical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7808" y="5832144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 equations, 12 endogenous variables, 3 exogenous variables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98672" y="421944"/>
            <a:ext cx="39199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Mathematical representation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All equations can be collapsed into market clearing conditions and zero-profit: 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equlibrium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in all competitive markets”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1" y="2778456"/>
            <a:ext cx="5137836" cy="3698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1" name="Group 30"/>
          <p:cNvGrpSpPr/>
          <p:nvPr/>
        </p:nvGrpSpPr>
        <p:grpSpPr>
          <a:xfrm>
            <a:off x="1676400" y="3429000"/>
            <a:ext cx="3200400" cy="2971800"/>
            <a:chOff x="1676400" y="3429000"/>
            <a:chExt cx="3200400" cy="2971800"/>
          </a:xfrm>
        </p:grpSpPr>
        <p:sp>
          <p:nvSpPr>
            <p:cNvPr id="8" name="TextBox 7"/>
            <p:cNvSpPr txBox="1"/>
            <p:nvPr/>
          </p:nvSpPr>
          <p:spPr>
            <a:xfrm>
              <a:off x="1676400" y="3724870"/>
              <a:ext cx="1905000" cy="92333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Demand equals supply in all market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76400" y="5449669"/>
              <a:ext cx="1905000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Market is competitive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343400" y="3429000"/>
              <a:ext cx="381000" cy="381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stCxn id="8" idx="3"/>
            </p:cNvCxnSpPr>
            <p:nvPr/>
          </p:nvCxnSpPr>
          <p:spPr>
            <a:xfrm flipV="1">
              <a:off x="3581400" y="3733800"/>
              <a:ext cx="762000" cy="4527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endCxn id="24" idx="1"/>
            </p:cNvCxnSpPr>
            <p:nvPr/>
          </p:nvCxnSpPr>
          <p:spPr>
            <a:xfrm rot="16200000" flipH="1">
              <a:off x="3377253" y="4395148"/>
              <a:ext cx="1122595" cy="7143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4239904" y="4419600"/>
              <a:ext cx="381000" cy="381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/>
            <p:cNvCxnSpPr>
              <a:stCxn id="8" idx="3"/>
              <a:endCxn id="20" idx="1"/>
            </p:cNvCxnSpPr>
            <p:nvPr/>
          </p:nvCxnSpPr>
          <p:spPr>
            <a:xfrm>
              <a:off x="3581400" y="4186535"/>
              <a:ext cx="714300" cy="2888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4239904" y="5257800"/>
              <a:ext cx="381000" cy="381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495800" y="6019800"/>
              <a:ext cx="381000" cy="381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>
              <a:stCxn id="9" idx="3"/>
            </p:cNvCxnSpPr>
            <p:nvPr/>
          </p:nvCxnSpPr>
          <p:spPr>
            <a:xfrm>
              <a:off x="3581400" y="5772835"/>
              <a:ext cx="990600" cy="39936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98672" y="421944"/>
            <a:ext cx="39199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Mathematical representation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All equations can be collapsed into market clearing conditions and zero-profit: 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equlibrium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in all competitive markets”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2778456"/>
            <a:ext cx="5042679" cy="363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810000" y="2797792"/>
            <a:ext cx="495300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886200" y="2819400"/>
            <a:ext cx="441960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Walras</a:t>
            </a:r>
            <a:r>
              <a:rPr lang="en-US" dirty="0"/>
              <a:t>’ Law: with n-market only n-1 price can be determined!</a:t>
            </a:r>
          </a:p>
          <a:p>
            <a:r>
              <a:rPr lang="en-US" dirty="0"/>
              <a:t>Let one price as </a:t>
            </a:r>
            <a:r>
              <a:rPr lang="en-US" dirty="0" err="1"/>
              <a:t>numeraire</a:t>
            </a:r>
            <a:r>
              <a:rPr lang="en-US" dirty="0"/>
              <a:t> </a:t>
            </a:r>
            <a:r>
              <a:rPr lang="en-US" dirty="0" err="1"/>
              <a:t>eg</a:t>
            </a:r>
            <a:r>
              <a:rPr lang="en-US" dirty="0"/>
              <a:t> w exogenous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5295" y="780844"/>
            <a:ext cx="4439713" cy="510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98672" y="421944"/>
            <a:ext cx="3919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Mathematical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7808" y="5832144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 equations, 12 endogenous variables, 3 exogenous variables</a:t>
            </a:r>
          </a:p>
        </p:txBody>
      </p:sp>
      <p:sp>
        <p:nvSpPr>
          <p:cNvPr id="7" name="Oval 6"/>
          <p:cNvSpPr/>
          <p:nvPr/>
        </p:nvSpPr>
        <p:spPr>
          <a:xfrm>
            <a:off x="4939352" y="1322696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62600" y="1752600"/>
            <a:ext cx="3581400" cy="76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Technical change in one of the sector: PPF will change</a:t>
            </a:r>
          </a:p>
        </p:txBody>
      </p:sp>
      <p:cxnSp>
        <p:nvCxnSpPr>
          <p:cNvPr id="12" name="Straight Connector 11"/>
          <p:cNvCxnSpPr>
            <a:stCxn id="8" idx="1"/>
            <a:endCxn id="7" idx="5"/>
          </p:cNvCxnSpPr>
          <p:nvPr/>
        </p:nvCxnSpPr>
        <p:spPr>
          <a:xfrm rot="10800000">
            <a:off x="5264556" y="1647900"/>
            <a:ext cx="298044" cy="4857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5295" y="780844"/>
            <a:ext cx="4439713" cy="510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98672" y="421944"/>
            <a:ext cx="3919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Mathematical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7808" y="5832144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 equations, 12 endogenous variables, 3 exogenous variables</a:t>
            </a:r>
          </a:p>
        </p:txBody>
      </p:sp>
      <p:sp>
        <p:nvSpPr>
          <p:cNvPr id="7" name="Oval 6"/>
          <p:cNvSpPr/>
          <p:nvPr/>
        </p:nvSpPr>
        <p:spPr>
          <a:xfrm>
            <a:off x="4419600" y="35052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62600" y="1600200"/>
            <a:ext cx="3581400" cy="990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Preference change toward one of the product: indifference curve change</a:t>
            </a:r>
          </a:p>
        </p:txBody>
      </p:sp>
      <p:cxnSp>
        <p:nvCxnSpPr>
          <p:cNvPr id="12" name="Straight Connector 11"/>
          <p:cNvCxnSpPr>
            <a:stCxn id="8" idx="1"/>
            <a:endCxn id="7" idx="7"/>
          </p:cNvCxnSpPr>
          <p:nvPr/>
        </p:nvCxnSpPr>
        <p:spPr>
          <a:xfrm rot="10800000" flipV="1">
            <a:off x="4744804" y="2095500"/>
            <a:ext cx="817796" cy="14654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5295" y="780844"/>
            <a:ext cx="4439713" cy="510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98672" y="421944"/>
            <a:ext cx="3919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Mathematical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7808" y="5832144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 equations, 12 endogenous variables, 3 exogenous variables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4114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62600" y="1600200"/>
            <a:ext cx="3581400" cy="990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Increase in labor supply, e.g. migration: </a:t>
            </a:r>
            <a:r>
              <a:rPr lang="en-US" b="1" dirty="0" err="1">
                <a:solidFill>
                  <a:srgbClr val="FF0000"/>
                </a:solidFill>
              </a:rPr>
              <a:t>Edgworth</a:t>
            </a:r>
            <a:r>
              <a:rPr lang="en-US" b="1" dirty="0">
                <a:solidFill>
                  <a:srgbClr val="FF0000"/>
                </a:solidFill>
              </a:rPr>
              <a:t> box expands horizontally</a:t>
            </a:r>
          </a:p>
        </p:txBody>
      </p:sp>
      <p:cxnSp>
        <p:nvCxnSpPr>
          <p:cNvPr id="12" name="Straight Connector 11"/>
          <p:cNvCxnSpPr>
            <a:stCxn id="8" idx="1"/>
          </p:cNvCxnSpPr>
          <p:nvPr/>
        </p:nvCxnSpPr>
        <p:spPr>
          <a:xfrm rot="10800000" flipV="1">
            <a:off x="4800600" y="2095500"/>
            <a:ext cx="762000" cy="20193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5295" y="780844"/>
            <a:ext cx="4439713" cy="510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98672" y="421944"/>
            <a:ext cx="3919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Mathematical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7808" y="5832144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 equations, 12 endogenous variables, 3 exogenous variables</a:t>
            </a:r>
          </a:p>
        </p:txBody>
      </p:sp>
      <p:sp>
        <p:nvSpPr>
          <p:cNvPr id="7" name="Oval 6"/>
          <p:cNvSpPr/>
          <p:nvPr/>
        </p:nvSpPr>
        <p:spPr>
          <a:xfrm>
            <a:off x="5334000" y="4114800"/>
            <a:ext cx="3810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62600" y="1600200"/>
            <a:ext cx="3581400" cy="990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Increase in capital supply, e.g. investment  : </a:t>
            </a:r>
            <a:r>
              <a:rPr lang="en-US" b="1" dirty="0" err="1">
                <a:solidFill>
                  <a:srgbClr val="FF0000"/>
                </a:solidFill>
              </a:rPr>
              <a:t>Edgworth</a:t>
            </a:r>
            <a:r>
              <a:rPr lang="en-US" b="1" dirty="0">
                <a:solidFill>
                  <a:srgbClr val="FF0000"/>
                </a:solidFill>
              </a:rPr>
              <a:t> box expands vertically</a:t>
            </a:r>
          </a:p>
        </p:txBody>
      </p:sp>
      <p:cxnSp>
        <p:nvCxnSpPr>
          <p:cNvPr id="12" name="Straight Connector 11"/>
          <p:cNvCxnSpPr>
            <a:stCxn id="8" idx="1"/>
            <a:endCxn id="7" idx="0"/>
          </p:cNvCxnSpPr>
          <p:nvPr/>
        </p:nvCxnSpPr>
        <p:spPr>
          <a:xfrm rot="10800000" flipV="1">
            <a:off x="5524500" y="2095500"/>
            <a:ext cx="38100" cy="20193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199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Arief Anshory Yusuf</dc:creator>
  <cp:lastModifiedBy>Arief Yusuf</cp:lastModifiedBy>
  <cp:revision>48</cp:revision>
  <dcterms:created xsi:type="dcterms:W3CDTF">2009-10-27T07:24:09Z</dcterms:created>
  <dcterms:modified xsi:type="dcterms:W3CDTF">2020-01-12T15:59:32Z</dcterms:modified>
</cp:coreProperties>
</file>