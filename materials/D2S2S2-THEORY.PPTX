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15" r:id="rId2"/>
    <p:sldId id="314" r:id="rId3"/>
    <p:sldId id="310" r:id="rId4"/>
    <p:sldId id="311" r:id="rId5"/>
    <p:sldId id="260" r:id="rId6"/>
    <p:sldId id="261" r:id="rId7"/>
    <p:sldId id="262" r:id="rId8"/>
    <p:sldId id="289" r:id="rId9"/>
    <p:sldId id="290" r:id="rId10"/>
    <p:sldId id="291" r:id="rId11"/>
    <p:sldId id="264" r:id="rId12"/>
    <p:sldId id="265" r:id="rId13"/>
    <p:sldId id="266" r:id="rId14"/>
    <p:sldId id="295" r:id="rId15"/>
    <p:sldId id="296" r:id="rId16"/>
    <p:sldId id="267" r:id="rId17"/>
    <p:sldId id="297" r:id="rId18"/>
    <p:sldId id="270" r:id="rId19"/>
    <p:sldId id="271" r:id="rId20"/>
    <p:sldId id="273" r:id="rId21"/>
    <p:sldId id="275" r:id="rId22"/>
    <p:sldId id="276" r:id="rId23"/>
    <p:sldId id="274" r:id="rId24"/>
    <p:sldId id="277" r:id="rId25"/>
    <p:sldId id="302" r:id="rId26"/>
    <p:sldId id="317" r:id="rId27"/>
    <p:sldId id="318" r:id="rId28"/>
    <p:sldId id="319" r:id="rId29"/>
  </p:sldIdLst>
  <p:sldSz cx="9144000" cy="6858000" type="screen4x3"/>
  <p:notesSz cx="6888163" cy="100187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771" autoAdjust="0"/>
    <p:restoredTop sz="71119" autoAdjust="0"/>
  </p:normalViewPr>
  <p:slideViewPr>
    <p:cSldViewPr>
      <p:cViewPr varScale="1">
        <p:scale>
          <a:sx n="47" d="100"/>
          <a:sy n="47" d="100"/>
        </p:scale>
        <p:origin x="-172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4"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19.wmf"/><Relationship Id="rId5" Type="http://schemas.openxmlformats.org/officeDocument/2006/relationships/image" Target="../media/image26.wmf"/><Relationship Id="rId4"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 Id="rId5" Type="http://schemas.openxmlformats.org/officeDocument/2006/relationships/image" Target="../media/image31.wmf"/><Relationship Id="rId4" Type="http://schemas.openxmlformats.org/officeDocument/2006/relationships/image" Target="../media/image1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01698" y="0"/>
            <a:ext cx="2984871" cy="500936"/>
          </a:xfrm>
          <a:prstGeom prst="rect">
            <a:avLst/>
          </a:prstGeom>
        </p:spPr>
        <p:txBody>
          <a:bodyPr vert="horz" lIns="93177" tIns="46589" rIns="93177" bIns="46589" rtlCol="0"/>
          <a:lstStyle>
            <a:lvl1pPr algn="r">
              <a:defRPr sz="1200"/>
            </a:lvl1pPr>
          </a:lstStyle>
          <a:p>
            <a:fld id="{B88E497F-0ECE-43BA-BEBD-42B5BB899681}" type="datetimeFigureOut">
              <a:rPr lang="en-US" smtClean="0"/>
              <a:pPr/>
              <a:t>4/5/2015</a:t>
            </a:fld>
            <a:endParaRPr lang="en-US"/>
          </a:p>
        </p:txBody>
      </p:sp>
      <p:sp>
        <p:nvSpPr>
          <p:cNvPr id="4" name="Slide Image Placeholder 3"/>
          <p:cNvSpPr>
            <a:spLocks noGrp="1" noRot="1" noChangeAspect="1"/>
          </p:cNvSpPr>
          <p:nvPr>
            <p:ph type="sldImg" idx="2"/>
          </p:nvPr>
        </p:nvSpPr>
        <p:spPr>
          <a:xfrm>
            <a:off x="939800" y="750888"/>
            <a:ext cx="5008563" cy="375761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516039"/>
            <a:ext cx="2984871" cy="500936"/>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01698" y="9516039"/>
            <a:ext cx="2984871" cy="500936"/>
          </a:xfrm>
          <a:prstGeom prst="rect">
            <a:avLst/>
          </a:prstGeom>
        </p:spPr>
        <p:txBody>
          <a:bodyPr vert="horz" lIns="93177" tIns="46589" rIns="93177" bIns="46589" rtlCol="0" anchor="b"/>
          <a:lstStyle>
            <a:lvl1pPr algn="r">
              <a:defRPr sz="1200"/>
            </a:lvl1pPr>
          </a:lstStyle>
          <a:p>
            <a:fld id="{DD168982-CE8F-48A6-BA74-AA86574249A9}" type="slidenum">
              <a:rPr lang="en-US" smtClean="0"/>
              <a:pPr/>
              <a:t>‹#›</a:t>
            </a:fld>
            <a:endParaRPr lang="en-US"/>
          </a:p>
        </p:txBody>
      </p:sp>
    </p:spTree>
    <p:extLst>
      <p:ext uri="{BB962C8B-B14F-4D97-AF65-F5344CB8AC3E}">
        <p14:creationId xmlns:p14="http://schemas.microsoft.com/office/powerpoint/2010/main" xmlns="" val="1332330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Total demand </a:t>
            </a:r>
            <a:r>
              <a:rPr lang="en-US" dirty="0" err="1" smtClean="0"/>
              <a:t>xuse</a:t>
            </a:r>
            <a:r>
              <a:rPr lang="en-US" dirty="0" smtClean="0"/>
              <a:t>(</a:t>
            </a:r>
            <a:r>
              <a:rPr lang="en-US" dirty="0" err="1" smtClean="0"/>
              <a:t>c,s,d</a:t>
            </a:r>
            <a:r>
              <a:rPr lang="en-US" dirty="0" smtClean="0"/>
              <a:t>) line 715 </a:t>
            </a:r>
          </a:p>
          <a:p>
            <a:endParaRPr lang="id-ID" dirty="0"/>
          </a:p>
        </p:txBody>
      </p:sp>
      <p:sp>
        <p:nvSpPr>
          <p:cNvPr id="4" name="Slide Number Placeholder 3"/>
          <p:cNvSpPr>
            <a:spLocks noGrp="1"/>
          </p:cNvSpPr>
          <p:nvPr>
            <p:ph type="sldNum" sz="quarter" idx="10"/>
          </p:nvPr>
        </p:nvSpPr>
        <p:spPr/>
        <p:txBody>
          <a:bodyPr/>
          <a:lstStyle/>
          <a:p>
            <a:fld id="{DD168982-CE8F-48A6-BA74-AA86574249A9}"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dirty="0" smtClean="0"/>
              <a:t>Figure 3 illustrates the details of the TERM system of demand sourcing. Although the figure covers only the demand for a single commodity (Vegetables) by a single user (Households) in a single region (North), the same diagram would apply to other commodities, users and regions. The diagram depicts a series of 'nests' indicating the various substitution possibilities allowed by the model. Down the left side of the figure, boxes with dotted borders show in upper case the value flows associated with each level of the nesting system. These value flows may also be located in Figure 1. The same boxes show in lower case the price (p....) and quantity (x....) variables associated with each flow. The dimensions of these variables are critical both to the usefulness of the model and to its computational tractability; they are indicated by subscripts c, s, m, r, d and p, as explained in Table 1. Most of what is innovative in TERM could be reconstructed from Figures 1 and 2.</a:t>
            </a:r>
            <a:endParaRPr lang="id-ID" dirty="0" smtClean="0"/>
          </a:p>
          <a:p>
            <a:r>
              <a:rPr lang="en-US" dirty="0" smtClean="0"/>
              <a:t>	At the top level, households choose between imported (from another country) and domestic vegetables. A CES or </a:t>
            </a:r>
            <a:r>
              <a:rPr lang="en-US" dirty="0" err="1" smtClean="0"/>
              <a:t>Armington</a:t>
            </a:r>
            <a:r>
              <a:rPr lang="en-US" dirty="0" smtClean="0"/>
              <a:t> specification describes their choice—as pioneered by ORANI and adopted by most later CGE models. Demands are guided by user-specific purchasers' prices (the purchasers' values matrix PUR is found by summing the TAX and USE matrices of Figure 1). 2 is a typical value for the elasticity of substitution.</a:t>
            </a:r>
            <a:endParaRPr lang="id-ID" dirty="0" smtClean="0"/>
          </a:p>
          <a:p>
            <a:r>
              <a:rPr lang="en-US" dirty="0" smtClean="0"/>
              <a:t>	Demands for domestic vegetables in a region are summed (over users) to give total value USE_U (the "_U" suffix indicates summation over the user index u). The USE_U matrix is measured in "delivered" values—which include basic values and margins (trade and transport), but not the user-specific commodity taxes. </a:t>
            </a:r>
            <a:endParaRPr lang="id-ID" dirty="0" smtClean="0"/>
          </a:p>
          <a:p>
            <a:r>
              <a:rPr lang="en-US" dirty="0" smtClean="0"/>
              <a:t>	Moving down, the next level treats the sourcing of USE_U between the various domestic regions. The matrix DELIVRD shows how USE_U is split between origin regions r. Again a CES specification controls the allocation; substitution </a:t>
            </a:r>
            <a:r>
              <a:rPr lang="en-US" dirty="0" err="1" smtClean="0"/>
              <a:t>elasticities</a:t>
            </a:r>
            <a:r>
              <a:rPr lang="en-US" dirty="0" smtClean="0"/>
              <a:t> range from 5 (merchandise) to 0.2 (services). The CES implies that regions which lower production costs more than other regions will tend to increase their market share. The sourcing decision is made on the basis of delivered prices—which include transport and other margin costs. Hence, even with growers' prices fixed, changes in transport costs will affect regional market shares. Notice that variables at this level lack a user (u) subscript—the decision is made on an all-user basis (as if wholesalers, not final users, decided where to source vegetables). The implication is that, in North, the proportion of vegetables which come from South is the same for households, intermediate, and all other users.</a:t>
            </a:r>
            <a:endParaRPr lang="id-ID" dirty="0" smtClean="0"/>
          </a:p>
          <a:p>
            <a:r>
              <a:rPr lang="en-US" dirty="0" smtClean="0"/>
              <a:t>	The next level down shows how a "delivered" vegetable from, say, South, is a Leontief composite of basic vegetable and the various margin goods. The share of each margin in the delivered price is specific to a particular combination of origin, destination, commodity and source. For example, we should expect transport costs to form a larger share for region pairs which are far apart, or for heavy or bulky goods. The number of margin goods will depend on how aggregated is the model database. Under the Leontief specification we preclude substitution between Road and Retail margins, as well as between Road and Rail. For some purposes it might be worthwhile to construct a more elaborate nesting which accommodated Road/Rail switching.</a:t>
            </a:r>
            <a:endParaRPr lang="id-ID" dirty="0" smtClean="0"/>
          </a:p>
          <a:p>
            <a:r>
              <a:rPr lang="en-US" dirty="0" smtClean="0"/>
              <a:t>	The bottom part of the nesting structure shows that margins on vegetables passing from South to North could be produced in different regions. The figure shows the sourcing mechanism for the road margin. We might expect this to be drawn more or less equally from the origin (South), the destination (North) and regions between (Middle). There would be some scope (s=0.5) for substitution, since trucking firms can relocate depots to cheaper regions. For retail margins, on the other hand, a larger share would be drawn from the destination region, and scope for substitution would be less (s=0.1). Once again, this substitution decision takes place at an aggregated level. The assumption is that the share of, say, Middle, in providing Road margins on trips from South to North, is the same whatever good is being transported.</a:t>
            </a:r>
            <a:endParaRPr lang="id-ID" dirty="0" smtClean="0"/>
          </a:p>
          <a:p>
            <a:r>
              <a:rPr lang="en-US" dirty="0" smtClean="0"/>
              <a:t>	Although not shown in Figure 3, a parallel system of sourcing is also </a:t>
            </a:r>
            <a:r>
              <a:rPr lang="en-US" dirty="0" err="1" smtClean="0"/>
              <a:t>modelled</a:t>
            </a:r>
            <a:r>
              <a:rPr lang="en-US" dirty="0" smtClean="0"/>
              <a:t> for imported vegetables, tracing them back to port of entry instead of region of production.</a:t>
            </a:r>
            <a:endParaRPr lang="id-ID" dirty="0" smtClean="0"/>
          </a:p>
          <a:p>
            <a:endParaRPr lang="id-ID" dirty="0"/>
          </a:p>
        </p:txBody>
      </p:sp>
      <p:sp>
        <p:nvSpPr>
          <p:cNvPr id="4" name="Slide Number Placeholder 3"/>
          <p:cNvSpPr>
            <a:spLocks noGrp="1"/>
          </p:cNvSpPr>
          <p:nvPr>
            <p:ph type="sldNum" sz="quarter" idx="10"/>
          </p:nvPr>
        </p:nvSpPr>
        <p:spPr/>
        <p:txBody>
          <a:bodyPr/>
          <a:lstStyle/>
          <a:p>
            <a:fld id="{DD168982-CE8F-48A6-BA74-AA86574249A9}" type="slidenum">
              <a:rPr lang="en-US" smtClean="0"/>
              <a:pPr/>
              <a:t>26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Rot="1" noChangeAspect="1" noChangeArrowheads="1" noTextEdit="1"/>
          </p:cNvSpPr>
          <p:nvPr>
            <p:ph type="sldImg"/>
          </p:nvPr>
        </p:nvSpPr>
        <p:spPr>
          <a:ln/>
        </p:spPr>
      </p:sp>
      <p:sp>
        <p:nvSpPr>
          <p:cNvPr id="527363" name="Rectangle 3"/>
          <p:cNvSpPr>
            <a:spLocks noGrp="1" noChangeArrowheads="1"/>
          </p:cNvSpPr>
          <p:nvPr>
            <p:ph type="body" idx="1"/>
          </p:nvPr>
        </p:nvSpPr>
        <p:spPr/>
        <p:txBody>
          <a:bodyPr/>
          <a:lstStyle/>
          <a:p>
            <a:r>
              <a:rPr lang="en-US" dirty="0" smtClean="0"/>
              <a:t>At the top level, industries choose between imported (from another country) and domestic vegetables. A CES or </a:t>
            </a:r>
            <a:r>
              <a:rPr lang="en-US" dirty="0" err="1" smtClean="0"/>
              <a:t>Armington</a:t>
            </a:r>
            <a:r>
              <a:rPr lang="en-US" dirty="0" smtClean="0"/>
              <a:t> specification describes their choice. Demands are guided by user-specific purchasers' prices (the purchasers' values matrix PUR is found by summing the TAX and USE matrices </a:t>
            </a:r>
          </a:p>
          <a:p>
            <a:endParaRPr lang="en-AU" dirty="0" smtClean="0"/>
          </a:p>
          <a:p>
            <a:r>
              <a:rPr lang="en-AU" dirty="0" smtClean="0"/>
              <a:t>Yang </a:t>
            </a:r>
            <a:r>
              <a:rPr lang="en-AU" dirty="0" err="1" smtClean="0"/>
              <a:t>harus</a:t>
            </a:r>
            <a:r>
              <a:rPr lang="en-AU" dirty="0" smtClean="0"/>
              <a:t> </a:t>
            </a:r>
            <a:r>
              <a:rPr lang="en-AU" dirty="0" err="1" smtClean="0"/>
              <a:t>diterangkan</a:t>
            </a:r>
            <a:r>
              <a:rPr lang="en-AU" dirty="0" smtClean="0"/>
              <a:t>:</a:t>
            </a:r>
          </a:p>
          <a:p>
            <a:pPr lvl="0"/>
            <a:r>
              <a:rPr lang="en-US" dirty="0" err="1" smtClean="0"/>
              <a:t>Dampak</a:t>
            </a:r>
            <a:r>
              <a:rPr lang="en-US" dirty="0" smtClean="0"/>
              <a:t> </a:t>
            </a:r>
            <a:r>
              <a:rPr lang="en-US" dirty="0" err="1" smtClean="0"/>
              <a:t>kenaikan</a:t>
            </a:r>
            <a:r>
              <a:rPr lang="en-US" dirty="0" smtClean="0"/>
              <a:t> </a:t>
            </a:r>
            <a:r>
              <a:rPr lang="en-US" dirty="0" err="1" smtClean="0"/>
              <a:t>harga</a:t>
            </a:r>
            <a:r>
              <a:rPr lang="en-US" dirty="0" smtClean="0"/>
              <a:t> </a:t>
            </a:r>
            <a:r>
              <a:rPr lang="en-US" dirty="0" err="1" smtClean="0"/>
              <a:t>internasional</a:t>
            </a:r>
            <a:endParaRPr lang="en-US" dirty="0" smtClean="0"/>
          </a:p>
          <a:p>
            <a:pPr lvl="0"/>
            <a:r>
              <a:rPr lang="en-US" dirty="0" err="1" smtClean="0"/>
              <a:t>Dampak</a:t>
            </a:r>
            <a:r>
              <a:rPr lang="en-US" dirty="0" smtClean="0"/>
              <a:t> </a:t>
            </a:r>
            <a:r>
              <a:rPr lang="en-US" dirty="0" err="1" smtClean="0"/>
              <a:t>pajak</a:t>
            </a:r>
            <a:r>
              <a:rPr lang="en-US" dirty="0" smtClean="0"/>
              <a:t> </a:t>
            </a:r>
            <a:r>
              <a:rPr lang="en-US" dirty="0" err="1" smtClean="0"/>
              <a:t>barang</a:t>
            </a:r>
            <a:r>
              <a:rPr lang="en-US" dirty="0" smtClean="0"/>
              <a:t> </a:t>
            </a:r>
            <a:r>
              <a:rPr lang="en-US" dirty="0" err="1" smtClean="0"/>
              <a:t>domestik</a:t>
            </a:r>
            <a:r>
              <a:rPr lang="en-US" dirty="0" smtClean="0"/>
              <a:t> </a:t>
            </a:r>
            <a:endParaRPr lang="en-AU"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Rot="1" noChangeAspect="1" noChangeArrowheads="1" noTextEdit="1"/>
          </p:cNvSpPr>
          <p:nvPr>
            <p:ph type="sldImg"/>
          </p:nvPr>
        </p:nvSpPr>
        <p:spPr>
          <a:ln/>
        </p:spPr>
      </p:sp>
      <p:sp>
        <p:nvSpPr>
          <p:cNvPr id="584707" name="Rectangle 3"/>
          <p:cNvSpPr>
            <a:spLocks noGrp="1" noChangeArrowheads="1"/>
          </p:cNvSpPr>
          <p:nvPr>
            <p:ph type="body" idx="1"/>
          </p:nvPr>
        </p:nvSpPr>
        <p:spPr/>
        <p:txBody>
          <a:bodyPr/>
          <a:lstStyle/>
          <a:p>
            <a:pPr defTabSz="931774">
              <a:defRPr/>
            </a:pPr>
            <a:r>
              <a:rPr lang="en-US" dirty="0" smtClean="0"/>
              <a:t>The CES implies that regions which lower production costs more than other regions will tend to increase their market share. The sourcing decision is made on the basis of delivered prices—which include transport and other margin costs. The sourcing decision is made on the basis of delivered prices—which include transport and other margin costs. Hence, even with growers' prices fixed, changes in transport costs will affect regional market shares. Notice that variables at this level lack a user (u) subscript—the decision is made on an all-user basis (as if wholesalers, not final users, decided where to source vegetables). The implication is that, in North, the proportion of vegetables which come from South is the same for households, intermediate, and all other users.</a:t>
            </a:r>
            <a:endParaRPr lang="id-ID" dirty="0" smtClean="0"/>
          </a:p>
          <a:p>
            <a:pPr lvl="0">
              <a:buFont typeface="Arial" pitchFamily="34" charset="0"/>
              <a:buNone/>
            </a:pPr>
            <a:endParaRPr lang="en-US" dirty="0" smtClean="0"/>
          </a:p>
          <a:p>
            <a:pPr lvl="0">
              <a:buFont typeface="Arial" pitchFamily="34" charset="0"/>
              <a:buNone/>
            </a:pPr>
            <a:endParaRPr lang="en-US" dirty="0" smtClean="0"/>
          </a:p>
          <a:p>
            <a:pPr lvl="0">
              <a:buFont typeface="Arial" pitchFamily="34" charset="0"/>
              <a:buNone/>
            </a:pPr>
            <a:r>
              <a:rPr lang="en-US" dirty="0" smtClean="0"/>
              <a:t>Yang </a:t>
            </a:r>
            <a:r>
              <a:rPr lang="en-US" dirty="0" err="1" smtClean="0"/>
              <a:t>harus</a:t>
            </a:r>
            <a:r>
              <a:rPr lang="en-US" dirty="0" smtClean="0"/>
              <a:t> </a:t>
            </a:r>
            <a:r>
              <a:rPr lang="en-US" dirty="0" err="1" smtClean="0"/>
              <a:t>diterangkan</a:t>
            </a:r>
            <a:r>
              <a:rPr lang="en-US" dirty="0" smtClean="0"/>
              <a:t>:</a:t>
            </a:r>
          </a:p>
          <a:p>
            <a:pPr lvl="0">
              <a:buFont typeface="Arial" pitchFamily="34" charset="0"/>
              <a:buChar char="•"/>
            </a:pPr>
            <a:r>
              <a:rPr lang="en-US" dirty="0" err="1" smtClean="0"/>
              <a:t>dampak</a:t>
            </a:r>
            <a:r>
              <a:rPr lang="en-US" dirty="0" smtClean="0"/>
              <a:t> </a:t>
            </a:r>
            <a:r>
              <a:rPr lang="en-US" dirty="0" err="1" smtClean="0"/>
              <a:t>dari</a:t>
            </a:r>
            <a:r>
              <a:rPr lang="en-US" dirty="0" smtClean="0"/>
              <a:t> </a:t>
            </a:r>
            <a:r>
              <a:rPr lang="en-US" dirty="0" err="1" smtClean="0"/>
              <a:t>kenaikan</a:t>
            </a:r>
            <a:r>
              <a:rPr lang="en-US" dirty="0" smtClean="0"/>
              <a:t> </a:t>
            </a:r>
            <a:r>
              <a:rPr lang="en-US" dirty="0" err="1" smtClean="0"/>
              <a:t>harga</a:t>
            </a:r>
            <a:r>
              <a:rPr lang="en-US" dirty="0" smtClean="0"/>
              <a:t> </a:t>
            </a:r>
            <a:r>
              <a:rPr lang="en-US" dirty="0" err="1" smtClean="0"/>
              <a:t>disuatu</a:t>
            </a:r>
            <a:r>
              <a:rPr lang="en-US" dirty="0" smtClean="0"/>
              <a:t> region </a:t>
            </a:r>
            <a:r>
              <a:rPr lang="en-US" dirty="0" err="1" smtClean="0"/>
              <a:t>thd</a:t>
            </a:r>
            <a:r>
              <a:rPr lang="en-US" dirty="0" smtClean="0"/>
              <a:t> </a:t>
            </a:r>
            <a:r>
              <a:rPr lang="en-US" dirty="0" err="1" smtClean="0"/>
              <a:t>permintaan</a:t>
            </a:r>
            <a:r>
              <a:rPr lang="en-US" dirty="0" smtClean="0"/>
              <a:t> </a:t>
            </a:r>
            <a:r>
              <a:rPr lang="en-US" dirty="0" err="1" smtClean="0"/>
              <a:t>di</a:t>
            </a:r>
            <a:r>
              <a:rPr lang="en-US" dirty="0" smtClean="0"/>
              <a:t> region lain</a:t>
            </a:r>
          </a:p>
          <a:p>
            <a:pPr lvl="0">
              <a:buFont typeface="Arial" pitchFamily="34" charset="0"/>
              <a:buChar char="•"/>
            </a:pPr>
            <a:r>
              <a:rPr lang="en-US" dirty="0" err="1" smtClean="0"/>
              <a:t>Suatu</a:t>
            </a:r>
            <a:r>
              <a:rPr lang="en-US" dirty="0" smtClean="0"/>
              <a:t> region </a:t>
            </a:r>
            <a:r>
              <a:rPr lang="en-US" dirty="0" err="1" smtClean="0"/>
              <a:t>bertambah</a:t>
            </a:r>
            <a:r>
              <a:rPr lang="en-US" dirty="0" smtClean="0"/>
              <a:t> </a:t>
            </a:r>
            <a:r>
              <a:rPr lang="en-US" dirty="0" err="1" smtClean="0"/>
              <a:t>kaya</a:t>
            </a:r>
            <a:r>
              <a:rPr lang="en-US" dirty="0" smtClean="0"/>
              <a:t> (=</a:t>
            </a:r>
            <a:r>
              <a:rPr lang="en-US" dirty="0" err="1" smtClean="0"/>
              <a:t>komposit</a:t>
            </a:r>
            <a:r>
              <a:rPr lang="en-US" dirty="0" smtClean="0"/>
              <a:t> region </a:t>
            </a:r>
            <a:r>
              <a:rPr lang="en-US" dirty="0" err="1" smtClean="0"/>
              <a:t>tersebut</a:t>
            </a:r>
            <a:r>
              <a:rPr lang="en-US" dirty="0" smtClean="0"/>
              <a:t> yang </a:t>
            </a:r>
            <a:r>
              <a:rPr lang="en-US" dirty="0" err="1" smtClean="0"/>
              <a:t>berubah</a:t>
            </a:r>
            <a:r>
              <a:rPr lang="en-US" dirty="0" smtClean="0"/>
              <a:t>)</a:t>
            </a:r>
          </a:p>
          <a:p>
            <a:pPr lvl="0">
              <a:buFont typeface="Arial" pitchFamily="34" charset="0"/>
              <a:buChar char="•"/>
            </a:pPr>
            <a:r>
              <a:rPr lang="en-US" dirty="0" err="1" smtClean="0"/>
              <a:t>Kekeringan</a:t>
            </a:r>
            <a:r>
              <a:rPr lang="en-US" dirty="0" smtClean="0"/>
              <a:t> </a:t>
            </a:r>
            <a:r>
              <a:rPr lang="en-US" dirty="0" err="1" smtClean="0"/>
              <a:t>di</a:t>
            </a:r>
            <a:r>
              <a:rPr lang="en-US" dirty="0" smtClean="0"/>
              <a:t> </a:t>
            </a:r>
            <a:r>
              <a:rPr lang="en-US" dirty="0" err="1" smtClean="0"/>
              <a:t>jawa</a:t>
            </a:r>
            <a:r>
              <a:rPr lang="en-US" dirty="0" smtClean="0"/>
              <a:t> </a:t>
            </a:r>
            <a:r>
              <a:rPr lang="en-US" dirty="0" err="1" smtClean="0"/>
              <a:t>akan</a:t>
            </a:r>
            <a:r>
              <a:rPr lang="en-US" dirty="0" smtClean="0"/>
              <a:t> </a:t>
            </a:r>
            <a:r>
              <a:rPr lang="en-US" dirty="0" err="1" smtClean="0"/>
              <a:t>berdampak</a:t>
            </a:r>
            <a:r>
              <a:rPr lang="en-US" dirty="0" smtClean="0"/>
              <a:t> </a:t>
            </a:r>
            <a:r>
              <a:rPr lang="en-US" dirty="0" err="1" smtClean="0"/>
              <a:t>pada</a:t>
            </a:r>
            <a:r>
              <a:rPr lang="en-US" dirty="0" smtClean="0"/>
              <a:t> </a:t>
            </a:r>
            <a:r>
              <a:rPr lang="en-US" dirty="0" err="1" smtClean="0"/>
              <a:t>kenaikan</a:t>
            </a:r>
            <a:r>
              <a:rPr lang="en-US" dirty="0" smtClean="0"/>
              <a:t> </a:t>
            </a:r>
            <a:r>
              <a:rPr lang="en-US" dirty="0" err="1" smtClean="0"/>
              <a:t>harga</a:t>
            </a:r>
            <a:r>
              <a:rPr lang="en-US" dirty="0" smtClean="0"/>
              <a:t> </a:t>
            </a:r>
            <a:r>
              <a:rPr lang="en-US" dirty="0" err="1" smtClean="0"/>
              <a:t>di</a:t>
            </a:r>
            <a:r>
              <a:rPr lang="en-US" dirty="0" smtClean="0"/>
              <a:t> region lain</a:t>
            </a:r>
          </a:p>
          <a:p>
            <a:endParaRPr lang="en-A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F2E19B4-708B-4131-87DA-D44FFDCA150A}" type="datetimeFigureOut">
              <a:rPr lang="en-US" smtClean="0"/>
              <a:pPr/>
              <a:t>4/5/2015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2E19B4-708B-4131-87DA-D44FFDCA150A}" type="datetimeFigureOut">
              <a:rPr lang="en-US" smtClean="0"/>
              <a:pPr/>
              <a:t>4/5/2015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F2E19B4-708B-4131-87DA-D44FFDCA150A}" type="datetimeFigureOut">
              <a:rPr lang="en-US" smtClean="0"/>
              <a:pPr/>
              <a:t>4/5/2015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F2E19B4-708B-4131-87DA-D44FFDCA150A}" type="datetimeFigureOut">
              <a:rPr lang="en-US" smtClean="0"/>
              <a:pPr/>
              <a:t>4/5/2015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F2E19B4-708B-4131-87DA-D44FFDCA150A}" type="datetimeFigureOut">
              <a:rPr lang="en-US" smtClean="0"/>
              <a:pPr/>
              <a:t>4/5/2015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2E19B4-708B-4131-87DA-D44FFDCA150A}" type="datetimeFigureOut">
              <a:rPr lang="en-US" smtClean="0"/>
              <a:pPr/>
              <a:t>4/5/2015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2E19B4-708B-4131-87DA-D44FFDCA150A}" type="datetimeFigureOut">
              <a:rPr lang="en-US" smtClean="0"/>
              <a:pPr/>
              <a:t>4/5/2015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2E19B4-708B-4131-87DA-D44FFDCA150A}" type="datetimeFigureOut">
              <a:rPr lang="en-US" smtClean="0"/>
              <a:pPr/>
              <a:t>4/5/2015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2E19B4-708B-4131-87DA-D44FFDCA150A}" type="datetimeFigureOut">
              <a:rPr lang="en-US" smtClean="0"/>
              <a:pPr/>
              <a:t>4/5/2015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2E19B4-708B-4131-87DA-D44FFDCA150A}" type="datetimeFigureOut">
              <a:rPr lang="en-US" smtClean="0"/>
              <a:pPr/>
              <a:t>4/5/2015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2E19B4-708B-4131-87DA-D44FFDCA150A}" type="datetimeFigureOut">
              <a:rPr lang="en-US" smtClean="0"/>
              <a:pPr/>
              <a:t>4/5/2015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9EF798-3059-4390-B3EE-3F0A5CA473D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E19B4-708B-4131-87DA-D44FFDCA150A}" type="datetimeFigureOut">
              <a:rPr lang="en-US" smtClean="0"/>
              <a:pPr/>
              <a:t>4/5/2015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EF798-3059-4390-B3EE-3F0A5CA473D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3.v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5.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6.v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7.vml"/><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oleObject" Target="../embeddings/oleObject17.bin"/><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oleObject" Target="../embeddings/oleObject22.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27.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oleObject" Target="../embeddings/oleObject28.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27.bin"/><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6.xml"/><Relationship Id="rId1" Type="http://schemas.openxmlformats.org/officeDocument/2006/relationships/vmlDrawing" Target="../drawings/vmlDrawing12.v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oleObject" Target="../embeddings/oleObject3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id-ID" sz="3600" dirty="0" smtClean="0"/>
              <a:t>IndoTERM: Theoretical Structures and Equations</a:t>
            </a:r>
            <a:endParaRPr lang="en-GB" sz="3600" dirty="0"/>
          </a:p>
        </p:txBody>
      </p:sp>
      <p:grpSp>
        <p:nvGrpSpPr>
          <p:cNvPr id="3" name="Group 11"/>
          <p:cNvGrpSpPr/>
          <p:nvPr/>
        </p:nvGrpSpPr>
        <p:grpSpPr>
          <a:xfrm>
            <a:off x="0" y="6248400"/>
            <a:ext cx="9144000" cy="609600"/>
            <a:chOff x="0" y="0"/>
            <a:chExt cx="9144000" cy="609600"/>
          </a:xfrm>
        </p:grpSpPr>
        <p:sp>
          <p:nvSpPr>
            <p:cNvPr id="13" name="Rectangle 12"/>
            <p:cNvSpPr/>
            <p:nvPr/>
          </p:nvSpPr>
          <p:spPr>
            <a:xfrm>
              <a:off x="0" y="0"/>
              <a:ext cx="9144000" cy="609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err="1" smtClean="0">
                  <a:solidFill>
                    <a:schemeClr val="tx1"/>
                  </a:solidFill>
                  <a:latin typeface="Arial"/>
                  <a:cs typeface="Arial"/>
                </a:rPr>
                <a:t>IndoTERM</a:t>
              </a:r>
              <a:r>
                <a:rPr lang="en-US" sz="2400" b="1" dirty="0" smtClean="0">
                  <a:solidFill>
                    <a:schemeClr val="tx1"/>
                  </a:solidFill>
                  <a:latin typeface="Arial"/>
                  <a:cs typeface="Arial"/>
                </a:rPr>
                <a:t> </a:t>
              </a:r>
              <a:r>
                <a:rPr lang="en-US" sz="2000" b="1" dirty="0" smtClean="0">
                  <a:solidFill>
                    <a:schemeClr val="tx1"/>
                  </a:solidFill>
                  <a:latin typeface="Arial"/>
                  <a:cs typeface="Arial"/>
                </a:rPr>
                <a:t>Computable</a:t>
              </a:r>
              <a:r>
                <a:rPr lang="id-ID" sz="2000" b="1" dirty="0" smtClean="0">
                  <a:solidFill>
                    <a:schemeClr val="tx1"/>
                  </a:solidFill>
                  <a:latin typeface="Arial"/>
                  <a:cs typeface="Arial"/>
                </a:rPr>
                <a:t> </a:t>
              </a:r>
              <a:r>
                <a:rPr lang="en-US" sz="2000" b="1" dirty="0" smtClean="0">
                  <a:solidFill>
                    <a:schemeClr val="tx1"/>
                  </a:solidFill>
                  <a:latin typeface="Arial"/>
                  <a:cs typeface="Arial"/>
                </a:rPr>
                <a:t>General</a:t>
              </a:r>
              <a:r>
                <a:rPr lang="id-ID" sz="2000" b="1" dirty="0" smtClean="0">
                  <a:solidFill>
                    <a:schemeClr val="tx1"/>
                  </a:solidFill>
                  <a:latin typeface="Arial"/>
                  <a:cs typeface="Arial"/>
                </a:rPr>
                <a:t> </a:t>
              </a:r>
              <a:r>
                <a:rPr lang="en-US" sz="2000" b="1" dirty="0" smtClean="0">
                  <a:solidFill>
                    <a:schemeClr val="tx1"/>
                  </a:solidFill>
                  <a:latin typeface="Arial"/>
                  <a:cs typeface="Arial"/>
                </a:rPr>
                <a:t>Equilibrium Training</a:t>
              </a:r>
              <a:endParaRPr lang="en-US" sz="2400" b="1" dirty="0">
                <a:solidFill>
                  <a:srgbClr val="0070C0"/>
                </a:solidFill>
                <a:latin typeface="+mj-lt"/>
                <a:ea typeface="Batang" pitchFamily="18" charset="-127"/>
                <a:cs typeface="Arial" pitchFamily="34" charset="0"/>
              </a:endParaRPr>
            </a:p>
          </p:txBody>
        </p:sp>
        <p:pic>
          <p:nvPicPr>
            <p:cNvPr id="14" name="Picture 13" descr="logosmall.png"/>
            <p:cNvPicPr>
              <a:picLocks noChangeAspect="1"/>
            </p:cNvPicPr>
            <p:nvPr/>
          </p:nvPicPr>
          <p:blipFill>
            <a:blip r:embed="rId2" cstate="print"/>
            <a:stretch>
              <a:fillRect/>
            </a:stretch>
          </p:blipFill>
          <p:spPr>
            <a:xfrm>
              <a:off x="7772400" y="68639"/>
              <a:ext cx="1295401" cy="464762"/>
            </a:xfrm>
            <a:prstGeom prst="rect">
              <a:avLst/>
            </a:prstGeom>
          </p:spPr>
        </p:pic>
      </p:grpSp>
      <p:sp>
        <p:nvSpPr>
          <p:cNvPr id="9" name="Subtitle 8"/>
          <p:cNvSpPr>
            <a:spLocks noGrp="1"/>
          </p:cNvSpPr>
          <p:nvPr>
            <p:ph type="subTitle" idx="1"/>
          </p:nvPr>
        </p:nvSpPr>
        <p:spPr/>
        <p:txBody>
          <a:bodyPr/>
          <a:lstStyle/>
          <a:p>
            <a:endParaRPr lang="id-ID"/>
          </a:p>
        </p:txBody>
      </p:sp>
      <p:sp>
        <p:nvSpPr>
          <p:cNvPr id="23" name="Rectangle 22"/>
          <p:cNvSpPr/>
          <p:nvPr/>
        </p:nvSpPr>
        <p:spPr>
          <a:xfrm>
            <a:off x="0" y="6019800"/>
            <a:ext cx="9144000" cy="838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4" name="Picture 5"/>
          <p:cNvPicPr>
            <a:picLocks noChangeAspect="1" noChangeArrowheads="1"/>
          </p:cNvPicPr>
          <p:nvPr/>
        </p:nvPicPr>
        <p:blipFill>
          <a:blip r:embed="rId3" cstate="print"/>
          <a:srcRect/>
          <a:stretch>
            <a:fillRect/>
          </a:stretch>
        </p:blipFill>
        <p:spPr bwMode="auto">
          <a:xfrm>
            <a:off x="304800" y="6169570"/>
            <a:ext cx="1271953" cy="533400"/>
          </a:xfrm>
          <a:prstGeom prst="rect">
            <a:avLst/>
          </a:prstGeom>
          <a:noFill/>
          <a:ln w="9525">
            <a:noFill/>
            <a:miter lim="800000"/>
            <a:headEnd/>
            <a:tailEnd/>
          </a:ln>
          <a:effectLst/>
        </p:spPr>
      </p:pic>
      <p:pic>
        <p:nvPicPr>
          <p:cNvPr id="25" name="Picture 6"/>
          <p:cNvPicPr>
            <a:picLocks noChangeAspect="1" noChangeArrowheads="1"/>
          </p:cNvPicPr>
          <p:nvPr/>
        </p:nvPicPr>
        <p:blipFill>
          <a:blip r:embed="rId4" cstate="print"/>
          <a:srcRect/>
          <a:stretch>
            <a:fillRect/>
          </a:stretch>
        </p:blipFill>
        <p:spPr bwMode="auto">
          <a:xfrm>
            <a:off x="7867010" y="6098630"/>
            <a:ext cx="666750" cy="628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Equilibrium = &gt; Supply = Demand</a:t>
            </a:r>
            <a:endParaRPr lang="en-US" dirty="0"/>
          </a:p>
        </p:txBody>
      </p:sp>
      <p:sp>
        <p:nvSpPr>
          <p:cNvPr id="5" name="Subtitle 4"/>
          <p:cNvSpPr>
            <a:spLocks noGrp="1"/>
          </p:cNvSpPr>
          <p:nvPr>
            <p:ph type="subTitle" idx="1"/>
          </p:nvPr>
        </p:nvSpPr>
        <p:spPr/>
        <p:txBody>
          <a:bodyPr/>
          <a:lstStyle/>
          <a:p>
            <a:endParaRPr lang="en-US" dirty="0"/>
          </a:p>
        </p:txBody>
      </p:sp>
      <p:sp>
        <p:nvSpPr>
          <p:cNvPr id="6" name="Date Placeholder 5"/>
          <p:cNvSpPr>
            <a:spLocks noGrp="1"/>
          </p:cNvSpPr>
          <p:nvPr>
            <p:ph type="dt" sz="half" idx="10"/>
          </p:nvPr>
        </p:nvSpPr>
        <p:spPr/>
        <p:txBody>
          <a:bodyPr/>
          <a:lstStyle/>
          <a:p>
            <a:endParaRPr lang="en-US"/>
          </a:p>
        </p:txBody>
      </p:sp>
      <p:sp>
        <p:nvSpPr>
          <p:cNvPr id="7" name="Slide Number Placeholder 6"/>
          <p:cNvSpPr>
            <a:spLocks noGrp="1"/>
          </p:cNvSpPr>
          <p:nvPr>
            <p:ph type="sldNum" sz="quarter" idx="12"/>
          </p:nvPr>
        </p:nvSpPr>
        <p:spPr/>
        <p:txBody>
          <a:bodyPr/>
          <a:lstStyle/>
          <a:p>
            <a:fld id="{249EF798-3059-4390-B3EE-3F0A5CA473D0}"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DEMAND</a:t>
            </a:r>
            <a:endParaRPr lang="en-US" dirty="0"/>
          </a:p>
        </p:txBody>
      </p:sp>
      <p:sp>
        <p:nvSpPr>
          <p:cNvPr id="7" name="Rectangle 6"/>
          <p:cNvSpPr/>
          <p:nvPr/>
        </p:nvSpPr>
        <p:spPr>
          <a:xfrm>
            <a:off x="533400" y="4876800"/>
            <a:ext cx="8077200" cy="1600438"/>
          </a:xfrm>
          <a:prstGeom prst="rect">
            <a:avLst/>
          </a:prstGeom>
        </p:spPr>
        <p:txBody>
          <a:bodyPr wrap="square">
            <a:spAutoFit/>
          </a:bodyPr>
          <a:lstStyle/>
          <a:p>
            <a:r>
              <a:rPr lang="en-US" sz="1400" dirty="0" smtClean="0">
                <a:solidFill>
                  <a:srgbClr val="000000"/>
                </a:solidFill>
                <a:latin typeface="Courier New" pitchFamily="49" charset="0"/>
                <a:cs typeface="Courier New" pitchFamily="49" charset="0"/>
              </a:rPr>
              <a:t>c </a:t>
            </a:r>
            <a:r>
              <a:rPr lang="en-US" sz="1400" dirty="0" smtClean="0">
                <a:solidFill>
                  <a:srgbClr val="000000"/>
                </a:solidFill>
                <a:latin typeface="Courier New" pitchFamily="49" charset="0"/>
                <a:cs typeface="Courier New" pitchFamily="49" charset="0"/>
                <a:sym typeface="Symbol"/>
              </a:rPr>
              <a:t> </a:t>
            </a:r>
            <a:r>
              <a:rPr lang="en-US" sz="1400" dirty="0" smtClean="0">
                <a:solidFill>
                  <a:srgbClr val="008000"/>
                </a:solidFill>
                <a:latin typeface="Courier New" pitchFamily="49" charset="0"/>
                <a:cs typeface="Courier New" pitchFamily="49" charset="0"/>
              </a:rPr>
              <a:t>COM</a:t>
            </a:r>
            <a:r>
              <a:rPr lang="en-US" sz="1400" dirty="0" smtClean="0">
                <a:solidFill>
                  <a:srgbClr val="000000"/>
                </a:solidFill>
                <a:latin typeface="Courier New" pitchFamily="49" charset="0"/>
                <a:cs typeface="Courier New" pitchFamily="49" charset="0"/>
              </a:rPr>
              <a:t> # Commodities # (</a:t>
            </a:r>
            <a:r>
              <a:rPr lang="en-US" sz="1400" dirty="0" err="1" smtClean="0">
                <a:solidFill>
                  <a:srgbClr val="008000"/>
                </a:solidFill>
                <a:latin typeface="Courier New" pitchFamily="49" charset="0"/>
                <a:cs typeface="Courier New" pitchFamily="49" charset="0"/>
              </a:rPr>
              <a:t>AgricMining</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Manufacture</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Utilities</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Construction</a:t>
            </a:r>
            <a:r>
              <a:rPr lang="en-US" sz="1400" dirty="0" smtClean="0">
                <a:solidFill>
                  <a:srgbClr val="000000"/>
                </a:solidFill>
                <a:latin typeface="Courier New" pitchFamily="49" charset="0"/>
                <a:cs typeface="Courier New" pitchFamily="49" charset="0"/>
              </a:rPr>
              <a:t>, </a:t>
            </a:r>
            <a:r>
              <a:rPr lang="en-US" sz="1400" dirty="0" err="1" smtClean="0">
                <a:solidFill>
                  <a:srgbClr val="008000"/>
                </a:solidFill>
                <a:latin typeface="Courier New" pitchFamily="49" charset="0"/>
                <a:cs typeface="Courier New" pitchFamily="49" charset="0"/>
              </a:rPr>
              <a:t>TradeTranspt</a:t>
            </a:r>
            <a:r>
              <a:rPr lang="en-US" sz="1400" dirty="0" smtClean="0">
                <a:solidFill>
                  <a:srgbClr val="000000"/>
                </a:solidFill>
                <a:latin typeface="Courier New" pitchFamily="49" charset="0"/>
                <a:cs typeface="Courier New" pitchFamily="49" charset="0"/>
              </a:rPr>
              <a:t>, </a:t>
            </a:r>
            <a:r>
              <a:rPr lang="en-US" sz="1400" dirty="0" err="1" smtClean="0">
                <a:solidFill>
                  <a:srgbClr val="008000"/>
                </a:solidFill>
                <a:latin typeface="Courier New" pitchFamily="49" charset="0"/>
                <a:cs typeface="Courier New" pitchFamily="49" charset="0"/>
              </a:rPr>
              <a:t>FinanProprty</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Services</a:t>
            </a:r>
            <a:r>
              <a:rPr lang="en-US" sz="1400" dirty="0" smtClean="0">
                <a:solidFill>
                  <a:srgbClr val="000000"/>
                </a:solidFill>
                <a:latin typeface="Courier New" pitchFamily="49" charset="0"/>
                <a:cs typeface="Courier New" pitchFamily="49" charset="0"/>
              </a:rPr>
              <a:t>);                      </a:t>
            </a:r>
            <a:br>
              <a:rPr lang="en-US" sz="1400" dirty="0" smtClean="0">
                <a:solidFill>
                  <a:srgbClr val="000000"/>
                </a:solidFill>
                <a:latin typeface="Courier New" pitchFamily="49" charset="0"/>
                <a:cs typeface="Courier New" pitchFamily="49" charset="0"/>
              </a:rPr>
            </a:br>
            <a:r>
              <a:rPr lang="en-US" sz="1400" dirty="0" smtClean="0">
                <a:solidFill>
                  <a:srgbClr val="000000"/>
                </a:solidFill>
                <a:latin typeface="Courier New" pitchFamily="49" charset="0"/>
                <a:cs typeface="Courier New" pitchFamily="49" charset="0"/>
              </a:rPr>
              <a:t>s </a:t>
            </a:r>
            <a:r>
              <a:rPr lang="en-US" sz="1400" dirty="0" smtClean="0">
                <a:solidFill>
                  <a:srgbClr val="000000"/>
                </a:solidFill>
                <a:latin typeface="Courier New" pitchFamily="49" charset="0"/>
                <a:cs typeface="Courier New" pitchFamily="49" charset="0"/>
                <a:sym typeface="Symbol"/>
              </a:rPr>
              <a:t> </a:t>
            </a:r>
            <a:r>
              <a:rPr lang="en-US" sz="1400" dirty="0" smtClean="0">
                <a:solidFill>
                  <a:srgbClr val="008000"/>
                </a:solidFill>
                <a:latin typeface="Courier New" pitchFamily="49" charset="0"/>
                <a:cs typeface="Courier New" pitchFamily="49" charset="0"/>
              </a:rPr>
              <a:t>SRC</a:t>
            </a:r>
            <a:r>
              <a:rPr lang="en-US" sz="1400" dirty="0" smtClean="0">
                <a:solidFill>
                  <a:srgbClr val="000000"/>
                </a:solidFill>
                <a:latin typeface="Courier New" pitchFamily="49" charset="0"/>
                <a:cs typeface="Courier New" pitchFamily="49" charset="0"/>
              </a:rPr>
              <a:t> # Source of commodities # (</a:t>
            </a:r>
            <a:r>
              <a:rPr lang="en-US" sz="1400" dirty="0" err="1" smtClean="0">
                <a:solidFill>
                  <a:srgbClr val="008000"/>
                </a:solidFill>
                <a:latin typeface="Courier New" pitchFamily="49" charset="0"/>
                <a:cs typeface="Courier New" pitchFamily="49" charset="0"/>
              </a:rPr>
              <a:t>dom</a:t>
            </a:r>
            <a:r>
              <a:rPr lang="en-US" sz="1400" dirty="0" err="1" smtClean="0">
                <a:solidFill>
                  <a:srgbClr val="000000"/>
                </a:solidFill>
                <a:latin typeface="Courier New" pitchFamily="49" charset="0"/>
                <a:cs typeface="Courier New" pitchFamily="49" charset="0"/>
              </a:rPr>
              <a:t>,</a:t>
            </a:r>
            <a:r>
              <a:rPr lang="en-US" sz="1400" dirty="0" err="1" smtClean="0">
                <a:solidFill>
                  <a:srgbClr val="008000"/>
                </a:solidFill>
                <a:latin typeface="Courier New" pitchFamily="49" charset="0"/>
                <a:cs typeface="Courier New" pitchFamily="49" charset="0"/>
              </a:rPr>
              <a:t>imp</a:t>
            </a:r>
            <a:r>
              <a:rPr lang="en-US" sz="1400" dirty="0" smtClean="0">
                <a:solidFill>
                  <a:srgbClr val="000000"/>
                </a:solidFill>
                <a:latin typeface="Courier New" pitchFamily="49" charset="0"/>
                <a:cs typeface="Courier New" pitchFamily="49" charset="0"/>
              </a:rPr>
              <a:t>);</a:t>
            </a:r>
          </a:p>
          <a:p>
            <a:r>
              <a:rPr lang="en-US" sz="1400" dirty="0" smtClean="0">
                <a:solidFill>
                  <a:srgbClr val="000000"/>
                </a:solidFill>
                <a:latin typeface="Courier New" pitchFamily="49" charset="0"/>
                <a:cs typeface="Courier New" pitchFamily="49" charset="0"/>
              </a:rPr>
              <a:t>u </a:t>
            </a:r>
            <a:r>
              <a:rPr lang="en-US" sz="1400" dirty="0" smtClean="0">
                <a:solidFill>
                  <a:srgbClr val="000000"/>
                </a:solidFill>
                <a:latin typeface="Courier New" pitchFamily="49" charset="0"/>
                <a:cs typeface="Courier New" pitchFamily="49" charset="0"/>
                <a:sym typeface="Symbol"/>
              </a:rPr>
              <a:t> </a:t>
            </a:r>
            <a:r>
              <a:rPr lang="en-US" sz="1400" dirty="0" smtClean="0">
                <a:solidFill>
                  <a:srgbClr val="008000"/>
                </a:solidFill>
                <a:latin typeface="Consolas"/>
              </a:rPr>
              <a:t>USER </a:t>
            </a:r>
            <a:r>
              <a:rPr lang="en-US" sz="1400" dirty="0" smtClean="0">
                <a:solidFill>
                  <a:srgbClr val="000000"/>
                </a:solidFill>
                <a:latin typeface="Courier New" pitchFamily="49" charset="0"/>
                <a:cs typeface="Courier New" pitchFamily="49" charset="0"/>
              </a:rPr>
              <a:t># All users # (</a:t>
            </a:r>
            <a:r>
              <a:rPr lang="en-US" sz="1400" dirty="0" err="1" smtClean="0">
                <a:solidFill>
                  <a:srgbClr val="008000"/>
                </a:solidFill>
                <a:latin typeface="Courier New" pitchFamily="49" charset="0"/>
                <a:cs typeface="Courier New" pitchFamily="49" charset="0"/>
              </a:rPr>
              <a:t>AgricMining</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Manufacture</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Utilities</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Construction</a:t>
            </a:r>
            <a:r>
              <a:rPr lang="en-US" sz="1400" dirty="0" smtClean="0">
                <a:solidFill>
                  <a:srgbClr val="000000"/>
                </a:solidFill>
                <a:latin typeface="Courier New" pitchFamily="49" charset="0"/>
                <a:cs typeface="Courier New" pitchFamily="49" charset="0"/>
              </a:rPr>
              <a:t>, </a:t>
            </a:r>
            <a:r>
              <a:rPr lang="en-US" sz="1400" dirty="0" err="1" smtClean="0">
                <a:solidFill>
                  <a:srgbClr val="008000"/>
                </a:solidFill>
                <a:latin typeface="Courier New" pitchFamily="49" charset="0"/>
                <a:cs typeface="Courier New" pitchFamily="49" charset="0"/>
              </a:rPr>
              <a:t>TradeTranspt</a:t>
            </a:r>
            <a:r>
              <a:rPr lang="en-US" sz="1400" dirty="0" smtClean="0">
                <a:solidFill>
                  <a:srgbClr val="000000"/>
                </a:solidFill>
                <a:latin typeface="Courier New" pitchFamily="49" charset="0"/>
                <a:cs typeface="Courier New" pitchFamily="49" charset="0"/>
              </a:rPr>
              <a:t>, </a:t>
            </a:r>
            <a:r>
              <a:rPr lang="en-US" sz="1400" dirty="0" err="1" smtClean="0">
                <a:solidFill>
                  <a:srgbClr val="008000"/>
                </a:solidFill>
                <a:latin typeface="Courier New" pitchFamily="49" charset="0"/>
                <a:cs typeface="Courier New" pitchFamily="49" charset="0"/>
              </a:rPr>
              <a:t>FinanProprty</a:t>
            </a:r>
            <a:r>
              <a:rPr lang="en-US" sz="1400" dirty="0" smtClean="0">
                <a:solidFill>
                  <a:srgbClr val="000000"/>
                </a:solidFill>
                <a:latin typeface="Courier New" pitchFamily="49" charset="0"/>
                <a:cs typeface="Courier New" pitchFamily="49" charset="0"/>
              </a:rPr>
              <a:t>, </a:t>
            </a:r>
            <a:r>
              <a:rPr lang="en-US" sz="1400" dirty="0" smtClean="0">
                <a:solidFill>
                  <a:srgbClr val="008000"/>
                </a:solidFill>
                <a:latin typeface="Courier New" pitchFamily="49" charset="0"/>
                <a:cs typeface="Courier New" pitchFamily="49" charset="0"/>
              </a:rPr>
              <a:t>Services,    		Investment, Households, Government, Exports)</a:t>
            </a:r>
            <a:r>
              <a:rPr lang="en-US" sz="1400" dirty="0" smtClean="0">
                <a:solidFill>
                  <a:srgbClr val="000000"/>
                </a:solidFill>
                <a:latin typeface="Courier New" pitchFamily="49" charset="0"/>
                <a:cs typeface="Courier New" pitchFamily="49" charset="0"/>
              </a:rPr>
              <a:t> ;</a:t>
            </a:r>
          </a:p>
          <a:p>
            <a:r>
              <a:rPr lang="en-US" sz="1400" dirty="0" smtClean="0">
                <a:solidFill>
                  <a:srgbClr val="000000"/>
                </a:solidFill>
                <a:latin typeface="Courier New" pitchFamily="49" charset="0"/>
                <a:cs typeface="Courier New" pitchFamily="49" charset="0"/>
                <a:sym typeface="Symbol"/>
              </a:rPr>
              <a:t>d  </a:t>
            </a:r>
            <a:r>
              <a:rPr lang="en-US" sz="1400" dirty="0" smtClean="0">
                <a:solidFill>
                  <a:srgbClr val="008000"/>
                </a:solidFill>
                <a:latin typeface="Consolas"/>
                <a:sym typeface="Symbol"/>
              </a:rPr>
              <a:t>DST</a:t>
            </a:r>
            <a:r>
              <a:rPr lang="en-US" sz="1400" dirty="0" smtClean="0">
                <a:solidFill>
                  <a:srgbClr val="008000"/>
                </a:solidFill>
                <a:latin typeface="Consolas"/>
              </a:rPr>
              <a:t> </a:t>
            </a:r>
            <a:r>
              <a:rPr lang="en-US" sz="1400" dirty="0" smtClean="0">
                <a:solidFill>
                  <a:srgbClr val="000000"/>
                </a:solidFill>
                <a:latin typeface="Courier New" pitchFamily="49" charset="0"/>
                <a:cs typeface="Courier New" pitchFamily="49" charset="0"/>
              </a:rPr>
              <a:t># Region of use # (</a:t>
            </a:r>
            <a:r>
              <a:rPr lang="en-US" sz="1400" dirty="0" smtClean="0">
                <a:solidFill>
                  <a:srgbClr val="008000"/>
                </a:solidFill>
                <a:latin typeface="Courier New" pitchFamily="49" charset="0"/>
                <a:cs typeface="Courier New" pitchFamily="49" charset="0"/>
              </a:rPr>
              <a:t>NAD, SUMUT, SUMBAR, RIAU, JAMBI, … , PAPUA)</a:t>
            </a:r>
            <a:r>
              <a:rPr lang="en-US" sz="1400" dirty="0" smtClean="0">
                <a:solidFill>
                  <a:srgbClr val="000000"/>
                </a:solidFill>
                <a:latin typeface="Courier New" pitchFamily="49" charset="0"/>
                <a:cs typeface="Courier New" pitchFamily="49" charset="0"/>
              </a:rPr>
              <a:t> ; </a:t>
            </a:r>
            <a:endParaRPr lang="en-US" sz="1400" dirty="0">
              <a:latin typeface="Courier New" pitchFamily="49" charset="0"/>
              <a:cs typeface="Courier New" pitchFamily="49" charset="0"/>
            </a:endParaRPr>
          </a:p>
        </p:txBody>
      </p:sp>
      <p:sp>
        <p:nvSpPr>
          <p:cNvPr id="8" name="TextBox 7"/>
          <p:cNvSpPr txBox="1"/>
          <p:nvPr/>
        </p:nvSpPr>
        <p:spPr>
          <a:xfrm>
            <a:off x="2362200" y="1828800"/>
            <a:ext cx="5257800" cy="1323439"/>
          </a:xfrm>
          <a:prstGeom prst="rect">
            <a:avLst/>
          </a:prstGeom>
          <a:noFill/>
        </p:spPr>
        <p:txBody>
          <a:bodyPr wrap="square" rtlCol="0">
            <a:spAutoFit/>
          </a:bodyPr>
          <a:lstStyle/>
          <a:p>
            <a:r>
              <a:rPr lang="en-US" sz="8000" dirty="0" smtClean="0"/>
              <a:t>use(</a:t>
            </a:r>
            <a:r>
              <a:rPr lang="en-US" sz="8000" dirty="0" err="1" smtClean="0"/>
              <a:t>c,s,u,d</a:t>
            </a:r>
            <a:r>
              <a:rPr lang="en-US" sz="8000" dirty="0" smtClean="0"/>
              <a:t>)</a:t>
            </a:r>
            <a:endParaRPr lang="en-US" sz="8000" dirty="0"/>
          </a:p>
        </p:txBody>
      </p:sp>
      <p:sp>
        <p:nvSpPr>
          <p:cNvPr id="11" name="TextBox 10"/>
          <p:cNvSpPr txBox="1"/>
          <p:nvPr/>
        </p:nvSpPr>
        <p:spPr>
          <a:xfrm>
            <a:off x="2514600" y="3276600"/>
            <a:ext cx="4724400" cy="1323439"/>
          </a:xfrm>
          <a:prstGeom prst="rect">
            <a:avLst/>
          </a:prstGeom>
          <a:noFill/>
        </p:spPr>
        <p:txBody>
          <a:bodyPr wrap="square" rtlCol="0">
            <a:spAutoFit/>
          </a:bodyPr>
          <a:lstStyle/>
          <a:p>
            <a:r>
              <a:rPr lang="en-US" sz="8000" dirty="0" err="1" smtClean="0"/>
              <a:t>xhou</a:t>
            </a:r>
            <a:r>
              <a:rPr lang="en-US" sz="8000" dirty="0" smtClean="0"/>
              <a:t>(</a:t>
            </a:r>
            <a:r>
              <a:rPr lang="en-US" sz="8000" dirty="0" err="1" smtClean="0"/>
              <a:t>c,s,d</a:t>
            </a:r>
            <a:r>
              <a:rPr lang="en-US" sz="8000" dirty="0" smtClean="0"/>
              <a:t>)</a:t>
            </a:r>
            <a:endParaRPr lang="en-US" sz="8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DEMAND</a:t>
            </a:r>
            <a:endParaRPr lang="en-US" dirty="0"/>
          </a:p>
        </p:txBody>
      </p:sp>
      <p:sp>
        <p:nvSpPr>
          <p:cNvPr id="3" name="Content Placeholder 2"/>
          <p:cNvSpPr>
            <a:spLocks noGrp="1"/>
          </p:cNvSpPr>
          <p:nvPr>
            <p:ph idx="1"/>
          </p:nvPr>
        </p:nvSpPr>
        <p:spPr>
          <a:xfrm>
            <a:off x="1219200" y="1600200"/>
            <a:ext cx="7467600" cy="4525963"/>
          </a:xfrm>
        </p:spPr>
        <p:txBody>
          <a:bodyPr/>
          <a:lstStyle/>
          <a:p>
            <a:r>
              <a:rPr lang="pt-BR" dirty="0" smtClean="0"/>
              <a:t>FINDEM </a:t>
            </a:r>
            <a:r>
              <a:rPr lang="pt-BR" i="1" dirty="0" smtClean="0"/>
              <a:t># Final demanders #  (HOU, INV, GOV, </a:t>
            </a:r>
            <a:r>
              <a:rPr lang="pt-BR" b="1" i="1" dirty="0" smtClean="0"/>
              <a:t>EXP);</a:t>
            </a:r>
          </a:p>
          <a:p>
            <a:r>
              <a:rPr lang="en-US" dirty="0" smtClean="0"/>
              <a:t>INT </a:t>
            </a:r>
            <a:r>
              <a:rPr lang="en-US" i="1" dirty="0" smtClean="0"/>
              <a:t># Intermediate # (INT);</a:t>
            </a:r>
          </a:p>
          <a:p>
            <a:r>
              <a:rPr lang="en-US" dirty="0" smtClean="0"/>
              <a:t>USR </a:t>
            </a:r>
            <a:r>
              <a:rPr lang="en-US" i="1" dirty="0" smtClean="0"/>
              <a:t># Users #    = IND + FINDEM;</a:t>
            </a:r>
          </a:p>
          <a:p>
            <a:r>
              <a:rPr lang="en-US" dirty="0" smtClean="0"/>
              <a:t>MAINUSR </a:t>
            </a:r>
            <a:r>
              <a:rPr lang="en-US" i="1" dirty="0" smtClean="0"/>
              <a:t># Main users #    = INT + FINDEM;</a:t>
            </a:r>
          </a:p>
          <a:p>
            <a:r>
              <a:rPr lang="en-US" dirty="0" smtClean="0"/>
              <a:t>USE(</a:t>
            </a:r>
            <a:r>
              <a:rPr lang="en-US" dirty="0" err="1" smtClean="0"/>
              <a:t>c,s,u,d</a:t>
            </a:r>
            <a:r>
              <a:rPr lang="en-US" dirty="0" smtClean="0"/>
              <a:t>) </a:t>
            </a:r>
            <a:r>
              <a:rPr lang="en-US" i="1" dirty="0" smtClean="0"/>
              <a:t># Delivered value of demands: basic + margins (ex-tax) #;</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Composite (IMP-DOM) goods</a:t>
            </a:r>
            <a:endParaRPr lang="en-US" dirty="0"/>
          </a:p>
        </p:txBody>
      </p:sp>
      <p:sp>
        <p:nvSpPr>
          <p:cNvPr id="163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p:cNvSpPr/>
          <p:nvPr/>
        </p:nvSpPr>
        <p:spPr>
          <a:xfrm>
            <a:off x="2286000" y="2438400"/>
            <a:ext cx="5791200" cy="1323439"/>
          </a:xfrm>
          <a:prstGeom prst="rect">
            <a:avLst/>
          </a:prstGeom>
        </p:spPr>
        <p:txBody>
          <a:bodyPr wrap="square">
            <a:spAutoFit/>
          </a:bodyPr>
          <a:lstStyle/>
          <a:p>
            <a:r>
              <a:rPr lang="en-US" sz="8000" dirty="0" err="1" smtClean="0"/>
              <a:t>xhou_s</a:t>
            </a:r>
            <a:r>
              <a:rPr lang="en-US" sz="8000" dirty="0" smtClean="0"/>
              <a:t>(</a:t>
            </a:r>
            <a:r>
              <a:rPr lang="en-US" sz="8000" dirty="0" err="1" smtClean="0"/>
              <a:t>c,d</a:t>
            </a:r>
            <a:r>
              <a:rPr lang="en-US" sz="8000" dirty="0" smtClean="0"/>
              <a:t>)</a:t>
            </a:r>
            <a:endParaRPr lang="en-US" sz="8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goods</a:t>
            </a:r>
            <a:endParaRPr lang="en-US" dirty="0"/>
          </a:p>
        </p:txBody>
      </p:sp>
      <p:sp>
        <p:nvSpPr>
          <p:cNvPr id="18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4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 name="TextBox 6"/>
          <p:cNvSpPr txBox="1"/>
          <p:nvPr/>
        </p:nvSpPr>
        <p:spPr>
          <a:xfrm>
            <a:off x="533400" y="3962400"/>
            <a:ext cx="3173882" cy="461665"/>
          </a:xfrm>
          <a:prstGeom prst="rect">
            <a:avLst/>
          </a:prstGeom>
          <a:noFill/>
        </p:spPr>
        <p:txBody>
          <a:bodyPr wrap="none" rtlCol="0">
            <a:spAutoFit/>
          </a:bodyPr>
          <a:lstStyle/>
          <a:p>
            <a:r>
              <a:rPr lang="en-US" sz="2400" dirty="0" smtClean="0"/>
              <a:t>Elasticity of substitution</a:t>
            </a:r>
            <a:endParaRPr lang="en-US" sz="2400" dirty="0"/>
          </a:p>
        </p:txBody>
      </p:sp>
      <p:sp>
        <p:nvSpPr>
          <p:cNvPr id="10" name="TextBox 9"/>
          <p:cNvSpPr txBox="1"/>
          <p:nvPr/>
        </p:nvSpPr>
        <p:spPr>
          <a:xfrm>
            <a:off x="3505200" y="1143000"/>
            <a:ext cx="2212529" cy="461665"/>
          </a:xfrm>
          <a:prstGeom prst="rect">
            <a:avLst/>
          </a:prstGeom>
          <a:noFill/>
        </p:spPr>
        <p:txBody>
          <a:bodyPr wrap="none" rtlCol="0">
            <a:spAutoFit/>
          </a:bodyPr>
          <a:lstStyle/>
          <a:p>
            <a:r>
              <a:rPr lang="en-US" sz="2400" dirty="0" smtClean="0"/>
              <a:t>CES Aggregation</a:t>
            </a:r>
            <a:endParaRPr lang="en-US" sz="2400" dirty="0"/>
          </a:p>
        </p:txBody>
      </p:sp>
      <p:cxnSp>
        <p:nvCxnSpPr>
          <p:cNvPr id="12" name="Straight Connector 11"/>
          <p:cNvCxnSpPr/>
          <p:nvPr/>
        </p:nvCxnSpPr>
        <p:spPr>
          <a:xfrm rot="5400000">
            <a:off x="4382117" y="3962400"/>
            <a:ext cx="1371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067917" y="4648200"/>
            <a:ext cx="2057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210917" y="4724400"/>
            <a:ext cx="1070165" cy="369332"/>
          </a:xfrm>
          <a:prstGeom prst="rect">
            <a:avLst/>
          </a:prstGeom>
          <a:noFill/>
        </p:spPr>
        <p:txBody>
          <a:bodyPr wrap="none" rtlCol="0">
            <a:spAutoFit/>
          </a:bodyPr>
          <a:lstStyle/>
          <a:p>
            <a:r>
              <a:rPr lang="en-US" dirty="0" err="1" smtClean="0"/>
              <a:t>Domestik</a:t>
            </a:r>
            <a:endParaRPr lang="en-US" dirty="0"/>
          </a:p>
        </p:txBody>
      </p:sp>
      <p:sp>
        <p:nvSpPr>
          <p:cNvPr id="16" name="TextBox 15"/>
          <p:cNvSpPr txBox="1"/>
          <p:nvPr/>
        </p:nvSpPr>
        <p:spPr>
          <a:xfrm rot="16200000">
            <a:off x="4420120" y="3619597"/>
            <a:ext cx="750526" cy="369332"/>
          </a:xfrm>
          <a:prstGeom prst="rect">
            <a:avLst/>
          </a:prstGeom>
          <a:noFill/>
        </p:spPr>
        <p:txBody>
          <a:bodyPr wrap="none" rtlCol="0">
            <a:spAutoFit/>
          </a:bodyPr>
          <a:lstStyle/>
          <a:p>
            <a:r>
              <a:rPr lang="en-US" dirty="0" err="1" smtClean="0"/>
              <a:t>Impor</a:t>
            </a:r>
            <a:endParaRPr lang="en-US" dirty="0"/>
          </a:p>
        </p:txBody>
      </p:sp>
      <p:cxnSp>
        <p:nvCxnSpPr>
          <p:cNvPr id="18" name="Straight Connector 17"/>
          <p:cNvCxnSpPr/>
          <p:nvPr/>
        </p:nvCxnSpPr>
        <p:spPr>
          <a:xfrm>
            <a:off x="5220317" y="3733800"/>
            <a:ext cx="990600" cy="762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220317" y="3429000"/>
            <a:ext cx="1371600" cy="10668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525117" y="3276600"/>
            <a:ext cx="1371600" cy="1066800"/>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22" name="Object 3"/>
          <p:cNvGraphicFramePr>
            <a:graphicFrameLocks noChangeAspect="1"/>
          </p:cNvGraphicFramePr>
          <p:nvPr/>
        </p:nvGraphicFramePr>
        <p:xfrm>
          <a:off x="7177705" y="3643313"/>
          <a:ext cx="899495" cy="319087"/>
        </p:xfrm>
        <a:graphic>
          <a:graphicData uri="http://schemas.openxmlformats.org/presentationml/2006/ole">
            <p:oleObj spid="_x0000_s18440" name="Equation" r:id="rId3" imgW="393529" imgH="139639" progId="Equation.3">
              <p:embed/>
            </p:oleObj>
          </a:graphicData>
        </a:graphic>
      </p:graphicFrame>
      <p:cxnSp>
        <p:nvCxnSpPr>
          <p:cNvPr id="23" name="Straight Connector 22"/>
          <p:cNvCxnSpPr/>
          <p:nvPr/>
        </p:nvCxnSpPr>
        <p:spPr>
          <a:xfrm rot="5400000">
            <a:off x="4458317" y="5638800"/>
            <a:ext cx="1371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144117" y="6324600"/>
            <a:ext cx="2057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287117" y="6400800"/>
            <a:ext cx="1070165" cy="369332"/>
          </a:xfrm>
          <a:prstGeom prst="rect">
            <a:avLst/>
          </a:prstGeom>
          <a:noFill/>
        </p:spPr>
        <p:txBody>
          <a:bodyPr wrap="none" rtlCol="0">
            <a:spAutoFit/>
          </a:bodyPr>
          <a:lstStyle/>
          <a:p>
            <a:r>
              <a:rPr lang="en-US" dirty="0" err="1" smtClean="0"/>
              <a:t>Domestik</a:t>
            </a:r>
            <a:endParaRPr lang="en-US" dirty="0"/>
          </a:p>
        </p:txBody>
      </p:sp>
      <p:sp>
        <p:nvSpPr>
          <p:cNvPr id="26" name="TextBox 25"/>
          <p:cNvSpPr txBox="1"/>
          <p:nvPr/>
        </p:nvSpPr>
        <p:spPr>
          <a:xfrm rot="16200000">
            <a:off x="4496320" y="5295997"/>
            <a:ext cx="750526" cy="369332"/>
          </a:xfrm>
          <a:prstGeom prst="rect">
            <a:avLst/>
          </a:prstGeom>
          <a:noFill/>
        </p:spPr>
        <p:txBody>
          <a:bodyPr wrap="none" rtlCol="0">
            <a:spAutoFit/>
          </a:bodyPr>
          <a:lstStyle/>
          <a:p>
            <a:r>
              <a:rPr lang="en-US" dirty="0" err="1" smtClean="0"/>
              <a:t>Impor</a:t>
            </a:r>
            <a:endParaRPr lang="en-US" dirty="0"/>
          </a:p>
        </p:txBody>
      </p:sp>
      <p:graphicFrame>
        <p:nvGraphicFramePr>
          <p:cNvPr id="30" name="Object 3"/>
          <p:cNvGraphicFramePr>
            <a:graphicFrameLocks noChangeAspect="1"/>
          </p:cNvGraphicFramePr>
          <p:nvPr/>
        </p:nvGraphicFramePr>
        <p:xfrm>
          <a:off x="7281863" y="5276850"/>
          <a:ext cx="842962" cy="406400"/>
        </p:xfrm>
        <a:graphic>
          <a:graphicData uri="http://schemas.openxmlformats.org/presentationml/2006/ole">
            <p:oleObj spid="_x0000_s18441" name="Equation" r:id="rId4" imgW="368140" imgH="177723" progId="Equation.3">
              <p:embed/>
            </p:oleObj>
          </a:graphicData>
        </a:graphic>
      </p:graphicFrame>
      <p:cxnSp>
        <p:nvCxnSpPr>
          <p:cNvPr id="31" name="Straight Connector 30"/>
          <p:cNvCxnSpPr/>
          <p:nvPr/>
        </p:nvCxnSpPr>
        <p:spPr>
          <a:xfrm rot="5400000">
            <a:off x="4990703" y="5600303"/>
            <a:ext cx="838200" cy="7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5410200" y="6019006"/>
            <a:ext cx="205740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5143897" y="5371703"/>
            <a:ext cx="838200" cy="7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563394" y="5790406"/>
            <a:ext cx="2057400" cy="158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81000" y="5334000"/>
            <a:ext cx="1371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1066800" y="6019800"/>
            <a:ext cx="2057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209800" y="6096000"/>
            <a:ext cx="1070165" cy="369332"/>
          </a:xfrm>
          <a:prstGeom prst="rect">
            <a:avLst/>
          </a:prstGeom>
          <a:noFill/>
        </p:spPr>
        <p:txBody>
          <a:bodyPr wrap="none" rtlCol="0">
            <a:spAutoFit/>
          </a:bodyPr>
          <a:lstStyle/>
          <a:p>
            <a:r>
              <a:rPr lang="en-US" dirty="0" err="1" smtClean="0"/>
              <a:t>Domestik</a:t>
            </a:r>
            <a:endParaRPr lang="en-US" dirty="0"/>
          </a:p>
        </p:txBody>
      </p:sp>
      <p:sp>
        <p:nvSpPr>
          <p:cNvPr id="40" name="TextBox 39"/>
          <p:cNvSpPr txBox="1"/>
          <p:nvPr/>
        </p:nvSpPr>
        <p:spPr>
          <a:xfrm rot="16200000">
            <a:off x="419003" y="4991197"/>
            <a:ext cx="750526" cy="369332"/>
          </a:xfrm>
          <a:prstGeom prst="rect">
            <a:avLst/>
          </a:prstGeom>
          <a:noFill/>
        </p:spPr>
        <p:txBody>
          <a:bodyPr wrap="none" rtlCol="0">
            <a:spAutoFit/>
          </a:bodyPr>
          <a:lstStyle/>
          <a:p>
            <a:r>
              <a:rPr lang="en-US" dirty="0" err="1" smtClean="0"/>
              <a:t>Impor</a:t>
            </a:r>
            <a:endParaRPr lang="en-US" dirty="0"/>
          </a:p>
        </p:txBody>
      </p:sp>
      <p:graphicFrame>
        <p:nvGraphicFramePr>
          <p:cNvPr id="44" name="Object 3"/>
          <p:cNvGraphicFramePr>
            <a:graphicFrameLocks noChangeAspect="1"/>
          </p:cNvGraphicFramePr>
          <p:nvPr/>
        </p:nvGraphicFramePr>
        <p:xfrm>
          <a:off x="3205163" y="4972050"/>
          <a:ext cx="841375" cy="404813"/>
        </p:xfrm>
        <a:graphic>
          <a:graphicData uri="http://schemas.openxmlformats.org/presentationml/2006/ole">
            <p:oleObj spid="_x0000_s18442" name="Equation" r:id="rId5" imgW="368140" imgH="177723" progId="Equation.3">
              <p:embed/>
            </p:oleObj>
          </a:graphicData>
        </a:graphic>
      </p:graphicFrame>
      <p:sp>
        <p:nvSpPr>
          <p:cNvPr id="45" name="Freeform 44"/>
          <p:cNvSpPr/>
          <p:nvPr/>
        </p:nvSpPr>
        <p:spPr>
          <a:xfrm>
            <a:off x="1253836" y="4807527"/>
            <a:ext cx="1378528" cy="1039091"/>
          </a:xfrm>
          <a:custGeom>
            <a:avLst/>
            <a:gdLst>
              <a:gd name="connsiteX0" fmla="*/ 6928 w 1378528"/>
              <a:gd name="connsiteY0" fmla="*/ 0 h 1039091"/>
              <a:gd name="connsiteX1" fmla="*/ 228600 w 1378528"/>
              <a:gd name="connsiteY1" fmla="*/ 637309 h 1039091"/>
              <a:gd name="connsiteX2" fmla="*/ 1378528 w 1378528"/>
              <a:gd name="connsiteY2" fmla="*/ 1039091 h 1039091"/>
            </a:gdLst>
            <a:ahLst/>
            <a:cxnLst>
              <a:cxn ang="0">
                <a:pos x="connsiteX0" y="connsiteY0"/>
              </a:cxn>
              <a:cxn ang="0">
                <a:pos x="connsiteX1" y="connsiteY1"/>
              </a:cxn>
              <a:cxn ang="0">
                <a:pos x="connsiteX2" y="connsiteY2"/>
              </a:cxn>
            </a:cxnLst>
            <a:rect l="l" t="t" r="r" b="b"/>
            <a:pathLst>
              <a:path w="1378528" h="1039091">
                <a:moveTo>
                  <a:pt x="6928" y="0"/>
                </a:moveTo>
                <a:cubicBezTo>
                  <a:pt x="3464" y="232063"/>
                  <a:pt x="0" y="464127"/>
                  <a:pt x="228600" y="637309"/>
                </a:cubicBezTo>
                <a:cubicBezTo>
                  <a:pt x="457200" y="810491"/>
                  <a:pt x="917864" y="924791"/>
                  <a:pt x="1378528" y="1039091"/>
                </a:cubicBezTo>
              </a:path>
            </a:pathLst>
          </a:cu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1406236" y="4724400"/>
            <a:ext cx="1378528" cy="1039091"/>
          </a:xfrm>
          <a:custGeom>
            <a:avLst/>
            <a:gdLst>
              <a:gd name="connsiteX0" fmla="*/ 6928 w 1378528"/>
              <a:gd name="connsiteY0" fmla="*/ 0 h 1039091"/>
              <a:gd name="connsiteX1" fmla="*/ 228600 w 1378528"/>
              <a:gd name="connsiteY1" fmla="*/ 637309 h 1039091"/>
              <a:gd name="connsiteX2" fmla="*/ 1378528 w 1378528"/>
              <a:gd name="connsiteY2" fmla="*/ 1039091 h 1039091"/>
            </a:gdLst>
            <a:ahLst/>
            <a:cxnLst>
              <a:cxn ang="0">
                <a:pos x="connsiteX0" y="connsiteY0"/>
              </a:cxn>
              <a:cxn ang="0">
                <a:pos x="connsiteX1" y="connsiteY1"/>
              </a:cxn>
              <a:cxn ang="0">
                <a:pos x="connsiteX2" y="connsiteY2"/>
              </a:cxn>
            </a:cxnLst>
            <a:rect l="l" t="t" r="r" b="b"/>
            <a:pathLst>
              <a:path w="1378528" h="1039091">
                <a:moveTo>
                  <a:pt x="6928" y="0"/>
                </a:moveTo>
                <a:cubicBezTo>
                  <a:pt x="3464" y="232063"/>
                  <a:pt x="0" y="464127"/>
                  <a:pt x="228600" y="637309"/>
                </a:cubicBezTo>
                <a:cubicBezTo>
                  <a:pt x="457200" y="810491"/>
                  <a:pt x="917864" y="924791"/>
                  <a:pt x="1378528" y="1039091"/>
                </a:cubicBezTo>
              </a:path>
            </a:pathLst>
          </a:cu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558636" y="4641273"/>
            <a:ext cx="1378528" cy="1039091"/>
          </a:xfrm>
          <a:custGeom>
            <a:avLst/>
            <a:gdLst>
              <a:gd name="connsiteX0" fmla="*/ 6928 w 1378528"/>
              <a:gd name="connsiteY0" fmla="*/ 0 h 1039091"/>
              <a:gd name="connsiteX1" fmla="*/ 228600 w 1378528"/>
              <a:gd name="connsiteY1" fmla="*/ 637309 h 1039091"/>
              <a:gd name="connsiteX2" fmla="*/ 1378528 w 1378528"/>
              <a:gd name="connsiteY2" fmla="*/ 1039091 h 1039091"/>
            </a:gdLst>
            <a:ahLst/>
            <a:cxnLst>
              <a:cxn ang="0">
                <a:pos x="connsiteX0" y="connsiteY0"/>
              </a:cxn>
              <a:cxn ang="0">
                <a:pos x="connsiteX1" y="connsiteY1"/>
              </a:cxn>
              <a:cxn ang="0">
                <a:pos x="connsiteX2" y="connsiteY2"/>
              </a:cxn>
            </a:cxnLst>
            <a:rect l="l" t="t" r="r" b="b"/>
            <a:pathLst>
              <a:path w="1378528" h="1039091">
                <a:moveTo>
                  <a:pt x="6928" y="0"/>
                </a:moveTo>
                <a:cubicBezTo>
                  <a:pt x="3464" y="232063"/>
                  <a:pt x="0" y="464127"/>
                  <a:pt x="228600" y="637309"/>
                </a:cubicBezTo>
                <a:cubicBezTo>
                  <a:pt x="457200" y="810491"/>
                  <a:pt x="917864" y="924791"/>
                  <a:pt x="1378528" y="1039091"/>
                </a:cubicBezTo>
              </a:path>
            </a:pathLst>
          </a:cu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18433" name="Object 1"/>
          <p:cNvGraphicFramePr>
            <a:graphicFrameLocks noChangeAspect="1"/>
          </p:cNvGraphicFramePr>
          <p:nvPr/>
        </p:nvGraphicFramePr>
        <p:xfrm>
          <a:off x="838200" y="1676400"/>
          <a:ext cx="8135938" cy="1391332"/>
        </p:xfrm>
        <a:graphic>
          <a:graphicData uri="http://schemas.openxmlformats.org/presentationml/2006/ole">
            <p:oleObj spid="_x0000_s18443" name="Equation" r:id="rId6" imgW="2959100" imgH="508000" progId="Equation.3">
              <p:embed/>
            </p:oleObj>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Consumer’s </a:t>
            </a:r>
            <a:r>
              <a:rPr lang="en-US" dirty="0" err="1" smtClean="0"/>
              <a:t>behaviour</a:t>
            </a:r>
            <a:r>
              <a:rPr lang="en-US" dirty="0" smtClean="0"/>
              <a:t> in sourcing??</a:t>
            </a:r>
            <a:endParaRPr lang="en-US" dirty="0"/>
          </a:p>
        </p:txBody>
      </p:sp>
      <p:graphicFrame>
        <p:nvGraphicFramePr>
          <p:cNvPr id="19458" name="Object 2"/>
          <p:cNvGraphicFramePr>
            <a:graphicFrameLocks noChangeAspect="1"/>
          </p:cNvGraphicFramePr>
          <p:nvPr/>
        </p:nvGraphicFramePr>
        <p:xfrm>
          <a:off x="381000" y="4953000"/>
          <a:ext cx="8491538" cy="1452156"/>
        </p:xfrm>
        <a:graphic>
          <a:graphicData uri="http://schemas.openxmlformats.org/presentationml/2006/ole">
            <p:oleObj spid="_x0000_s19460" name="Equation" r:id="rId3" imgW="2959100" imgH="508000" progId="Equation.3">
              <p:embed/>
            </p:oleObj>
          </a:graphicData>
        </a:graphic>
      </p:graphicFrame>
      <p:sp>
        <p:nvSpPr>
          <p:cNvPr id="194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459" name="Object 3"/>
          <p:cNvGraphicFramePr>
            <a:graphicFrameLocks noChangeAspect="1"/>
          </p:cNvGraphicFramePr>
          <p:nvPr/>
        </p:nvGraphicFramePr>
        <p:xfrm>
          <a:off x="1828800" y="3204914"/>
          <a:ext cx="6183312" cy="1157536"/>
        </p:xfrm>
        <a:graphic>
          <a:graphicData uri="http://schemas.openxmlformats.org/presentationml/2006/ole">
            <p:oleObj spid="_x0000_s19461" name="Equation" r:id="rId4" imgW="1841500" imgH="342900" progId="Equation.3">
              <p:embed/>
            </p:oleObj>
          </a:graphicData>
        </a:graphic>
      </p:graphicFrame>
      <p:sp>
        <p:nvSpPr>
          <p:cNvPr id="6" name="TextBox 5"/>
          <p:cNvSpPr txBox="1"/>
          <p:nvPr/>
        </p:nvSpPr>
        <p:spPr>
          <a:xfrm>
            <a:off x="1433756" y="1586805"/>
            <a:ext cx="6835974" cy="1384995"/>
          </a:xfrm>
          <a:prstGeom prst="rect">
            <a:avLst/>
          </a:prstGeom>
          <a:noFill/>
        </p:spPr>
        <p:txBody>
          <a:bodyPr wrap="none" rtlCol="0">
            <a:spAutoFit/>
          </a:bodyPr>
          <a:lstStyle/>
          <a:p>
            <a:pPr algn="ctr"/>
            <a:r>
              <a:rPr lang="en-US" sz="2800" dirty="0" smtClean="0"/>
              <a:t>For every unit </a:t>
            </a:r>
            <a:r>
              <a:rPr lang="en-US" sz="2800" dirty="0" err="1" smtClean="0"/>
              <a:t>xhou_s</a:t>
            </a:r>
            <a:r>
              <a:rPr lang="en-US" sz="2800" dirty="0" smtClean="0"/>
              <a:t>,</a:t>
            </a:r>
          </a:p>
          <a:p>
            <a:pPr algn="ctr"/>
            <a:r>
              <a:rPr lang="en-US" sz="2800" dirty="0" smtClean="0"/>
              <a:t>For every type of commodity and destination,</a:t>
            </a:r>
          </a:p>
          <a:p>
            <a:pPr algn="ctr"/>
            <a:r>
              <a:rPr lang="en-US" sz="2800" dirty="0" smtClean="0"/>
              <a:t>households minimize:</a:t>
            </a:r>
            <a:endParaRPr lang="en-US" sz="2800" dirty="0"/>
          </a:p>
        </p:txBody>
      </p:sp>
      <p:sp>
        <p:nvSpPr>
          <p:cNvPr id="7" name="TextBox 6"/>
          <p:cNvSpPr txBox="1"/>
          <p:nvPr/>
        </p:nvSpPr>
        <p:spPr>
          <a:xfrm>
            <a:off x="3733800" y="4343400"/>
            <a:ext cx="1972784" cy="584775"/>
          </a:xfrm>
          <a:prstGeom prst="rect">
            <a:avLst/>
          </a:prstGeom>
          <a:noFill/>
        </p:spPr>
        <p:txBody>
          <a:bodyPr wrap="none" rtlCol="0">
            <a:spAutoFit/>
          </a:bodyPr>
          <a:lstStyle/>
          <a:p>
            <a:r>
              <a:rPr lang="en-US" sz="3200" dirty="0" smtClean="0"/>
              <a:t>Subject to:</a:t>
            </a:r>
            <a:endParaRPr lang="en-US" sz="3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9"/>
          <p:cNvSpPr/>
          <p:nvPr/>
        </p:nvSpPr>
        <p:spPr>
          <a:xfrm>
            <a:off x="1066800" y="1600200"/>
            <a:ext cx="7543800" cy="1077218"/>
          </a:xfrm>
          <a:prstGeom prst="rect">
            <a:avLst/>
          </a:prstGeom>
        </p:spPr>
        <p:txBody>
          <a:bodyPr wrap="square">
            <a:spAutoFit/>
          </a:bodyPr>
          <a:lstStyle/>
          <a:p>
            <a:r>
              <a:rPr lang="pt-BR" sz="3200" dirty="0" smtClean="0"/>
              <a:t>xhou(c,s,d) = xhou_s(c,d) - </a:t>
            </a:r>
            <a:r>
              <a:rPr lang="el-GR" sz="3200" dirty="0" smtClean="0"/>
              <a:t>σ</a:t>
            </a:r>
            <a:r>
              <a:rPr lang="pt-BR" sz="3200" dirty="0" smtClean="0"/>
              <a:t>(c)*</a:t>
            </a:r>
            <a:r>
              <a:rPr lang="pt-BR" sz="3200" b="1" dirty="0" smtClean="0"/>
              <a:t>[ppur(c,s,</a:t>
            </a:r>
            <a:r>
              <a:rPr lang="pt-BR" sz="3200" b="1" i="1" dirty="0" smtClean="0"/>
              <a:t>"hou",d)-phou(c,d)];</a:t>
            </a:r>
            <a:endParaRPr lang="en-US" sz="3200" dirty="0"/>
          </a:p>
        </p:txBody>
      </p:sp>
      <p:sp>
        <p:nvSpPr>
          <p:cNvPr id="11" name="Rectangle 10"/>
          <p:cNvSpPr/>
          <p:nvPr/>
        </p:nvSpPr>
        <p:spPr>
          <a:xfrm>
            <a:off x="1066800" y="2971800"/>
            <a:ext cx="5254965" cy="584775"/>
          </a:xfrm>
          <a:prstGeom prst="rect">
            <a:avLst/>
          </a:prstGeom>
        </p:spPr>
        <p:txBody>
          <a:bodyPr wrap="none">
            <a:spAutoFit/>
          </a:bodyPr>
          <a:lstStyle/>
          <a:p>
            <a:r>
              <a:rPr lang="en-US" sz="3200" dirty="0" err="1" smtClean="0"/>
              <a:t>phou</a:t>
            </a:r>
            <a:r>
              <a:rPr lang="en-US" sz="3200" dirty="0" smtClean="0"/>
              <a:t>(</a:t>
            </a:r>
            <a:r>
              <a:rPr lang="en-US" sz="3200" dirty="0" err="1" smtClean="0"/>
              <a:t>c,d</a:t>
            </a:r>
            <a:r>
              <a:rPr lang="en-US" sz="3200" dirty="0" smtClean="0"/>
              <a:t>) = </a:t>
            </a:r>
            <a:r>
              <a:rPr lang="en-US" sz="3200" dirty="0" err="1" smtClean="0"/>
              <a:t>ppur_s</a:t>
            </a:r>
            <a:r>
              <a:rPr lang="en-US" sz="3200" dirty="0" smtClean="0"/>
              <a:t>(</a:t>
            </a:r>
            <a:r>
              <a:rPr lang="en-US" sz="3200" dirty="0" err="1" smtClean="0"/>
              <a:t>c,</a:t>
            </a:r>
            <a:r>
              <a:rPr lang="en-US" sz="3200" i="1" dirty="0" err="1" smtClean="0"/>
              <a:t>"hou",d</a:t>
            </a:r>
            <a:r>
              <a:rPr lang="en-US" sz="3200" i="1" dirty="0" smtClean="0"/>
              <a:t>);</a:t>
            </a:r>
            <a:endParaRPr lang="en-US" sz="3200" dirty="0"/>
          </a:p>
        </p:txBody>
      </p:sp>
      <p:sp>
        <p:nvSpPr>
          <p:cNvPr id="12" name="Rectangle 11"/>
          <p:cNvSpPr/>
          <p:nvPr/>
        </p:nvSpPr>
        <p:spPr>
          <a:xfrm>
            <a:off x="1066800" y="3810000"/>
            <a:ext cx="7543800" cy="1077218"/>
          </a:xfrm>
          <a:prstGeom prst="rect">
            <a:avLst/>
          </a:prstGeom>
        </p:spPr>
        <p:txBody>
          <a:bodyPr wrap="square">
            <a:spAutoFit/>
          </a:bodyPr>
          <a:lstStyle/>
          <a:p>
            <a:r>
              <a:rPr lang="en-US" sz="3200" dirty="0" err="1" smtClean="0"/>
              <a:t>ppur_s</a:t>
            </a:r>
            <a:r>
              <a:rPr lang="en-US" sz="3200" dirty="0" smtClean="0"/>
              <a:t>(</a:t>
            </a:r>
            <a:r>
              <a:rPr lang="en-US" sz="3200" dirty="0" err="1" smtClean="0"/>
              <a:t>c,u,d</a:t>
            </a:r>
            <a:r>
              <a:rPr lang="en-US" sz="3200" dirty="0" smtClean="0"/>
              <a:t>) = </a:t>
            </a:r>
            <a:r>
              <a:rPr lang="en-US" sz="3200" b="1" dirty="0" smtClean="0"/>
              <a:t>sum{</a:t>
            </a:r>
            <a:r>
              <a:rPr lang="en-US" sz="3200" b="1" dirty="0" err="1" smtClean="0"/>
              <a:t>s,SRC,SRCSHR</a:t>
            </a:r>
            <a:r>
              <a:rPr lang="en-US" sz="3200" b="1" dirty="0" smtClean="0"/>
              <a:t>(</a:t>
            </a:r>
            <a:r>
              <a:rPr lang="en-US" sz="3200" b="1" dirty="0" err="1" smtClean="0"/>
              <a:t>c,s,u,d</a:t>
            </a:r>
            <a:r>
              <a:rPr lang="en-US" sz="3200" b="1" dirty="0" smtClean="0"/>
              <a:t>)*</a:t>
            </a:r>
            <a:r>
              <a:rPr lang="en-US" sz="3200" b="1" dirty="0" err="1" smtClean="0"/>
              <a:t>ppur</a:t>
            </a:r>
            <a:r>
              <a:rPr lang="en-US" sz="3200" b="1" dirty="0" smtClean="0"/>
              <a:t>(</a:t>
            </a:r>
            <a:r>
              <a:rPr lang="en-US" sz="3200" b="1" dirty="0" err="1" smtClean="0"/>
              <a:t>c,s,u,d</a:t>
            </a:r>
            <a:r>
              <a:rPr lang="en-US" sz="3200" b="1" dirty="0" smtClean="0"/>
              <a:t>)};</a:t>
            </a:r>
            <a:endParaRPr lang="en-US" sz="3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Solution:</a:t>
            </a:r>
            <a:br>
              <a:rPr lang="en-US" dirty="0" smtClean="0"/>
            </a:br>
            <a:r>
              <a:rPr lang="en-US" dirty="0" smtClean="0"/>
              <a:t>Intermediate (1)</a:t>
            </a:r>
            <a:endParaRPr lang="en-US" dirty="0"/>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10"/>
          <p:cNvSpPr/>
          <p:nvPr/>
        </p:nvSpPr>
        <p:spPr>
          <a:xfrm>
            <a:off x="1676400" y="2514600"/>
            <a:ext cx="6019800" cy="1066800"/>
          </a:xfrm>
          <a:prstGeom prst="rect">
            <a:avLst/>
          </a:prstGeom>
        </p:spPr>
        <p:txBody>
          <a:bodyPr wrap="square">
            <a:spAutoFit/>
          </a:bodyPr>
          <a:lstStyle/>
          <a:p>
            <a:r>
              <a:rPr lang="en-US" sz="3200" dirty="0" err="1" smtClean="0"/>
              <a:t>xint</a:t>
            </a:r>
            <a:r>
              <a:rPr lang="en-US" sz="3200" dirty="0" smtClean="0"/>
              <a:t>(</a:t>
            </a:r>
            <a:r>
              <a:rPr lang="en-US" sz="3200" dirty="0" err="1" smtClean="0"/>
              <a:t>c,s,i,d</a:t>
            </a:r>
            <a:r>
              <a:rPr lang="en-US" sz="3200" dirty="0" smtClean="0"/>
              <a:t>) = </a:t>
            </a:r>
            <a:r>
              <a:rPr lang="en-US" sz="3200" dirty="0" err="1" smtClean="0"/>
              <a:t>xint_s</a:t>
            </a:r>
            <a:r>
              <a:rPr lang="en-US" sz="3200" dirty="0" smtClean="0"/>
              <a:t>(</a:t>
            </a:r>
            <a:r>
              <a:rPr lang="en-US" sz="3200" dirty="0" err="1" smtClean="0"/>
              <a:t>c,i,d</a:t>
            </a:r>
            <a:r>
              <a:rPr lang="en-US" sz="3200" dirty="0" smtClean="0"/>
              <a:t>) - </a:t>
            </a:r>
            <a:r>
              <a:rPr lang="el-GR" sz="3200" dirty="0" smtClean="0"/>
              <a:t>σ</a:t>
            </a:r>
            <a:r>
              <a:rPr lang="en-US" sz="3200" dirty="0" smtClean="0"/>
              <a:t>(c)*</a:t>
            </a:r>
            <a:r>
              <a:rPr lang="en-US" sz="3200" b="1" dirty="0" smtClean="0"/>
              <a:t>[</a:t>
            </a:r>
            <a:r>
              <a:rPr lang="en-US" sz="3200" b="1" dirty="0" err="1" smtClean="0"/>
              <a:t>ppur</a:t>
            </a:r>
            <a:r>
              <a:rPr lang="en-US" sz="3200" b="1" dirty="0" smtClean="0"/>
              <a:t>(</a:t>
            </a:r>
            <a:r>
              <a:rPr lang="en-US" sz="3200" b="1" dirty="0" err="1" smtClean="0"/>
              <a:t>c,s,i,d</a:t>
            </a:r>
            <a:r>
              <a:rPr lang="en-US" sz="3200" b="1" dirty="0" smtClean="0"/>
              <a:t>)-</a:t>
            </a:r>
            <a:r>
              <a:rPr lang="en-US" sz="3200" b="1" dirty="0" err="1" smtClean="0"/>
              <a:t>ppur_s</a:t>
            </a:r>
            <a:r>
              <a:rPr lang="en-US" sz="3200" b="1" dirty="0" smtClean="0"/>
              <a:t>(</a:t>
            </a:r>
            <a:r>
              <a:rPr lang="en-US" sz="3200" b="1" dirty="0" err="1" smtClean="0"/>
              <a:t>c,i,d</a:t>
            </a:r>
            <a:r>
              <a:rPr lang="en-US" sz="3200" b="1" dirty="0" smtClean="0"/>
              <a:t>)];</a:t>
            </a:r>
            <a:endParaRPr lang="en-US"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Solution</a:t>
            </a:r>
            <a:br>
              <a:rPr lang="en-US" dirty="0" smtClean="0"/>
            </a:br>
            <a:r>
              <a:rPr lang="en-US" dirty="0" smtClean="0"/>
              <a:t>Investment (2)</a:t>
            </a:r>
            <a:endParaRPr lang="en-US" dirty="0"/>
          </a:p>
        </p:txBody>
      </p:sp>
      <p:sp>
        <p:nvSpPr>
          <p:cNvPr id="50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18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10"/>
          <p:cNvSpPr/>
          <p:nvPr/>
        </p:nvSpPr>
        <p:spPr>
          <a:xfrm>
            <a:off x="1524000" y="2514600"/>
            <a:ext cx="6324600" cy="1077218"/>
          </a:xfrm>
          <a:prstGeom prst="rect">
            <a:avLst/>
          </a:prstGeom>
        </p:spPr>
        <p:txBody>
          <a:bodyPr wrap="square">
            <a:spAutoFit/>
          </a:bodyPr>
          <a:lstStyle/>
          <a:p>
            <a:r>
              <a:rPr lang="en-US" sz="3200" dirty="0" err="1" smtClean="0"/>
              <a:t>xinv</a:t>
            </a:r>
            <a:r>
              <a:rPr lang="en-US" sz="3200" dirty="0" smtClean="0"/>
              <a:t>(</a:t>
            </a:r>
            <a:r>
              <a:rPr lang="en-US" sz="3200" dirty="0" err="1" smtClean="0"/>
              <a:t>c,s,d</a:t>
            </a:r>
            <a:r>
              <a:rPr lang="en-US" sz="3200" dirty="0" smtClean="0"/>
              <a:t>) = </a:t>
            </a:r>
            <a:r>
              <a:rPr lang="en-US" sz="3200" dirty="0" err="1" smtClean="0"/>
              <a:t>xinv_s</a:t>
            </a:r>
            <a:r>
              <a:rPr lang="en-US" sz="3200" dirty="0" smtClean="0"/>
              <a:t>(</a:t>
            </a:r>
            <a:r>
              <a:rPr lang="en-US" sz="3200" dirty="0" err="1" smtClean="0"/>
              <a:t>c,d</a:t>
            </a:r>
            <a:r>
              <a:rPr lang="en-US" sz="3200" dirty="0" smtClean="0"/>
              <a:t>) - </a:t>
            </a:r>
            <a:r>
              <a:rPr lang="el-GR" sz="3200" dirty="0" smtClean="0"/>
              <a:t>σ</a:t>
            </a:r>
            <a:r>
              <a:rPr lang="en-US" sz="3200" dirty="0" smtClean="0"/>
              <a:t>(c)*</a:t>
            </a:r>
            <a:r>
              <a:rPr lang="en-US" sz="3200" b="1" dirty="0" smtClean="0"/>
              <a:t>[</a:t>
            </a:r>
            <a:r>
              <a:rPr lang="en-US" sz="3200" b="1" dirty="0" err="1" smtClean="0"/>
              <a:t>ppur</a:t>
            </a:r>
            <a:r>
              <a:rPr lang="en-US" sz="3200" b="1" dirty="0" smtClean="0"/>
              <a:t>(</a:t>
            </a:r>
            <a:r>
              <a:rPr lang="en-US" sz="3200" b="1" dirty="0" err="1" smtClean="0"/>
              <a:t>c,s,</a:t>
            </a:r>
            <a:r>
              <a:rPr lang="en-US" sz="3200" b="1" i="1" dirty="0" err="1" smtClean="0"/>
              <a:t>"inv",d</a:t>
            </a:r>
            <a:r>
              <a:rPr lang="en-US" sz="3200" b="1" i="1" dirty="0" smtClean="0"/>
              <a:t>)-</a:t>
            </a:r>
            <a:r>
              <a:rPr lang="en-US" sz="3200" b="1" i="1" dirty="0" err="1" smtClean="0"/>
              <a:t>pinvest</a:t>
            </a:r>
            <a:r>
              <a:rPr lang="en-US" sz="3200" b="1" i="1" dirty="0" smtClean="0"/>
              <a:t>(</a:t>
            </a:r>
            <a:r>
              <a:rPr lang="en-US" sz="3200" b="1" i="1" dirty="0" err="1" smtClean="0"/>
              <a:t>c,d</a:t>
            </a:r>
            <a:r>
              <a:rPr lang="en-US" sz="3200" b="1" i="1" dirty="0" smtClean="0"/>
              <a:t>)];</a:t>
            </a:r>
            <a:endParaRPr lang="en-US" sz="3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0" y="304800"/>
            <a:ext cx="8001000" cy="1219200"/>
          </a:xfrm>
        </p:spPr>
        <p:txBody>
          <a:bodyPr>
            <a:noAutofit/>
          </a:bodyPr>
          <a:lstStyle/>
          <a:p>
            <a:r>
              <a:rPr lang="en-US" sz="6000" dirty="0" smtClean="0"/>
              <a:t>How composite goods are determine?</a:t>
            </a:r>
            <a:endParaRPr lang="en-US" sz="6000" dirty="0"/>
          </a:p>
        </p:txBody>
      </p:sp>
      <p:sp>
        <p:nvSpPr>
          <p:cNvPr id="163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Title 3"/>
          <p:cNvSpPr txBox="1">
            <a:spLocks/>
          </p:cNvSpPr>
          <p:nvPr/>
        </p:nvSpPr>
        <p:spPr>
          <a:xfrm>
            <a:off x="609600" y="5181600"/>
            <a:ext cx="8229600" cy="16764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smtClean="0">
                <a:latin typeface="+mj-lt"/>
                <a:ea typeface="+mj-ea"/>
                <a:cs typeface="+mj-cs"/>
              </a:rPr>
              <a:t>Each user has its own behavior</a:t>
            </a:r>
            <a:endParaRPr kumimoji="0" lang="en-US" sz="32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8" name="Rectangle 7"/>
          <p:cNvSpPr/>
          <p:nvPr/>
        </p:nvSpPr>
        <p:spPr>
          <a:xfrm>
            <a:off x="1524000" y="2209800"/>
            <a:ext cx="3454792" cy="1015663"/>
          </a:xfrm>
          <a:prstGeom prst="rect">
            <a:avLst/>
          </a:prstGeom>
        </p:spPr>
        <p:txBody>
          <a:bodyPr wrap="none">
            <a:spAutoFit/>
          </a:bodyPr>
          <a:lstStyle/>
          <a:p>
            <a:r>
              <a:rPr lang="en-US" sz="5400" dirty="0" err="1" smtClean="0"/>
              <a:t>xint_s</a:t>
            </a:r>
            <a:r>
              <a:rPr lang="en-US" sz="5400" dirty="0" smtClean="0"/>
              <a:t>(</a:t>
            </a:r>
            <a:r>
              <a:rPr lang="en-US" sz="5400" dirty="0" err="1" smtClean="0"/>
              <a:t>c,i,d</a:t>
            </a:r>
            <a:r>
              <a:rPr lang="en-US" sz="6000" dirty="0" smtClean="0"/>
              <a:t>)</a:t>
            </a:r>
            <a:endParaRPr lang="en-US" sz="6000" dirty="0"/>
          </a:p>
        </p:txBody>
      </p:sp>
      <p:sp>
        <p:nvSpPr>
          <p:cNvPr id="9" name="Rectangle 8"/>
          <p:cNvSpPr/>
          <p:nvPr/>
        </p:nvSpPr>
        <p:spPr>
          <a:xfrm>
            <a:off x="2895600" y="3276600"/>
            <a:ext cx="3600666" cy="923330"/>
          </a:xfrm>
          <a:prstGeom prst="rect">
            <a:avLst/>
          </a:prstGeom>
        </p:spPr>
        <p:txBody>
          <a:bodyPr wrap="none">
            <a:spAutoFit/>
          </a:bodyPr>
          <a:lstStyle/>
          <a:p>
            <a:r>
              <a:rPr lang="en-US" sz="5400" dirty="0" err="1" smtClean="0"/>
              <a:t>xhou_s</a:t>
            </a:r>
            <a:r>
              <a:rPr lang="en-US" sz="5400" dirty="0" smtClean="0"/>
              <a:t>(</a:t>
            </a:r>
            <a:r>
              <a:rPr lang="en-US" sz="5400" dirty="0" err="1" smtClean="0"/>
              <a:t>c,d</a:t>
            </a:r>
            <a:r>
              <a:rPr lang="en-US" sz="5400" dirty="0" smtClean="0"/>
              <a:t>) </a:t>
            </a:r>
            <a:endParaRPr lang="en-US" sz="5400" dirty="0"/>
          </a:p>
        </p:txBody>
      </p:sp>
      <p:sp>
        <p:nvSpPr>
          <p:cNvPr id="10" name="Rectangle 9"/>
          <p:cNvSpPr/>
          <p:nvPr/>
        </p:nvSpPr>
        <p:spPr>
          <a:xfrm>
            <a:off x="4724400" y="4343400"/>
            <a:ext cx="3174010" cy="923330"/>
          </a:xfrm>
          <a:prstGeom prst="rect">
            <a:avLst/>
          </a:prstGeom>
        </p:spPr>
        <p:txBody>
          <a:bodyPr wrap="none">
            <a:spAutoFit/>
          </a:bodyPr>
          <a:lstStyle/>
          <a:p>
            <a:r>
              <a:rPr lang="en-US" sz="5400" dirty="0" err="1" smtClean="0"/>
              <a:t>xinv_s</a:t>
            </a:r>
            <a:r>
              <a:rPr lang="en-US" sz="5400" dirty="0" smtClean="0"/>
              <a:t>(</a:t>
            </a:r>
            <a:r>
              <a:rPr lang="en-US" sz="5400" dirty="0" err="1" smtClean="0"/>
              <a:t>c,d</a:t>
            </a:r>
            <a:r>
              <a:rPr lang="en-US" sz="5400" dirty="0" smtClean="0"/>
              <a:t>)</a:t>
            </a:r>
            <a:endParaRPr lang="en-US" sz="5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3"/>
          <p:cNvSpPr txBox="1">
            <a:spLocks/>
          </p:cNvSpPr>
          <p:nvPr/>
        </p:nvSpPr>
        <p:spPr>
          <a:xfrm>
            <a:off x="457200" y="381000"/>
            <a:ext cx="8229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sng" strike="noStrike" kern="1200" cap="none" spc="0" normalizeH="0" baseline="0" noProof="0" dirty="0" smtClean="0">
                <a:ln>
                  <a:noFill/>
                </a:ln>
                <a:solidFill>
                  <a:schemeClr val="tx1"/>
                </a:solidFill>
                <a:effectLst/>
                <a:uLnTx/>
                <a:uFillTx/>
                <a:latin typeface="+mj-lt"/>
                <a:ea typeface="+mj-ea"/>
                <a:cs typeface="+mj-cs"/>
              </a:rPr>
              <a:t>Industry </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demand </a:t>
            </a:r>
            <a:r>
              <a:rPr lang="en-US" sz="4400" dirty="0" err="1" smtClean="0">
                <a:latin typeface="+mj-lt"/>
                <a:ea typeface="+mj-ea"/>
                <a:cs typeface="+mj-cs"/>
              </a:rPr>
              <a:t>xint_s</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as </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raw material</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TextBox 17"/>
          <p:cNvSpPr txBox="1"/>
          <p:nvPr/>
        </p:nvSpPr>
        <p:spPr>
          <a:xfrm>
            <a:off x="7162800" y="3581400"/>
            <a:ext cx="974947" cy="369332"/>
          </a:xfrm>
          <a:prstGeom prst="rect">
            <a:avLst/>
          </a:prstGeom>
          <a:noFill/>
        </p:spPr>
        <p:txBody>
          <a:bodyPr wrap="none" rtlCol="0">
            <a:spAutoFit/>
          </a:bodyPr>
          <a:lstStyle/>
          <a:p>
            <a:r>
              <a:rPr lang="en-US" dirty="0" smtClean="0"/>
              <a:t>OUTPUT</a:t>
            </a:r>
            <a:endParaRPr lang="en-US" dirty="0"/>
          </a:p>
        </p:txBody>
      </p:sp>
      <p:sp>
        <p:nvSpPr>
          <p:cNvPr id="19" name="TextBox 18"/>
          <p:cNvSpPr txBox="1"/>
          <p:nvPr/>
        </p:nvSpPr>
        <p:spPr>
          <a:xfrm>
            <a:off x="5181600" y="3352800"/>
            <a:ext cx="1676399" cy="646331"/>
          </a:xfrm>
          <a:prstGeom prst="rect">
            <a:avLst/>
          </a:prstGeom>
          <a:noFill/>
        </p:spPr>
        <p:txBody>
          <a:bodyPr wrap="square" rtlCol="0">
            <a:spAutoFit/>
          </a:bodyPr>
          <a:lstStyle/>
          <a:p>
            <a:r>
              <a:rPr lang="en-US" dirty="0" smtClean="0"/>
              <a:t>INTERMEDIATE TECH CHANGE </a:t>
            </a:r>
            <a:endParaRPr lang="en-US" dirty="0"/>
          </a:p>
        </p:txBody>
      </p:sp>
      <p:cxnSp>
        <p:nvCxnSpPr>
          <p:cNvPr id="20" name="Straight Arrow Connector 19"/>
          <p:cNvCxnSpPr/>
          <p:nvPr/>
        </p:nvCxnSpPr>
        <p:spPr>
          <a:xfrm rot="5400000" flipH="1" flipV="1">
            <a:off x="5830094" y="30853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flipH="1" flipV="1">
            <a:off x="7353300" y="32385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itle 3"/>
          <p:cNvSpPr txBox="1">
            <a:spLocks/>
          </p:cNvSpPr>
          <p:nvPr/>
        </p:nvSpPr>
        <p:spPr>
          <a:xfrm>
            <a:off x="457200" y="5181600"/>
            <a:ext cx="8229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smtClean="0">
                <a:ln>
                  <a:noFill/>
                </a:ln>
                <a:solidFill>
                  <a:schemeClr val="tx1"/>
                </a:solidFill>
                <a:effectLst/>
                <a:uLnTx/>
                <a:uFillTx/>
                <a:latin typeface="+mj-lt"/>
                <a:ea typeface="+mj-ea"/>
                <a:cs typeface="+mj-cs"/>
              </a:rPr>
              <a:t>Demand for composite-goods as</a:t>
            </a:r>
            <a:r>
              <a:rPr kumimoji="0" lang="en-US" sz="3600" b="0" i="0" u="none" strike="noStrike" kern="1200" cap="none" spc="0" normalizeH="0" noProof="0" dirty="0" smtClean="0">
                <a:ln>
                  <a:noFill/>
                </a:ln>
                <a:solidFill>
                  <a:schemeClr val="tx1"/>
                </a:solidFill>
                <a:effectLst/>
                <a:uLnTx/>
                <a:uFillTx/>
                <a:latin typeface="+mj-lt"/>
                <a:ea typeface="+mj-ea"/>
                <a:cs typeface="+mj-cs"/>
              </a:rPr>
              <a:t> raw material </a:t>
            </a:r>
            <a:r>
              <a:rPr lang="en-US" sz="3600" dirty="0" smtClean="0">
                <a:latin typeface="+mj-lt"/>
                <a:ea typeface="+mj-ea"/>
                <a:cs typeface="+mj-cs"/>
              </a:rPr>
              <a:t>only depend on the amount of output of the industry</a:t>
            </a:r>
            <a:endParaRPr kumimoji="0" lang="en-US" sz="36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24" name="Slide Number Placeholder 13"/>
          <p:cNvSpPr>
            <a:spLocks noGrp="1"/>
          </p:cNvSpPr>
          <p:nvPr>
            <p:ph type="sldNum" sz="quarter" idx="12"/>
          </p:nvPr>
        </p:nvSpPr>
        <p:spPr>
          <a:xfrm>
            <a:off x="6553200" y="6356350"/>
            <a:ext cx="2133600" cy="365125"/>
          </a:xfrm>
        </p:spPr>
        <p:txBody>
          <a:bodyPr/>
          <a:lstStyle/>
          <a:p>
            <a:fld id="{249EF798-3059-4390-B3EE-3F0A5CA473D0}" type="slidenum">
              <a:rPr lang="en-US" smtClean="0"/>
              <a:pPr/>
              <a:t>12</a:t>
            </a:fld>
            <a:endParaRPr lang="en-US"/>
          </a:p>
        </p:txBody>
      </p:sp>
      <p:graphicFrame>
        <p:nvGraphicFramePr>
          <p:cNvPr id="22532" name="Object 4"/>
          <p:cNvGraphicFramePr>
            <a:graphicFrameLocks noChangeAspect="1"/>
          </p:cNvGraphicFramePr>
          <p:nvPr/>
        </p:nvGraphicFramePr>
        <p:xfrm>
          <a:off x="1828800" y="2209800"/>
          <a:ext cx="7034797" cy="590550"/>
        </p:xfrm>
        <a:graphic>
          <a:graphicData uri="http://schemas.openxmlformats.org/presentationml/2006/ole">
            <p:oleObj spid="_x0000_s22533" name="Equation" r:id="rId3" imgW="2413000" imgH="203200" progId="Equation.3">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Household?</a:t>
            </a:r>
            <a:endParaRPr lang="en-US" dirty="0"/>
          </a:p>
        </p:txBody>
      </p:sp>
      <p:sp>
        <p:nvSpPr>
          <p:cNvPr id="235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3553" name="Object 1"/>
          <p:cNvGraphicFramePr>
            <a:graphicFrameLocks noChangeAspect="1"/>
          </p:cNvGraphicFramePr>
          <p:nvPr/>
        </p:nvGraphicFramePr>
        <p:xfrm>
          <a:off x="2632075" y="1493838"/>
          <a:ext cx="2951163" cy="612775"/>
        </p:xfrm>
        <a:graphic>
          <a:graphicData uri="http://schemas.openxmlformats.org/presentationml/2006/ole">
            <p:oleObj spid="_x0000_s23556" name="Equation" r:id="rId3" imgW="1651000" imgH="342900" progId="Equation.3">
              <p:embed/>
            </p:oleObj>
          </a:graphicData>
        </a:graphic>
      </p:graphicFrame>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3555" name="Object 3"/>
          <p:cNvGraphicFramePr>
            <a:graphicFrameLocks noChangeAspect="1"/>
          </p:cNvGraphicFramePr>
          <p:nvPr/>
        </p:nvGraphicFramePr>
        <p:xfrm>
          <a:off x="2427288" y="2590800"/>
          <a:ext cx="3632200" cy="609600"/>
        </p:xfrm>
        <a:graphic>
          <a:graphicData uri="http://schemas.openxmlformats.org/presentationml/2006/ole">
            <p:oleObj spid="_x0000_s23557" name="Equation" r:id="rId4" imgW="2032000" imgH="342900" progId="Equation.3">
              <p:embed/>
            </p:oleObj>
          </a:graphicData>
        </a:graphic>
      </p:graphicFrame>
      <p:sp>
        <p:nvSpPr>
          <p:cNvPr id="7" name="TextBox 6"/>
          <p:cNvSpPr txBox="1"/>
          <p:nvPr/>
        </p:nvSpPr>
        <p:spPr>
          <a:xfrm>
            <a:off x="838200" y="1524000"/>
            <a:ext cx="1828800" cy="369332"/>
          </a:xfrm>
          <a:prstGeom prst="rect">
            <a:avLst/>
          </a:prstGeom>
          <a:noFill/>
        </p:spPr>
        <p:txBody>
          <a:bodyPr wrap="square" rtlCol="0">
            <a:spAutoFit/>
          </a:bodyPr>
          <a:lstStyle/>
          <a:p>
            <a:r>
              <a:rPr lang="en-US" dirty="0" smtClean="0"/>
              <a:t>Maximize</a:t>
            </a:r>
            <a:endParaRPr lang="en-US" dirty="0"/>
          </a:p>
        </p:txBody>
      </p:sp>
      <p:sp>
        <p:nvSpPr>
          <p:cNvPr id="8" name="TextBox 7"/>
          <p:cNvSpPr txBox="1"/>
          <p:nvPr/>
        </p:nvSpPr>
        <p:spPr>
          <a:xfrm>
            <a:off x="838200" y="2133600"/>
            <a:ext cx="1828800" cy="369332"/>
          </a:xfrm>
          <a:prstGeom prst="rect">
            <a:avLst/>
          </a:prstGeom>
          <a:noFill/>
        </p:spPr>
        <p:txBody>
          <a:bodyPr wrap="square" rtlCol="0">
            <a:spAutoFit/>
          </a:bodyPr>
          <a:lstStyle/>
          <a:p>
            <a:r>
              <a:rPr lang="en-US" dirty="0" smtClean="0"/>
              <a:t>Subject to:</a:t>
            </a:r>
            <a:endParaRPr lang="en-US" dirty="0"/>
          </a:p>
        </p:txBody>
      </p:sp>
      <p:sp>
        <p:nvSpPr>
          <p:cNvPr id="235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TextBox 10"/>
          <p:cNvSpPr txBox="1"/>
          <p:nvPr/>
        </p:nvSpPr>
        <p:spPr>
          <a:xfrm>
            <a:off x="304800" y="3962400"/>
            <a:ext cx="792205" cy="369332"/>
          </a:xfrm>
          <a:prstGeom prst="rect">
            <a:avLst/>
          </a:prstGeom>
          <a:noFill/>
        </p:spPr>
        <p:txBody>
          <a:bodyPr wrap="none" rtlCol="0">
            <a:spAutoFit/>
          </a:bodyPr>
          <a:lstStyle/>
          <a:p>
            <a:r>
              <a:rPr lang="en-US" dirty="0" err="1" smtClean="0"/>
              <a:t>Solusi</a:t>
            </a:r>
            <a:r>
              <a:rPr lang="en-US" dirty="0" smtClean="0"/>
              <a:t>:</a:t>
            </a:r>
            <a:endParaRPr lang="en-US" dirty="0"/>
          </a:p>
        </p:txBody>
      </p:sp>
      <p:sp>
        <p:nvSpPr>
          <p:cNvPr id="13" name="Rectangle 12"/>
          <p:cNvSpPr/>
          <p:nvPr/>
        </p:nvSpPr>
        <p:spPr>
          <a:xfrm>
            <a:off x="228600" y="4648200"/>
            <a:ext cx="8915400" cy="1015663"/>
          </a:xfrm>
          <a:prstGeom prst="rect">
            <a:avLst/>
          </a:prstGeom>
        </p:spPr>
        <p:txBody>
          <a:bodyPr wrap="square">
            <a:spAutoFit/>
          </a:bodyPr>
          <a:lstStyle/>
          <a:p>
            <a:r>
              <a:rPr lang="en-US" dirty="0" smtClean="0"/>
              <a:t> </a:t>
            </a:r>
            <a:r>
              <a:rPr lang="en-US" sz="2000" dirty="0" err="1" smtClean="0"/>
              <a:t>E_xhou_s</a:t>
            </a:r>
            <a:r>
              <a:rPr lang="en-US" sz="2000" dirty="0" smtClean="0"/>
              <a:t>  </a:t>
            </a:r>
            <a:r>
              <a:rPr lang="en-US" sz="2000" i="1" dirty="0" smtClean="0"/>
              <a:t># All-household demand for composite commodities #</a:t>
            </a:r>
            <a:br>
              <a:rPr lang="en-US" sz="2000" i="1" dirty="0" smtClean="0"/>
            </a:br>
            <a:r>
              <a:rPr lang="en-US" sz="2000" i="1" dirty="0" smtClean="0"/>
              <a:t>  (</a:t>
            </a:r>
            <a:r>
              <a:rPr lang="en-US" sz="2000" b="1" i="1" dirty="0" err="1" smtClean="0"/>
              <a:t>all,c,COM</a:t>
            </a:r>
            <a:r>
              <a:rPr lang="en-US" sz="2000" b="1" i="1" dirty="0" smtClean="0"/>
              <a:t>)(</a:t>
            </a:r>
            <a:r>
              <a:rPr lang="en-US" sz="2000" b="1" i="1" dirty="0" err="1" smtClean="0"/>
              <a:t>all,d,DST</a:t>
            </a:r>
            <a:r>
              <a:rPr lang="en-US" sz="2000" b="1" i="1" dirty="0" smtClean="0"/>
              <a:t>) </a:t>
            </a:r>
            <a:r>
              <a:rPr lang="en-US" sz="2000" b="1" i="1" dirty="0" err="1" smtClean="0"/>
              <a:t>xhou_s</a:t>
            </a:r>
            <a:r>
              <a:rPr lang="en-US" sz="2000" b="1" i="1" dirty="0" smtClean="0"/>
              <a:t>(</a:t>
            </a:r>
            <a:r>
              <a:rPr lang="en-US" sz="2000" b="1" i="1" dirty="0" err="1" smtClean="0"/>
              <a:t>c,d</a:t>
            </a:r>
            <a:r>
              <a:rPr lang="en-US" sz="2000" b="1" i="1" dirty="0" smtClean="0"/>
              <a:t>)= sum{</a:t>
            </a:r>
            <a:r>
              <a:rPr lang="en-US" sz="2000" b="1" i="1" dirty="0" err="1" smtClean="0"/>
              <a:t>h,HOU</a:t>
            </a:r>
            <a:r>
              <a:rPr lang="en-US" sz="2000" b="1" i="1" dirty="0" smtClean="0"/>
              <a:t>, HOUSHR(</a:t>
            </a:r>
            <a:r>
              <a:rPr lang="en-US" sz="2000" b="1" i="1" dirty="0" err="1" smtClean="0"/>
              <a:t>c,h,d</a:t>
            </a:r>
            <a:r>
              <a:rPr lang="en-US" sz="2000" b="1" i="1" dirty="0" smtClean="0"/>
              <a:t>)*</a:t>
            </a:r>
            <a:r>
              <a:rPr lang="en-US" sz="2000" b="1" i="1" dirty="0" err="1" smtClean="0"/>
              <a:t>xhouh_s</a:t>
            </a:r>
            <a:r>
              <a:rPr lang="en-US" sz="2000" b="1" i="1" dirty="0" smtClean="0"/>
              <a:t>(</a:t>
            </a:r>
            <a:r>
              <a:rPr lang="en-US" sz="2000" b="1" i="1" dirty="0" err="1" smtClean="0"/>
              <a:t>c,h,d</a:t>
            </a:r>
            <a:r>
              <a:rPr lang="en-US" sz="2000" b="1" i="1" dirty="0" smtClean="0"/>
              <a:t>)};</a:t>
            </a:r>
            <a:br>
              <a:rPr lang="en-US" sz="2000" b="1" i="1" dirty="0" smtClean="0"/>
            </a:br>
            <a:endParaRPr 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4"/>
          <p:cNvPicPr>
            <a:picLocks noChangeAspect="1" noChangeArrowheads="1"/>
          </p:cNvPicPr>
          <p:nvPr/>
        </p:nvPicPr>
        <p:blipFill>
          <a:blip r:embed="rId2" cstate="print"/>
          <a:srcRect/>
          <a:stretch>
            <a:fillRect/>
          </a:stretch>
        </p:blipFill>
        <p:spPr bwMode="auto">
          <a:xfrm>
            <a:off x="360215" y="4419600"/>
            <a:ext cx="3238500" cy="1076325"/>
          </a:xfrm>
          <a:prstGeom prst="rect">
            <a:avLst/>
          </a:prstGeom>
          <a:noFill/>
          <a:ln w="9525">
            <a:noFill/>
            <a:miter lim="800000"/>
            <a:headEnd/>
            <a:tailEnd/>
          </a:ln>
          <a:effectLst/>
        </p:spPr>
      </p:pic>
      <p:sp>
        <p:nvSpPr>
          <p:cNvPr id="2" name="Title 1"/>
          <p:cNvSpPr>
            <a:spLocks noGrp="1"/>
          </p:cNvSpPr>
          <p:nvPr>
            <p:ph type="title"/>
          </p:nvPr>
        </p:nvSpPr>
        <p:spPr>
          <a:xfrm>
            <a:off x="914400" y="-103632"/>
            <a:ext cx="8229600" cy="1399032"/>
          </a:xfrm>
        </p:spPr>
        <p:txBody>
          <a:bodyPr>
            <a:normAutofit/>
          </a:bodyPr>
          <a:lstStyle/>
          <a:p>
            <a:pPr algn="l"/>
            <a:r>
              <a:rPr lang="en-US" sz="3600" dirty="0" smtClean="0"/>
              <a:t>Linear Expenditure </a:t>
            </a:r>
            <a:br>
              <a:rPr lang="en-US" sz="3600" dirty="0" smtClean="0"/>
            </a:br>
            <a:r>
              <a:rPr lang="en-US" sz="3600" dirty="0" smtClean="0"/>
              <a:t>Demand System</a:t>
            </a:r>
            <a:endParaRPr lang="en-US" sz="3600" dirty="0"/>
          </a:p>
        </p:txBody>
      </p:sp>
      <p:sp>
        <p:nvSpPr>
          <p:cNvPr id="4" name="TextBox 3"/>
          <p:cNvSpPr txBox="1"/>
          <p:nvPr/>
        </p:nvSpPr>
        <p:spPr>
          <a:xfrm>
            <a:off x="1219200" y="1219200"/>
            <a:ext cx="4191000" cy="369332"/>
          </a:xfrm>
          <a:prstGeom prst="rect">
            <a:avLst/>
          </a:prstGeom>
          <a:noFill/>
        </p:spPr>
        <p:txBody>
          <a:bodyPr wrap="square" rtlCol="0">
            <a:spAutoFit/>
          </a:bodyPr>
          <a:lstStyle/>
          <a:p>
            <a:r>
              <a:rPr lang="en-US" dirty="0" smtClean="0"/>
              <a:t>Household h</a:t>
            </a:r>
            <a:endParaRPr lang="en-US" dirty="0"/>
          </a:p>
        </p:txBody>
      </p:sp>
      <p:sp>
        <p:nvSpPr>
          <p:cNvPr id="6" name="TextBox 5"/>
          <p:cNvSpPr txBox="1"/>
          <p:nvPr/>
        </p:nvSpPr>
        <p:spPr>
          <a:xfrm>
            <a:off x="1219200" y="2450068"/>
            <a:ext cx="6934200" cy="369332"/>
          </a:xfrm>
          <a:prstGeom prst="rect">
            <a:avLst/>
          </a:prstGeom>
          <a:noFill/>
        </p:spPr>
        <p:txBody>
          <a:bodyPr wrap="square" rtlCol="0">
            <a:spAutoFit/>
          </a:bodyPr>
          <a:lstStyle/>
          <a:p>
            <a:r>
              <a:rPr lang="en-US" dirty="0" smtClean="0"/>
              <a:t>Producing a Linear Expenditure Demand System (LES)</a:t>
            </a:r>
            <a:endParaRPr lang="en-US" dirty="0"/>
          </a:p>
        </p:txBody>
      </p:sp>
      <p:sp>
        <p:nvSpPr>
          <p:cNvPr id="8" name="TextBox 7"/>
          <p:cNvSpPr txBox="1"/>
          <p:nvPr/>
        </p:nvSpPr>
        <p:spPr>
          <a:xfrm>
            <a:off x="381000" y="3974068"/>
            <a:ext cx="6934200" cy="369332"/>
          </a:xfrm>
          <a:prstGeom prst="rect">
            <a:avLst/>
          </a:prstGeom>
          <a:noFill/>
        </p:spPr>
        <p:txBody>
          <a:bodyPr wrap="square" rtlCol="0">
            <a:spAutoFit/>
          </a:bodyPr>
          <a:lstStyle/>
          <a:p>
            <a:r>
              <a:rPr lang="en-US" dirty="0" smtClean="0"/>
              <a:t>It can be shown that</a:t>
            </a:r>
            <a:endParaRPr lang="en-US" dirty="0"/>
          </a:p>
        </p:txBody>
      </p:sp>
      <p:sp>
        <p:nvSpPr>
          <p:cNvPr id="10" name="TextBox 9"/>
          <p:cNvSpPr txBox="1"/>
          <p:nvPr/>
        </p:nvSpPr>
        <p:spPr>
          <a:xfrm>
            <a:off x="3733800" y="4277380"/>
            <a:ext cx="1371600" cy="523220"/>
          </a:xfrm>
          <a:prstGeom prst="rect">
            <a:avLst/>
          </a:prstGeom>
          <a:noFill/>
        </p:spPr>
        <p:txBody>
          <a:bodyPr wrap="square" rtlCol="0">
            <a:spAutoFit/>
          </a:bodyPr>
          <a:lstStyle/>
          <a:p>
            <a:r>
              <a:rPr lang="en-US" sz="1400" dirty="0" smtClean="0"/>
              <a:t>Budget share (calibrated)</a:t>
            </a:r>
            <a:endParaRPr lang="en-US" sz="1400" dirty="0"/>
          </a:p>
        </p:txBody>
      </p:sp>
      <p:cxnSp>
        <p:nvCxnSpPr>
          <p:cNvPr id="12" name="Straight Arrow Connector 11"/>
          <p:cNvCxnSpPr>
            <a:stCxn id="10" idx="1"/>
          </p:cNvCxnSpPr>
          <p:nvPr/>
        </p:nvCxnSpPr>
        <p:spPr>
          <a:xfrm rot="10800000" flipV="1">
            <a:off x="3048000" y="4538990"/>
            <a:ext cx="685800" cy="185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1000" y="5486400"/>
            <a:ext cx="3352800" cy="523220"/>
          </a:xfrm>
          <a:prstGeom prst="rect">
            <a:avLst/>
          </a:prstGeom>
          <a:noFill/>
        </p:spPr>
        <p:txBody>
          <a:bodyPr wrap="square" rtlCol="0">
            <a:spAutoFit/>
          </a:bodyPr>
          <a:lstStyle/>
          <a:p>
            <a:r>
              <a:rPr lang="en-US" sz="1400" dirty="0" smtClean="0"/>
              <a:t>Expenditure elasticity (parameters were econometrically estimated using SUSENAS)</a:t>
            </a:r>
            <a:endParaRPr lang="en-US" sz="1400" dirty="0"/>
          </a:p>
        </p:txBody>
      </p:sp>
      <p:cxnSp>
        <p:nvCxnSpPr>
          <p:cNvPr id="16" name="Straight Arrow Connector 15"/>
          <p:cNvCxnSpPr/>
          <p:nvPr/>
        </p:nvCxnSpPr>
        <p:spPr>
          <a:xfrm rot="5400000" flipH="1" flipV="1">
            <a:off x="1524000" y="4953000"/>
            <a:ext cx="609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733800" y="4876800"/>
            <a:ext cx="1371600" cy="1384995"/>
          </a:xfrm>
          <a:prstGeom prst="rect">
            <a:avLst/>
          </a:prstGeom>
          <a:noFill/>
        </p:spPr>
        <p:txBody>
          <a:bodyPr wrap="square" rtlCol="0">
            <a:spAutoFit/>
          </a:bodyPr>
          <a:lstStyle/>
          <a:p>
            <a:r>
              <a:rPr lang="en-US" sz="1400" dirty="0" smtClean="0"/>
              <a:t>Frisch parameter (estimated based on </a:t>
            </a:r>
            <a:r>
              <a:rPr lang="en-US" sz="1400" dirty="0" err="1" smtClean="0"/>
              <a:t>Lluch</a:t>
            </a:r>
            <a:r>
              <a:rPr lang="en-US" sz="1400" dirty="0" smtClean="0"/>
              <a:t> et al, 1977)</a:t>
            </a:r>
            <a:endParaRPr lang="en-US" sz="1400" dirty="0"/>
          </a:p>
        </p:txBody>
      </p:sp>
      <p:cxnSp>
        <p:nvCxnSpPr>
          <p:cNvPr id="19" name="Straight Arrow Connector 18"/>
          <p:cNvCxnSpPr/>
          <p:nvPr/>
        </p:nvCxnSpPr>
        <p:spPr>
          <a:xfrm rot="10800000">
            <a:off x="2743200" y="4800600"/>
            <a:ext cx="1066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029200" y="3581400"/>
            <a:ext cx="3657600" cy="2308324"/>
          </a:xfrm>
          <a:prstGeom prst="rect">
            <a:avLst/>
          </a:prstGeom>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u="sng" dirty="0" smtClean="0"/>
              <a:t>Feature of LES:</a:t>
            </a:r>
          </a:p>
          <a:p>
            <a:r>
              <a:rPr lang="en-US" dirty="0" smtClean="0"/>
              <a:t>Income elasticity, own-price elasticity, and cross-price elasticity are </a:t>
            </a:r>
            <a:r>
              <a:rPr lang="en-US" dirty="0" err="1" smtClean="0"/>
              <a:t>hh</a:t>
            </a:r>
            <a:r>
              <a:rPr lang="en-US" dirty="0" smtClean="0"/>
              <a:t> specific, not necessarily unitary, and non-zero. Satisfies theoretical constraints like </a:t>
            </a:r>
            <a:r>
              <a:rPr lang="en-US" dirty="0" err="1" smtClean="0"/>
              <a:t>engel</a:t>
            </a:r>
            <a:r>
              <a:rPr lang="en-US" dirty="0" smtClean="0"/>
              <a:t> aggregation, etc.</a:t>
            </a:r>
            <a:endParaRPr lang="en-US" dirty="0"/>
          </a:p>
        </p:txBody>
      </p:sp>
      <p:pic>
        <p:nvPicPr>
          <p:cNvPr id="25602" name="Picture 2"/>
          <p:cNvPicPr>
            <a:picLocks noChangeAspect="1" noChangeArrowheads="1"/>
          </p:cNvPicPr>
          <p:nvPr/>
        </p:nvPicPr>
        <p:blipFill>
          <a:blip r:embed="rId3" cstate="print"/>
          <a:srcRect/>
          <a:stretch>
            <a:fillRect/>
          </a:stretch>
        </p:blipFill>
        <p:spPr bwMode="auto">
          <a:xfrm>
            <a:off x="1219200" y="1600200"/>
            <a:ext cx="5695950" cy="790575"/>
          </a:xfrm>
          <a:prstGeom prst="rect">
            <a:avLst/>
          </a:prstGeom>
          <a:noFill/>
          <a:ln w="9525">
            <a:noFill/>
            <a:miter lim="800000"/>
            <a:headEnd/>
            <a:tailEnd/>
          </a:ln>
          <a:effectLst/>
        </p:spPr>
      </p:pic>
      <p:pic>
        <p:nvPicPr>
          <p:cNvPr id="25603" name="Picture 3"/>
          <p:cNvPicPr>
            <a:picLocks noChangeAspect="1" noChangeArrowheads="1"/>
          </p:cNvPicPr>
          <p:nvPr/>
        </p:nvPicPr>
        <p:blipFill>
          <a:blip r:embed="rId4" cstate="print"/>
          <a:srcRect/>
          <a:stretch>
            <a:fillRect/>
          </a:stretch>
        </p:blipFill>
        <p:spPr bwMode="auto">
          <a:xfrm>
            <a:off x="304800" y="3048000"/>
            <a:ext cx="4581525" cy="7905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1399032"/>
          </a:xfrm>
        </p:spPr>
        <p:txBody>
          <a:bodyPr>
            <a:normAutofit/>
          </a:bodyPr>
          <a:lstStyle/>
          <a:p>
            <a:r>
              <a:rPr lang="en-US" sz="3600" dirty="0" smtClean="0"/>
              <a:t>Linear Expenditure Demand System</a:t>
            </a:r>
            <a:endParaRPr lang="en-US" sz="3600" dirty="0"/>
          </a:p>
        </p:txBody>
      </p:sp>
      <p:sp>
        <p:nvSpPr>
          <p:cNvPr id="6" name="Rectangle 5"/>
          <p:cNvSpPr/>
          <p:nvPr/>
        </p:nvSpPr>
        <p:spPr>
          <a:xfrm>
            <a:off x="1066800" y="1143000"/>
            <a:ext cx="7467600" cy="5355312"/>
          </a:xfrm>
          <a:prstGeom prst="rect">
            <a:avLst/>
          </a:prstGeom>
        </p:spPr>
        <p:txBody>
          <a:bodyPr wrap="square">
            <a:spAutoFit/>
          </a:bodyPr>
          <a:lstStyle/>
          <a:p>
            <a:r>
              <a:rPr lang="en-US" dirty="0" smtClean="0"/>
              <a:t> </a:t>
            </a:r>
            <a:r>
              <a:rPr lang="en-US" dirty="0" err="1" smtClean="0"/>
              <a:t>E_xsub</a:t>
            </a:r>
            <a:r>
              <a:rPr lang="en-US" dirty="0" smtClean="0"/>
              <a:t> </a:t>
            </a:r>
            <a:r>
              <a:rPr lang="en-US" i="1" dirty="0" smtClean="0"/>
              <a:t># Subsistence demand for composite commodities #</a:t>
            </a:r>
            <a:br>
              <a:rPr lang="en-US" i="1" dirty="0" smtClean="0"/>
            </a:br>
            <a:r>
              <a:rPr lang="en-US" i="1" dirty="0" smtClean="0"/>
              <a:t>  (</a:t>
            </a:r>
            <a:r>
              <a:rPr lang="en-US" b="1" i="1" dirty="0" err="1" smtClean="0"/>
              <a:t>all,c,COM</a:t>
            </a:r>
            <a:r>
              <a:rPr lang="en-US" b="1" i="1" dirty="0" smtClean="0"/>
              <a:t>)(</a:t>
            </a:r>
            <a:r>
              <a:rPr lang="en-US" b="1" i="1" dirty="0" err="1" smtClean="0"/>
              <a:t>all,h,HOU</a:t>
            </a:r>
            <a:r>
              <a:rPr lang="en-US" b="1" i="1" dirty="0" smtClean="0"/>
              <a:t>)(</a:t>
            </a:r>
            <a:r>
              <a:rPr lang="en-US" b="1" i="1" dirty="0" err="1" smtClean="0"/>
              <a:t>all,d,DST</a:t>
            </a:r>
            <a:r>
              <a:rPr lang="en-US" b="1" i="1" dirty="0" smtClean="0"/>
              <a:t>) </a:t>
            </a:r>
            <a:r>
              <a:rPr lang="en-US" b="1" i="1" dirty="0" err="1" smtClean="0"/>
              <a:t>xsub</a:t>
            </a:r>
            <a:r>
              <a:rPr lang="en-US" b="1" i="1" dirty="0" smtClean="0"/>
              <a:t>(</a:t>
            </a:r>
            <a:r>
              <a:rPr lang="en-US" b="1" i="1" dirty="0" err="1" smtClean="0"/>
              <a:t>c,h,d</a:t>
            </a:r>
            <a:r>
              <a:rPr lang="en-US" b="1" i="1" dirty="0" smtClean="0"/>
              <a:t>) = </a:t>
            </a:r>
            <a:r>
              <a:rPr lang="en-US" b="1" i="1" dirty="0" err="1" smtClean="0"/>
              <a:t>nhouh</a:t>
            </a:r>
            <a:r>
              <a:rPr lang="en-US" b="1" i="1" dirty="0" smtClean="0"/>
              <a:t>(</a:t>
            </a:r>
            <a:r>
              <a:rPr lang="en-US" b="1" i="1" dirty="0" err="1" smtClean="0"/>
              <a:t>h,d</a:t>
            </a:r>
            <a:r>
              <a:rPr lang="en-US" b="1" i="1" dirty="0" smtClean="0"/>
              <a:t>) + </a:t>
            </a:r>
            <a:r>
              <a:rPr lang="en-US" b="1" i="1" dirty="0" err="1" smtClean="0"/>
              <a:t>asub</a:t>
            </a:r>
            <a:r>
              <a:rPr lang="en-US" b="1" i="1" dirty="0" smtClean="0"/>
              <a:t>(</a:t>
            </a:r>
            <a:r>
              <a:rPr lang="en-US" b="1" i="1" dirty="0" err="1" smtClean="0"/>
              <a:t>c,h,d</a:t>
            </a:r>
            <a:r>
              <a:rPr lang="en-US" b="1" i="1" dirty="0" smtClean="0"/>
              <a:t>);</a:t>
            </a:r>
            <a:br>
              <a:rPr lang="en-US" b="1" i="1" dirty="0" smtClean="0"/>
            </a:br>
            <a:r>
              <a:rPr lang="en-US" b="1" i="1" dirty="0" smtClean="0"/>
              <a:t/>
            </a:r>
            <a:br>
              <a:rPr lang="en-US" b="1" i="1" dirty="0" smtClean="0"/>
            </a:br>
            <a:r>
              <a:rPr lang="en-US" b="1" i="1" dirty="0" smtClean="0"/>
              <a:t> </a:t>
            </a:r>
            <a:r>
              <a:rPr lang="en-US" b="1" i="1" dirty="0" err="1" smtClean="0"/>
              <a:t>E_xlux</a:t>
            </a:r>
            <a:r>
              <a:rPr lang="en-US" b="1" i="1" dirty="0" smtClean="0"/>
              <a:t> # Luxury demand for composite commodities #</a:t>
            </a:r>
            <a:br>
              <a:rPr lang="en-US" b="1" i="1" dirty="0" smtClean="0"/>
            </a:br>
            <a:r>
              <a:rPr lang="en-US" b="1" i="1" dirty="0" smtClean="0"/>
              <a:t>  (</a:t>
            </a:r>
            <a:r>
              <a:rPr lang="en-US" b="1" i="1" dirty="0" err="1" smtClean="0"/>
              <a:t>all,c,COM</a:t>
            </a:r>
            <a:r>
              <a:rPr lang="en-US" b="1" i="1" dirty="0" smtClean="0"/>
              <a:t>)(</a:t>
            </a:r>
            <a:r>
              <a:rPr lang="en-US" b="1" i="1" dirty="0" err="1" smtClean="0"/>
              <a:t>all,h,HOU</a:t>
            </a:r>
            <a:r>
              <a:rPr lang="en-US" b="1" i="1" dirty="0" smtClean="0"/>
              <a:t>)(</a:t>
            </a:r>
            <a:r>
              <a:rPr lang="en-US" b="1" i="1" dirty="0" err="1" smtClean="0"/>
              <a:t>all,d,DST</a:t>
            </a:r>
            <a:r>
              <a:rPr lang="en-US" b="1" i="1" dirty="0" smtClean="0"/>
              <a:t>)</a:t>
            </a:r>
            <a:br>
              <a:rPr lang="en-US" b="1" i="1" dirty="0" smtClean="0"/>
            </a:br>
            <a:r>
              <a:rPr lang="en-US" b="1" i="1" dirty="0" smtClean="0"/>
              <a:t>   </a:t>
            </a:r>
            <a:r>
              <a:rPr lang="en-US" b="1" i="1" dirty="0" err="1" smtClean="0"/>
              <a:t>xlux</a:t>
            </a:r>
            <a:r>
              <a:rPr lang="en-US" b="1" i="1" dirty="0" smtClean="0"/>
              <a:t>(</a:t>
            </a:r>
            <a:r>
              <a:rPr lang="en-US" b="1" i="1" dirty="0" err="1" smtClean="0"/>
              <a:t>c,h,d</a:t>
            </a:r>
            <a:r>
              <a:rPr lang="en-US" b="1" i="1" dirty="0" smtClean="0"/>
              <a:t>) + </a:t>
            </a:r>
            <a:r>
              <a:rPr lang="en-US" b="1" i="1" dirty="0" err="1" smtClean="0"/>
              <a:t>phou</a:t>
            </a:r>
            <a:r>
              <a:rPr lang="en-US" b="1" i="1" dirty="0" smtClean="0"/>
              <a:t>(</a:t>
            </a:r>
            <a:r>
              <a:rPr lang="en-US" b="1" i="1" dirty="0" err="1" smtClean="0"/>
              <a:t>c,d</a:t>
            </a:r>
            <a:r>
              <a:rPr lang="en-US" b="1" i="1" dirty="0" smtClean="0"/>
              <a:t>) = </a:t>
            </a:r>
            <a:r>
              <a:rPr lang="en-US" b="1" i="1" dirty="0" err="1" smtClean="0"/>
              <a:t>wlux</a:t>
            </a:r>
            <a:r>
              <a:rPr lang="en-US" b="1" i="1" dirty="0" smtClean="0"/>
              <a:t>(</a:t>
            </a:r>
            <a:r>
              <a:rPr lang="en-US" b="1" i="1" dirty="0" err="1" smtClean="0"/>
              <a:t>h,d</a:t>
            </a:r>
            <a:r>
              <a:rPr lang="en-US" b="1" i="1" dirty="0" smtClean="0"/>
              <a:t>) + </a:t>
            </a:r>
            <a:r>
              <a:rPr lang="en-US" b="1" i="1" dirty="0" err="1" smtClean="0"/>
              <a:t>alux</a:t>
            </a:r>
            <a:r>
              <a:rPr lang="en-US" b="1" i="1" dirty="0" smtClean="0"/>
              <a:t>(</a:t>
            </a:r>
            <a:r>
              <a:rPr lang="en-US" b="1" i="1" dirty="0" err="1" smtClean="0"/>
              <a:t>c,h,d</a:t>
            </a:r>
            <a:r>
              <a:rPr lang="en-US" b="1" i="1" dirty="0" smtClean="0"/>
              <a:t>);</a:t>
            </a:r>
            <a:br>
              <a:rPr lang="en-US" b="1" i="1" dirty="0" smtClean="0"/>
            </a:br>
            <a:r>
              <a:rPr lang="en-US" b="1" i="1" dirty="0" smtClean="0"/>
              <a:t/>
            </a:r>
            <a:br>
              <a:rPr lang="en-US" b="1" i="1" dirty="0" smtClean="0"/>
            </a:br>
            <a:r>
              <a:rPr lang="en-US" b="1" i="1" dirty="0" smtClean="0"/>
              <a:t> </a:t>
            </a:r>
            <a:r>
              <a:rPr lang="en-US" b="1" i="1" dirty="0" err="1" smtClean="0"/>
              <a:t>E_xhouh_s</a:t>
            </a:r>
            <a:r>
              <a:rPr lang="en-US" b="1" i="1" dirty="0" smtClean="0"/>
              <a:t>  # Total household demand for composite commodities #</a:t>
            </a:r>
            <a:br>
              <a:rPr lang="en-US" b="1" i="1" dirty="0" smtClean="0"/>
            </a:br>
            <a:r>
              <a:rPr lang="en-US" b="1" i="1" dirty="0" smtClean="0"/>
              <a:t>  (</a:t>
            </a:r>
            <a:r>
              <a:rPr lang="en-US" b="1" i="1" dirty="0" err="1" smtClean="0"/>
              <a:t>all,c,COM</a:t>
            </a:r>
            <a:r>
              <a:rPr lang="en-US" b="1" i="1" dirty="0" smtClean="0"/>
              <a:t>)(</a:t>
            </a:r>
            <a:r>
              <a:rPr lang="en-US" b="1" i="1" dirty="0" err="1" smtClean="0"/>
              <a:t>all,h,HOU</a:t>
            </a:r>
            <a:r>
              <a:rPr lang="en-US" b="1" i="1" dirty="0" smtClean="0"/>
              <a:t>)(</a:t>
            </a:r>
            <a:r>
              <a:rPr lang="en-US" b="1" i="1" dirty="0" err="1" smtClean="0"/>
              <a:t>all,d,DST</a:t>
            </a:r>
            <a:r>
              <a:rPr lang="en-US" b="1" i="1" dirty="0" smtClean="0"/>
              <a:t>)</a:t>
            </a:r>
            <a:br>
              <a:rPr lang="en-US" b="1" i="1" dirty="0" smtClean="0"/>
            </a:br>
            <a:r>
              <a:rPr lang="en-US" b="1" i="1" dirty="0" smtClean="0"/>
              <a:t>   </a:t>
            </a:r>
            <a:r>
              <a:rPr lang="en-US" b="1" i="1" dirty="0" err="1" smtClean="0"/>
              <a:t>xhouh_s</a:t>
            </a:r>
            <a:r>
              <a:rPr lang="en-US" b="1" i="1" dirty="0" smtClean="0"/>
              <a:t>(</a:t>
            </a:r>
            <a:r>
              <a:rPr lang="en-US" b="1" i="1" dirty="0" err="1" smtClean="0"/>
              <a:t>c,h,d</a:t>
            </a:r>
            <a:r>
              <a:rPr lang="en-US" b="1" i="1" dirty="0" smtClean="0"/>
              <a:t>) = BLUX(</a:t>
            </a:r>
            <a:r>
              <a:rPr lang="en-US" b="1" i="1" dirty="0" err="1" smtClean="0"/>
              <a:t>c,h,d</a:t>
            </a:r>
            <a:r>
              <a:rPr lang="en-US" b="1" i="1" dirty="0" smtClean="0"/>
              <a:t>)*</a:t>
            </a:r>
            <a:r>
              <a:rPr lang="en-US" b="1" i="1" dirty="0" err="1" smtClean="0"/>
              <a:t>xlux</a:t>
            </a:r>
            <a:r>
              <a:rPr lang="en-US" b="1" i="1" dirty="0" smtClean="0"/>
              <a:t>(</a:t>
            </a:r>
            <a:r>
              <a:rPr lang="en-US" b="1" i="1" dirty="0" err="1" smtClean="0"/>
              <a:t>c,h,d</a:t>
            </a:r>
            <a:r>
              <a:rPr lang="en-US" b="1" i="1" dirty="0" smtClean="0"/>
              <a:t>) + [1-BLUX(</a:t>
            </a:r>
            <a:r>
              <a:rPr lang="en-US" b="1" i="1" dirty="0" err="1" smtClean="0"/>
              <a:t>c,h,d</a:t>
            </a:r>
            <a:r>
              <a:rPr lang="en-US" b="1" i="1" dirty="0" smtClean="0"/>
              <a:t>)]*</a:t>
            </a:r>
            <a:r>
              <a:rPr lang="en-US" b="1" i="1" dirty="0" err="1" smtClean="0"/>
              <a:t>xsub</a:t>
            </a:r>
            <a:r>
              <a:rPr lang="en-US" b="1" i="1" dirty="0" smtClean="0"/>
              <a:t>(</a:t>
            </a:r>
            <a:r>
              <a:rPr lang="en-US" b="1" i="1" dirty="0" err="1" smtClean="0"/>
              <a:t>c,h,d</a:t>
            </a:r>
            <a:r>
              <a:rPr lang="en-US" b="1" i="1" dirty="0" smtClean="0"/>
              <a:t>);</a:t>
            </a:r>
            <a:br>
              <a:rPr lang="en-US" b="1" i="1" dirty="0" smtClean="0"/>
            </a:br>
            <a:r>
              <a:rPr lang="en-US" b="1" i="1" dirty="0" smtClean="0"/>
              <a:t/>
            </a:r>
            <a:br>
              <a:rPr lang="en-US" b="1" i="1" dirty="0" smtClean="0"/>
            </a:br>
            <a:r>
              <a:rPr lang="en-US" b="1" i="1" dirty="0" smtClean="0"/>
              <a:t> </a:t>
            </a:r>
            <a:r>
              <a:rPr lang="en-US" b="1" i="1" dirty="0" err="1" smtClean="0"/>
              <a:t>E_alux</a:t>
            </a:r>
            <a:r>
              <a:rPr lang="en-US" b="1" i="1" dirty="0" smtClean="0"/>
              <a:t> # Default setting for luxury taste shifter #</a:t>
            </a:r>
            <a:br>
              <a:rPr lang="en-US" b="1" i="1" dirty="0" smtClean="0"/>
            </a:br>
            <a:r>
              <a:rPr lang="en-US" b="1" i="1" dirty="0" smtClean="0"/>
              <a:t>  (</a:t>
            </a:r>
            <a:r>
              <a:rPr lang="en-US" b="1" i="1" dirty="0" err="1" smtClean="0"/>
              <a:t>all,c,COM</a:t>
            </a:r>
            <a:r>
              <a:rPr lang="en-US" b="1" i="1" dirty="0" smtClean="0"/>
              <a:t>)(</a:t>
            </a:r>
            <a:r>
              <a:rPr lang="en-US" b="1" i="1" dirty="0" err="1" smtClean="0"/>
              <a:t>all,h,HOU</a:t>
            </a:r>
            <a:r>
              <a:rPr lang="en-US" b="1" i="1" dirty="0" smtClean="0"/>
              <a:t>)(</a:t>
            </a:r>
            <a:r>
              <a:rPr lang="en-US" b="1" i="1" dirty="0" err="1" smtClean="0"/>
              <a:t>all,d,DST</a:t>
            </a:r>
            <a:r>
              <a:rPr lang="en-US" b="1" i="1" dirty="0" smtClean="0"/>
              <a:t>)</a:t>
            </a:r>
            <a:br>
              <a:rPr lang="en-US" b="1" i="1" dirty="0" smtClean="0"/>
            </a:br>
            <a:r>
              <a:rPr lang="en-US" b="1" i="1" dirty="0" smtClean="0"/>
              <a:t>   </a:t>
            </a:r>
            <a:r>
              <a:rPr lang="en-US" b="1" i="1" dirty="0" err="1" smtClean="0"/>
              <a:t>alux</a:t>
            </a:r>
            <a:r>
              <a:rPr lang="en-US" b="1" i="1" dirty="0" smtClean="0"/>
              <a:t>(</a:t>
            </a:r>
            <a:r>
              <a:rPr lang="en-US" b="1" i="1" dirty="0" err="1" smtClean="0"/>
              <a:t>c,h,d</a:t>
            </a:r>
            <a:r>
              <a:rPr lang="en-US" b="1" i="1" dirty="0" smtClean="0"/>
              <a:t>) = </a:t>
            </a:r>
            <a:r>
              <a:rPr lang="en-US" b="1" i="1" dirty="0" err="1" smtClean="0"/>
              <a:t>asub</a:t>
            </a:r>
            <a:r>
              <a:rPr lang="en-US" b="1" i="1" dirty="0" smtClean="0"/>
              <a:t>(</a:t>
            </a:r>
            <a:r>
              <a:rPr lang="en-US" b="1" i="1" dirty="0" err="1" smtClean="0"/>
              <a:t>c,h,d</a:t>
            </a:r>
            <a:r>
              <a:rPr lang="en-US" b="1" i="1" dirty="0" smtClean="0"/>
              <a:t>) - sum{</a:t>
            </a:r>
            <a:r>
              <a:rPr lang="en-US" b="1" i="1" dirty="0" err="1" smtClean="0"/>
              <a:t>k,COM</a:t>
            </a:r>
            <a:r>
              <a:rPr lang="en-US" b="1" i="1" dirty="0" smtClean="0"/>
              <a:t>, SLUX(</a:t>
            </a:r>
            <a:r>
              <a:rPr lang="en-US" b="1" i="1" dirty="0" err="1" smtClean="0"/>
              <a:t>k,h,d</a:t>
            </a:r>
            <a:r>
              <a:rPr lang="en-US" b="1" i="1" dirty="0" smtClean="0"/>
              <a:t>)*</a:t>
            </a:r>
            <a:r>
              <a:rPr lang="en-US" b="1" i="1" dirty="0" err="1" smtClean="0"/>
              <a:t>asub</a:t>
            </a:r>
            <a:r>
              <a:rPr lang="en-US" b="1" i="1" dirty="0" smtClean="0"/>
              <a:t>(</a:t>
            </a:r>
            <a:r>
              <a:rPr lang="en-US" b="1" i="1" dirty="0" err="1" smtClean="0"/>
              <a:t>k,h,d</a:t>
            </a:r>
            <a:r>
              <a:rPr lang="en-US" b="1" i="1" dirty="0" smtClean="0"/>
              <a:t>)};</a:t>
            </a:r>
            <a:br>
              <a:rPr lang="en-US" b="1" i="1" dirty="0" smtClean="0"/>
            </a:br>
            <a:r>
              <a:rPr lang="en-US" b="1" i="1" dirty="0" smtClean="0"/>
              <a:t/>
            </a:r>
            <a:br>
              <a:rPr lang="en-US" b="1" i="1" dirty="0" smtClean="0"/>
            </a:br>
            <a:r>
              <a:rPr lang="en-US" b="1" i="1" dirty="0" smtClean="0"/>
              <a:t> </a:t>
            </a:r>
            <a:r>
              <a:rPr lang="en-US" b="1" i="1" dirty="0" err="1" smtClean="0"/>
              <a:t>E_asub</a:t>
            </a:r>
            <a:r>
              <a:rPr lang="en-US" b="1" i="1" dirty="0" smtClean="0"/>
              <a:t> # Default setting for subsistence taste shifter #</a:t>
            </a:r>
            <a:br>
              <a:rPr lang="en-US" b="1" i="1" dirty="0" smtClean="0"/>
            </a:br>
            <a:r>
              <a:rPr lang="en-US" b="1" i="1" dirty="0" smtClean="0"/>
              <a:t>  (</a:t>
            </a:r>
            <a:r>
              <a:rPr lang="en-US" b="1" i="1" dirty="0" err="1" smtClean="0"/>
              <a:t>all,c,COM</a:t>
            </a:r>
            <a:r>
              <a:rPr lang="en-US" b="1" i="1" dirty="0" smtClean="0"/>
              <a:t>)(</a:t>
            </a:r>
            <a:r>
              <a:rPr lang="en-US" b="1" i="1" dirty="0" err="1" smtClean="0"/>
              <a:t>all,h,HOU</a:t>
            </a:r>
            <a:r>
              <a:rPr lang="en-US" b="1" i="1" dirty="0" smtClean="0"/>
              <a:t>)(</a:t>
            </a:r>
            <a:r>
              <a:rPr lang="en-US" b="1" i="1" dirty="0" err="1" smtClean="0"/>
              <a:t>all,d,DST</a:t>
            </a:r>
            <a:r>
              <a:rPr lang="en-US" b="1" i="1" dirty="0" smtClean="0"/>
              <a:t>)</a:t>
            </a:r>
            <a:br>
              <a:rPr lang="en-US" b="1" i="1" dirty="0" smtClean="0"/>
            </a:br>
            <a:r>
              <a:rPr lang="en-US" b="1" i="1" dirty="0" smtClean="0"/>
              <a:t>   </a:t>
            </a:r>
            <a:r>
              <a:rPr lang="en-US" b="1" i="1" dirty="0" err="1" smtClean="0"/>
              <a:t>asub</a:t>
            </a:r>
            <a:r>
              <a:rPr lang="en-US" b="1" i="1" dirty="0" smtClean="0"/>
              <a:t>(</a:t>
            </a:r>
            <a:r>
              <a:rPr lang="en-US" b="1" i="1" dirty="0" err="1" smtClean="0"/>
              <a:t>c,h,d</a:t>
            </a:r>
            <a:r>
              <a:rPr lang="en-US" b="1" i="1" dirty="0" smtClean="0"/>
              <a:t>) = </a:t>
            </a:r>
            <a:r>
              <a:rPr lang="en-US" b="1" i="1" dirty="0" err="1" smtClean="0"/>
              <a:t>ahou_s</a:t>
            </a:r>
            <a:r>
              <a:rPr lang="en-US" b="1" i="1" dirty="0" smtClean="0"/>
              <a:t>(</a:t>
            </a:r>
            <a:r>
              <a:rPr lang="en-US" b="1" i="1" dirty="0" err="1" smtClean="0"/>
              <a:t>c,h,d</a:t>
            </a:r>
            <a:r>
              <a:rPr lang="en-US" b="1" i="1" dirty="0" smtClean="0"/>
              <a:t>) - sum{</a:t>
            </a:r>
            <a:r>
              <a:rPr lang="en-US" b="1" i="1" dirty="0" err="1" smtClean="0"/>
              <a:t>k,COM</a:t>
            </a:r>
            <a:r>
              <a:rPr lang="en-US" b="1" i="1" dirty="0" smtClean="0"/>
              <a:t>, BUDGSHR(</a:t>
            </a:r>
            <a:r>
              <a:rPr lang="en-US" b="1" i="1" dirty="0" err="1" smtClean="0"/>
              <a:t>k,h,d</a:t>
            </a:r>
            <a:r>
              <a:rPr lang="en-US" b="1" i="1" dirty="0" smtClean="0"/>
              <a:t>)*</a:t>
            </a:r>
            <a:r>
              <a:rPr lang="en-US" b="1" i="1" dirty="0" err="1" smtClean="0"/>
              <a:t>ahou_s</a:t>
            </a:r>
            <a:r>
              <a:rPr lang="en-US" b="1" i="1" dirty="0" smtClean="0"/>
              <a:t>(</a:t>
            </a:r>
            <a:r>
              <a:rPr lang="en-US" b="1" i="1" dirty="0" err="1" smtClean="0"/>
              <a:t>k,h,d</a:t>
            </a:r>
            <a:r>
              <a:rPr lang="en-US" b="1" i="1" dirty="0" smtClean="0"/>
              <a:t>)};</a:t>
            </a:r>
            <a:br>
              <a:rPr lang="en-US" b="1" i="1" dirty="0" smtClean="0"/>
            </a:b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users?</a:t>
            </a:r>
            <a:endParaRPr lang="en-US" dirty="0"/>
          </a:p>
        </p:txBody>
      </p:sp>
      <p:graphicFrame>
        <p:nvGraphicFramePr>
          <p:cNvPr id="24578" name="Object 2"/>
          <p:cNvGraphicFramePr>
            <a:graphicFrameLocks noChangeAspect="1"/>
          </p:cNvGraphicFramePr>
          <p:nvPr/>
        </p:nvGraphicFramePr>
        <p:xfrm>
          <a:off x="1322388" y="3352800"/>
          <a:ext cx="6516687" cy="1600200"/>
        </p:xfrm>
        <a:graphic>
          <a:graphicData uri="http://schemas.openxmlformats.org/presentationml/2006/ole">
            <p:oleObj spid="_x0000_s24579" name="Equation" r:id="rId3" imgW="1739900" imgH="431800" progId="Equation.3">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 Demand</a:t>
            </a:r>
            <a:endParaRPr lang="en-US" dirty="0"/>
          </a:p>
        </p:txBody>
      </p:sp>
      <p:sp>
        <p:nvSpPr>
          <p:cNvPr id="409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p:cNvSpPr/>
          <p:nvPr/>
        </p:nvSpPr>
        <p:spPr>
          <a:xfrm>
            <a:off x="1066800" y="2514600"/>
            <a:ext cx="7620000" cy="3108543"/>
          </a:xfrm>
          <a:prstGeom prst="rect">
            <a:avLst/>
          </a:prstGeom>
        </p:spPr>
        <p:txBody>
          <a:bodyPr wrap="square">
            <a:spAutoFit/>
          </a:bodyPr>
          <a:lstStyle/>
          <a:p>
            <a:r>
              <a:rPr lang="en-US" sz="2800" dirty="0" smtClean="0"/>
              <a:t>Equation </a:t>
            </a:r>
            <a:r>
              <a:rPr lang="en-US" sz="2800" dirty="0" err="1" smtClean="0"/>
              <a:t>E_xexp</a:t>
            </a:r>
            <a:r>
              <a:rPr lang="en-US" sz="2800" dirty="0" smtClean="0"/>
              <a:t> (</a:t>
            </a:r>
            <a:r>
              <a:rPr lang="en-US" sz="2800" dirty="0" err="1" smtClean="0"/>
              <a:t>all,c,COM</a:t>
            </a:r>
            <a:r>
              <a:rPr lang="en-US" sz="2800" dirty="0" smtClean="0"/>
              <a:t>)(</a:t>
            </a:r>
            <a:r>
              <a:rPr lang="en-US" sz="2800" dirty="0" err="1" smtClean="0"/>
              <a:t>all,s,SRC</a:t>
            </a:r>
            <a:r>
              <a:rPr lang="en-US" sz="2800" dirty="0" smtClean="0"/>
              <a:t>)(</a:t>
            </a:r>
            <a:r>
              <a:rPr lang="en-US" sz="2800" dirty="0" err="1" smtClean="0"/>
              <a:t>all,d,DST</a:t>
            </a:r>
            <a:r>
              <a:rPr lang="en-US" sz="2800" dirty="0" smtClean="0"/>
              <a:t>)</a:t>
            </a:r>
            <a:br>
              <a:rPr lang="en-US" sz="2800" dirty="0" smtClean="0"/>
            </a:br>
            <a:r>
              <a:rPr lang="en-US" sz="2800" dirty="0" smtClean="0"/>
              <a:t>   </a:t>
            </a:r>
            <a:r>
              <a:rPr lang="en-US" sz="2800" dirty="0" err="1" smtClean="0"/>
              <a:t>xexp</a:t>
            </a:r>
            <a:r>
              <a:rPr lang="en-US" sz="2800" dirty="0" smtClean="0"/>
              <a:t>(</a:t>
            </a:r>
            <a:r>
              <a:rPr lang="en-US" sz="2800" dirty="0" err="1" smtClean="0"/>
              <a:t>c,s,d</a:t>
            </a:r>
            <a:r>
              <a:rPr lang="en-US" sz="2800" dirty="0" smtClean="0"/>
              <a:t>) = </a:t>
            </a:r>
            <a:r>
              <a:rPr lang="en-US" sz="2800" dirty="0" err="1" smtClean="0"/>
              <a:t>fqexp</a:t>
            </a:r>
            <a:r>
              <a:rPr lang="en-US" sz="2800" dirty="0" smtClean="0"/>
              <a:t>(</a:t>
            </a:r>
            <a:r>
              <a:rPr lang="en-US" sz="2800" dirty="0" err="1" smtClean="0"/>
              <a:t>c,s</a:t>
            </a:r>
            <a:r>
              <a:rPr lang="en-US" sz="2800" dirty="0" smtClean="0"/>
              <a:t>) - EXP_ELAST(c)*[</a:t>
            </a:r>
            <a:r>
              <a:rPr lang="en-US" sz="2800" dirty="0" err="1" smtClean="0"/>
              <a:t>ppur</a:t>
            </a:r>
            <a:r>
              <a:rPr lang="en-US" sz="2800" dirty="0" smtClean="0"/>
              <a:t>(</a:t>
            </a:r>
            <a:r>
              <a:rPr lang="en-US" sz="2800" dirty="0" err="1" smtClean="0"/>
              <a:t>c,s,</a:t>
            </a:r>
            <a:r>
              <a:rPr lang="en-US" sz="2800" i="1" dirty="0" err="1" smtClean="0"/>
              <a:t>"Exp",d</a:t>
            </a:r>
            <a:r>
              <a:rPr lang="en-US" sz="2800" i="1" dirty="0" smtClean="0"/>
              <a:t>) -</a:t>
            </a:r>
            <a:r>
              <a:rPr lang="en-US" sz="2800" i="1" dirty="0" err="1" smtClean="0"/>
              <a:t>fpexp</a:t>
            </a:r>
            <a:r>
              <a:rPr lang="en-US" sz="2800" i="1" dirty="0" smtClean="0"/>
              <a:t>(</a:t>
            </a:r>
            <a:r>
              <a:rPr lang="en-US" sz="2800" i="1" dirty="0" err="1" smtClean="0"/>
              <a:t>c,s</a:t>
            </a:r>
            <a:r>
              <a:rPr lang="en-US" sz="2800" i="1" dirty="0" smtClean="0"/>
              <a:t>) -phi];</a:t>
            </a:r>
            <a:br>
              <a:rPr lang="en-US" sz="2800" i="1" dirty="0" smtClean="0"/>
            </a:br>
            <a:endParaRPr lang="en-US" sz="2800" i="1" dirty="0" smtClean="0"/>
          </a:p>
          <a:p>
            <a:r>
              <a:rPr lang="en-US" sz="2800" i="1" dirty="0" smtClean="0"/>
              <a:t>Equation </a:t>
            </a:r>
            <a:r>
              <a:rPr lang="en-US" sz="2800" i="1" dirty="0" err="1" smtClean="0"/>
              <a:t>E_xexp_s</a:t>
            </a:r>
            <a:r>
              <a:rPr lang="en-US" sz="2800" i="1" dirty="0" smtClean="0"/>
              <a:t> (</a:t>
            </a:r>
            <a:r>
              <a:rPr lang="en-US" sz="2800" i="1" dirty="0" err="1" smtClean="0"/>
              <a:t>all,c,COM</a:t>
            </a:r>
            <a:r>
              <a:rPr lang="en-US" sz="2800" i="1" dirty="0" smtClean="0"/>
              <a:t>)(</a:t>
            </a:r>
            <a:r>
              <a:rPr lang="en-US" sz="2800" i="1" dirty="0" err="1" smtClean="0"/>
              <a:t>all,d,DST</a:t>
            </a:r>
            <a:r>
              <a:rPr lang="en-US" sz="2800" i="1" dirty="0" smtClean="0"/>
              <a:t>)</a:t>
            </a:r>
            <a:br>
              <a:rPr lang="en-US" sz="2800" i="1" dirty="0" smtClean="0"/>
            </a:br>
            <a:r>
              <a:rPr lang="en-US" sz="2800" i="1" dirty="0" smtClean="0"/>
              <a:t>   </a:t>
            </a:r>
            <a:r>
              <a:rPr lang="en-US" sz="2800" i="1" dirty="0" err="1" smtClean="0"/>
              <a:t>xexp_s</a:t>
            </a:r>
            <a:r>
              <a:rPr lang="en-US" sz="2800" i="1" dirty="0" smtClean="0"/>
              <a:t>(</a:t>
            </a:r>
            <a:r>
              <a:rPr lang="en-US" sz="2800" i="1" dirty="0" err="1" smtClean="0"/>
              <a:t>c,d</a:t>
            </a:r>
            <a:r>
              <a:rPr lang="en-US" sz="2800" i="1" dirty="0" smtClean="0"/>
              <a:t>) = sum{</a:t>
            </a:r>
            <a:r>
              <a:rPr lang="en-US" sz="2800" i="1" dirty="0" err="1" smtClean="0"/>
              <a:t>s,SRC</a:t>
            </a:r>
            <a:r>
              <a:rPr lang="en-US" sz="2800" i="1" dirty="0" smtClean="0"/>
              <a:t>, SRCSHR(</a:t>
            </a:r>
            <a:r>
              <a:rPr lang="en-US" sz="2800" i="1" dirty="0" err="1" smtClean="0"/>
              <a:t>c,s,"exp",d</a:t>
            </a:r>
            <a:r>
              <a:rPr lang="en-US" sz="2800" i="1" dirty="0" smtClean="0"/>
              <a:t>)*</a:t>
            </a:r>
            <a:r>
              <a:rPr lang="en-US" sz="2800" i="1" dirty="0" err="1" smtClean="0"/>
              <a:t>xexp</a:t>
            </a:r>
            <a:r>
              <a:rPr lang="en-US" sz="2800" i="1" dirty="0" smtClean="0"/>
              <a:t>(</a:t>
            </a:r>
            <a:r>
              <a:rPr lang="en-US" sz="2800" i="1" dirty="0" err="1" smtClean="0"/>
              <a:t>c,s,d</a:t>
            </a:r>
            <a:r>
              <a:rPr lang="en-US" sz="2800" i="1" dirty="0" smtClean="0"/>
              <a:t>)};</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Autofit/>
          </a:bodyPr>
          <a:lstStyle/>
          <a:p>
            <a:r>
              <a:rPr lang="en-US" sz="8000" dirty="0" smtClean="0"/>
              <a:t>SUPPLY</a:t>
            </a:r>
            <a:endParaRPr lang="en-US" sz="8000" dirty="0"/>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7649" name="Object 1"/>
          <p:cNvGraphicFramePr>
            <a:graphicFrameLocks noChangeAspect="1"/>
          </p:cNvGraphicFramePr>
          <p:nvPr/>
        </p:nvGraphicFramePr>
        <p:xfrm>
          <a:off x="1204913" y="2590800"/>
          <a:ext cx="6667500" cy="1905000"/>
        </p:xfrm>
        <a:graphic>
          <a:graphicData uri="http://schemas.openxmlformats.org/presentationml/2006/ole">
            <p:oleObj spid="_x0000_s27650" name="Equation" r:id="rId3" imgW="748975" imgH="203112" progId="Equation.3">
              <p:embed/>
            </p:oleObj>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4800" dirty="0" smtClean="0"/>
              <a:t>Production function</a:t>
            </a:r>
            <a:br>
              <a:rPr lang="en-US" sz="4800" dirty="0" smtClean="0"/>
            </a:br>
            <a:r>
              <a:rPr lang="en-US" sz="4800" dirty="0" smtClean="0"/>
              <a:t>OUTPUT = F(INPUT)</a:t>
            </a:r>
            <a:endParaRPr lang="en-US" sz="4800" dirty="0"/>
          </a:p>
        </p:txBody>
      </p:sp>
      <p:sp>
        <p:nvSpPr>
          <p:cNvPr id="276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7649" name="Object 1"/>
          <p:cNvGraphicFramePr>
            <a:graphicFrameLocks noChangeAspect="1"/>
          </p:cNvGraphicFramePr>
          <p:nvPr/>
        </p:nvGraphicFramePr>
        <p:xfrm>
          <a:off x="992188" y="1828800"/>
          <a:ext cx="8145462" cy="450850"/>
        </p:xfrm>
        <a:graphic>
          <a:graphicData uri="http://schemas.openxmlformats.org/presentationml/2006/ole">
            <p:oleObj spid="_x0000_s28676" name="Equation" r:id="rId3" imgW="3873500" imgH="203200" progId="Equation.3">
              <p:embed/>
            </p:oleObj>
          </a:graphicData>
        </a:graphic>
      </p:graphicFrame>
      <p:sp>
        <p:nvSpPr>
          <p:cNvPr id="286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675" name="Object 3"/>
          <p:cNvGraphicFramePr>
            <a:graphicFrameLocks noChangeAspect="1"/>
          </p:cNvGraphicFramePr>
          <p:nvPr/>
        </p:nvGraphicFramePr>
        <p:xfrm>
          <a:off x="2362200" y="2895600"/>
          <a:ext cx="4648200" cy="3486150"/>
        </p:xfrm>
        <a:graphic>
          <a:graphicData uri="http://schemas.openxmlformats.org/presentationml/2006/ole">
            <p:oleObj spid="_x0000_s28677" r:id="rId4" imgW="5809298" imgH="4351973" progId="">
              <p:embed/>
            </p:oleObj>
          </a:graphicData>
        </a:graphic>
      </p:graphicFrame>
      <p:sp>
        <p:nvSpPr>
          <p:cNvPr id="7" name="Freeform 6"/>
          <p:cNvSpPr/>
          <p:nvPr/>
        </p:nvSpPr>
        <p:spPr>
          <a:xfrm>
            <a:off x="5562600" y="2493818"/>
            <a:ext cx="2031999" cy="4177146"/>
          </a:xfrm>
          <a:custGeom>
            <a:avLst/>
            <a:gdLst>
              <a:gd name="connsiteX0" fmla="*/ 6927 w 2031999"/>
              <a:gd name="connsiteY0" fmla="*/ 0 h 4177146"/>
              <a:gd name="connsiteX1" fmla="*/ 117764 w 2031999"/>
              <a:gd name="connsiteY1" fmla="*/ 762000 h 4177146"/>
              <a:gd name="connsiteX2" fmla="*/ 713509 w 2031999"/>
              <a:gd name="connsiteY2" fmla="*/ 1316182 h 4177146"/>
              <a:gd name="connsiteX3" fmla="*/ 1641764 w 2031999"/>
              <a:gd name="connsiteY3" fmla="*/ 2064327 h 4177146"/>
              <a:gd name="connsiteX4" fmla="*/ 2015836 w 2031999"/>
              <a:gd name="connsiteY4" fmla="*/ 3117273 h 4177146"/>
              <a:gd name="connsiteX5" fmla="*/ 1738745 w 2031999"/>
              <a:gd name="connsiteY5" fmla="*/ 3976255 h 4177146"/>
              <a:gd name="connsiteX6" fmla="*/ 962891 w 2031999"/>
              <a:gd name="connsiteY6" fmla="*/ 4156364 h 4177146"/>
              <a:gd name="connsiteX7" fmla="*/ 394855 w 2031999"/>
              <a:gd name="connsiteY7" fmla="*/ 4100946 h 4177146"/>
              <a:gd name="connsiteX8" fmla="*/ 256309 w 2031999"/>
              <a:gd name="connsiteY8" fmla="*/ 3823855 h 417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1999" h="4177146">
                <a:moveTo>
                  <a:pt x="6927" y="0"/>
                </a:moveTo>
                <a:cubicBezTo>
                  <a:pt x="3463" y="271318"/>
                  <a:pt x="0" y="542636"/>
                  <a:pt x="117764" y="762000"/>
                </a:cubicBezTo>
                <a:cubicBezTo>
                  <a:pt x="235528" y="981364"/>
                  <a:pt x="459509" y="1099127"/>
                  <a:pt x="713509" y="1316182"/>
                </a:cubicBezTo>
                <a:cubicBezTo>
                  <a:pt x="967509" y="1533237"/>
                  <a:pt x="1424710" y="1764145"/>
                  <a:pt x="1641764" y="2064327"/>
                </a:cubicBezTo>
                <a:cubicBezTo>
                  <a:pt x="1858818" y="2364509"/>
                  <a:pt x="1999673" y="2798618"/>
                  <a:pt x="2015836" y="3117273"/>
                </a:cubicBezTo>
                <a:cubicBezTo>
                  <a:pt x="2031999" y="3435928"/>
                  <a:pt x="1914236" y="3803073"/>
                  <a:pt x="1738745" y="3976255"/>
                </a:cubicBezTo>
                <a:cubicBezTo>
                  <a:pt x="1563254" y="4149437"/>
                  <a:pt x="1186873" y="4135582"/>
                  <a:pt x="962891" y="4156364"/>
                </a:cubicBezTo>
                <a:cubicBezTo>
                  <a:pt x="738909" y="4177146"/>
                  <a:pt x="512619" y="4156364"/>
                  <a:pt x="394855" y="4100946"/>
                </a:cubicBezTo>
                <a:cubicBezTo>
                  <a:pt x="277091" y="4045528"/>
                  <a:pt x="266700" y="3934691"/>
                  <a:pt x="256309" y="3823855"/>
                </a:cubicBezTo>
              </a:path>
            </a:pathLst>
          </a:custGeom>
          <a:ln>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Freeform 7"/>
          <p:cNvSpPr/>
          <p:nvPr/>
        </p:nvSpPr>
        <p:spPr>
          <a:xfrm>
            <a:off x="6982691" y="2452255"/>
            <a:ext cx="1417782" cy="3747654"/>
          </a:xfrm>
          <a:custGeom>
            <a:avLst/>
            <a:gdLst>
              <a:gd name="connsiteX0" fmla="*/ 415636 w 1417782"/>
              <a:gd name="connsiteY0" fmla="*/ 0 h 3747654"/>
              <a:gd name="connsiteX1" fmla="*/ 762000 w 1417782"/>
              <a:gd name="connsiteY1" fmla="*/ 831272 h 3747654"/>
              <a:gd name="connsiteX2" fmla="*/ 1302327 w 1417782"/>
              <a:gd name="connsiteY2" fmla="*/ 1662545 h 3747654"/>
              <a:gd name="connsiteX3" fmla="*/ 1371600 w 1417782"/>
              <a:gd name="connsiteY3" fmla="*/ 2424545 h 3747654"/>
              <a:gd name="connsiteX4" fmla="*/ 1371600 w 1417782"/>
              <a:gd name="connsiteY4" fmla="*/ 3255818 h 3747654"/>
              <a:gd name="connsiteX5" fmla="*/ 1094509 w 1417782"/>
              <a:gd name="connsiteY5" fmla="*/ 3671454 h 3747654"/>
              <a:gd name="connsiteX6" fmla="*/ 0 w 1417782"/>
              <a:gd name="connsiteY6" fmla="*/ 3713018 h 3747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7782" h="3747654">
                <a:moveTo>
                  <a:pt x="415636" y="0"/>
                </a:moveTo>
                <a:cubicBezTo>
                  <a:pt x="514927" y="277090"/>
                  <a:pt x="614218" y="554181"/>
                  <a:pt x="762000" y="831272"/>
                </a:cubicBezTo>
                <a:cubicBezTo>
                  <a:pt x="909782" y="1108363"/>
                  <a:pt x="1200727" y="1397000"/>
                  <a:pt x="1302327" y="1662545"/>
                </a:cubicBezTo>
                <a:cubicBezTo>
                  <a:pt x="1403927" y="1928090"/>
                  <a:pt x="1360055" y="2159000"/>
                  <a:pt x="1371600" y="2424545"/>
                </a:cubicBezTo>
                <a:cubicBezTo>
                  <a:pt x="1383145" y="2690090"/>
                  <a:pt x="1417782" y="3048000"/>
                  <a:pt x="1371600" y="3255818"/>
                </a:cubicBezTo>
                <a:cubicBezTo>
                  <a:pt x="1325418" y="3463636"/>
                  <a:pt x="1323109" y="3595254"/>
                  <a:pt x="1094509" y="3671454"/>
                </a:cubicBezTo>
                <a:cubicBezTo>
                  <a:pt x="865909" y="3747654"/>
                  <a:pt x="0" y="3713018"/>
                  <a:pt x="0" y="3713018"/>
                </a:cubicBezTo>
              </a:path>
            </a:pathLst>
          </a:custGeom>
          <a:ln>
            <a:solidFill>
              <a:srgbClr val="00B05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Freeform 8"/>
          <p:cNvSpPr/>
          <p:nvPr/>
        </p:nvSpPr>
        <p:spPr>
          <a:xfrm>
            <a:off x="1461655" y="2452255"/>
            <a:ext cx="2122054" cy="2844799"/>
          </a:xfrm>
          <a:custGeom>
            <a:avLst/>
            <a:gdLst>
              <a:gd name="connsiteX0" fmla="*/ 2098963 w 2122054"/>
              <a:gd name="connsiteY0" fmla="*/ 0 h 2844799"/>
              <a:gd name="connsiteX1" fmla="*/ 1988127 w 2122054"/>
              <a:gd name="connsiteY1" fmla="*/ 249381 h 2844799"/>
              <a:gd name="connsiteX2" fmla="*/ 1295400 w 2122054"/>
              <a:gd name="connsiteY2" fmla="*/ 360218 h 2844799"/>
              <a:gd name="connsiteX3" fmla="*/ 561109 w 2122054"/>
              <a:gd name="connsiteY3" fmla="*/ 748145 h 2844799"/>
              <a:gd name="connsiteX4" fmla="*/ 76200 w 2122054"/>
              <a:gd name="connsiteY4" fmla="*/ 1787236 h 2844799"/>
              <a:gd name="connsiteX5" fmla="*/ 103909 w 2122054"/>
              <a:gd name="connsiteY5" fmla="*/ 2632363 h 2844799"/>
              <a:gd name="connsiteX6" fmla="*/ 671945 w 2122054"/>
              <a:gd name="connsiteY6" fmla="*/ 2812472 h 2844799"/>
              <a:gd name="connsiteX7" fmla="*/ 1447800 w 2122054"/>
              <a:gd name="connsiteY7" fmla="*/ 2438400 h 284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2054" h="2844799">
                <a:moveTo>
                  <a:pt x="2098963" y="0"/>
                </a:moveTo>
                <a:cubicBezTo>
                  <a:pt x="2110508" y="94672"/>
                  <a:pt x="2122054" y="189345"/>
                  <a:pt x="1988127" y="249381"/>
                </a:cubicBezTo>
                <a:cubicBezTo>
                  <a:pt x="1854200" y="309417"/>
                  <a:pt x="1533236" y="277091"/>
                  <a:pt x="1295400" y="360218"/>
                </a:cubicBezTo>
                <a:cubicBezTo>
                  <a:pt x="1057564" y="443345"/>
                  <a:pt x="764309" y="510309"/>
                  <a:pt x="561109" y="748145"/>
                </a:cubicBezTo>
                <a:cubicBezTo>
                  <a:pt x="357909" y="985981"/>
                  <a:pt x="152400" y="1473200"/>
                  <a:pt x="76200" y="1787236"/>
                </a:cubicBezTo>
                <a:cubicBezTo>
                  <a:pt x="0" y="2101272"/>
                  <a:pt x="4618" y="2461490"/>
                  <a:pt x="103909" y="2632363"/>
                </a:cubicBezTo>
                <a:cubicBezTo>
                  <a:pt x="203200" y="2803236"/>
                  <a:pt x="447963" y="2844799"/>
                  <a:pt x="671945" y="2812472"/>
                </a:cubicBezTo>
                <a:cubicBezTo>
                  <a:pt x="895927" y="2780145"/>
                  <a:pt x="1171863" y="2609272"/>
                  <a:pt x="1447800" y="2438400"/>
                </a:cubicBezTo>
              </a:path>
            </a:pathLst>
          </a:custGeom>
          <a:ln>
            <a:solidFill>
              <a:srgbClr val="7030A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Freeform 9"/>
          <p:cNvSpPr/>
          <p:nvPr/>
        </p:nvSpPr>
        <p:spPr>
          <a:xfrm>
            <a:off x="1482436" y="2396836"/>
            <a:ext cx="3362037" cy="581891"/>
          </a:xfrm>
          <a:custGeom>
            <a:avLst/>
            <a:gdLst>
              <a:gd name="connsiteX0" fmla="*/ 0 w 3362037"/>
              <a:gd name="connsiteY0" fmla="*/ 0 h 581891"/>
              <a:gd name="connsiteX1" fmla="*/ 180109 w 3362037"/>
              <a:gd name="connsiteY1" fmla="*/ 457200 h 581891"/>
              <a:gd name="connsiteX2" fmla="*/ 886691 w 3362037"/>
              <a:gd name="connsiteY2" fmla="*/ 318655 h 581891"/>
              <a:gd name="connsiteX3" fmla="*/ 1967346 w 3362037"/>
              <a:gd name="connsiteY3" fmla="*/ 443346 h 581891"/>
              <a:gd name="connsiteX4" fmla="*/ 2410691 w 3362037"/>
              <a:gd name="connsiteY4" fmla="*/ 401782 h 581891"/>
              <a:gd name="connsiteX5" fmla="*/ 2798619 w 3362037"/>
              <a:gd name="connsiteY5" fmla="*/ 193964 h 581891"/>
              <a:gd name="connsiteX6" fmla="*/ 3269673 w 3362037"/>
              <a:gd name="connsiteY6" fmla="*/ 332509 h 581891"/>
              <a:gd name="connsiteX7" fmla="*/ 3352800 w 3362037"/>
              <a:gd name="connsiteY7" fmla="*/ 581891 h 58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2037" h="581891">
                <a:moveTo>
                  <a:pt x="0" y="0"/>
                </a:moveTo>
                <a:cubicBezTo>
                  <a:pt x="16163" y="202045"/>
                  <a:pt x="32327" y="404091"/>
                  <a:pt x="180109" y="457200"/>
                </a:cubicBezTo>
                <a:cubicBezTo>
                  <a:pt x="327891" y="510309"/>
                  <a:pt x="588818" y="320964"/>
                  <a:pt x="886691" y="318655"/>
                </a:cubicBezTo>
                <a:cubicBezTo>
                  <a:pt x="1184564" y="316346"/>
                  <a:pt x="1713346" y="429492"/>
                  <a:pt x="1967346" y="443346"/>
                </a:cubicBezTo>
                <a:cubicBezTo>
                  <a:pt x="2221346" y="457200"/>
                  <a:pt x="2272146" y="443346"/>
                  <a:pt x="2410691" y="401782"/>
                </a:cubicBezTo>
                <a:cubicBezTo>
                  <a:pt x="2549236" y="360218"/>
                  <a:pt x="2655455" y="205509"/>
                  <a:pt x="2798619" y="193964"/>
                </a:cubicBezTo>
                <a:cubicBezTo>
                  <a:pt x="2941783" y="182419"/>
                  <a:pt x="3177309" y="267854"/>
                  <a:pt x="3269673" y="332509"/>
                </a:cubicBezTo>
                <a:cubicBezTo>
                  <a:pt x="3362037" y="397164"/>
                  <a:pt x="3357418" y="489527"/>
                  <a:pt x="3352800" y="581891"/>
                </a:cubicBezTo>
              </a:path>
            </a:pathLst>
          </a:cu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523631" y="2801816"/>
            <a:ext cx="5017477" cy="3993661"/>
          </a:xfrm>
          <a:custGeom>
            <a:avLst/>
            <a:gdLst>
              <a:gd name="connsiteX0" fmla="*/ 1961661 w 5017477"/>
              <a:gd name="connsiteY0" fmla="*/ 11722 h 3993661"/>
              <a:gd name="connsiteX1" fmla="*/ 1680307 w 5017477"/>
              <a:gd name="connsiteY1" fmla="*/ 152399 h 3993661"/>
              <a:gd name="connsiteX2" fmla="*/ 1633415 w 5017477"/>
              <a:gd name="connsiteY2" fmla="*/ 574430 h 3993661"/>
              <a:gd name="connsiteX3" fmla="*/ 1539631 w 5017477"/>
              <a:gd name="connsiteY3" fmla="*/ 1137138 h 3993661"/>
              <a:gd name="connsiteX4" fmla="*/ 789354 w 5017477"/>
              <a:gd name="connsiteY4" fmla="*/ 1441938 h 3993661"/>
              <a:gd name="connsiteX5" fmla="*/ 179754 w 5017477"/>
              <a:gd name="connsiteY5" fmla="*/ 1723292 h 3993661"/>
              <a:gd name="connsiteX6" fmla="*/ 179754 w 5017477"/>
              <a:gd name="connsiteY6" fmla="*/ 2192215 h 3993661"/>
              <a:gd name="connsiteX7" fmla="*/ 1258277 w 5017477"/>
              <a:gd name="connsiteY7" fmla="*/ 2332892 h 3993661"/>
              <a:gd name="connsiteX8" fmla="*/ 2219569 w 5017477"/>
              <a:gd name="connsiteY8" fmla="*/ 2356338 h 3993661"/>
              <a:gd name="connsiteX9" fmla="*/ 2852615 w 5017477"/>
              <a:gd name="connsiteY9" fmla="*/ 2848707 h 3993661"/>
              <a:gd name="connsiteX10" fmla="*/ 2876061 w 5017477"/>
              <a:gd name="connsiteY10" fmla="*/ 3716215 h 3993661"/>
              <a:gd name="connsiteX11" fmla="*/ 3813907 w 5017477"/>
              <a:gd name="connsiteY11" fmla="*/ 3950676 h 3993661"/>
              <a:gd name="connsiteX12" fmla="*/ 4728307 w 5017477"/>
              <a:gd name="connsiteY12" fmla="*/ 3458307 h 3993661"/>
              <a:gd name="connsiteX13" fmla="*/ 4892431 w 5017477"/>
              <a:gd name="connsiteY13" fmla="*/ 2121876 h 3993661"/>
              <a:gd name="connsiteX14" fmla="*/ 3978031 w 5017477"/>
              <a:gd name="connsiteY14" fmla="*/ 973015 h 3993661"/>
              <a:gd name="connsiteX15" fmla="*/ 2946400 w 5017477"/>
              <a:gd name="connsiteY15" fmla="*/ 363415 h 3993661"/>
              <a:gd name="connsiteX16" fmla="*/ 2618154 w 5017477"/>
              <a:gd name="connsiteY16" fmla="*/ 58615 h 3993661"/>
              <a:gd name="connsiteX17" fmla="*/ 2078892 w 5017477"/>
              <a:gd name="connsiteY17" fmla="*/ 11722 h 399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17477" h="3993661">
                <a:moveTo>
                  <a:pt x="1961661" y="11722"/>
                </a:moveTo>
                <a:cubicBezTo>
                  <a:pt x="1848338" y="35168"/>
                  <a:pt x="1735015" y="58614"/>
                  <a:pt x="1680307" y="152399"/>
                </a:cubicBezTo>
                <a:cubicBezTo>
                  <a:pt x="1625599" y="246184"/>
                  <a:pt x="1656861" y="410307"/>
                  <a:pt x="1633415" y="574430"/>
                </a:cubicBezTo>
                <a:cubicBezTo>
                  <a:pt x="1609969" y="738553"/>
                  <a:pt x="1680308" y="992553"/>
                  <a:pt x="1539631" y="1137138"/>
                </a:cubicBezTo>
                <a:cubicBezTo>
                  <a:pt x="1398954" y="1281723"/>
                  <a:pt x="1016000" y="1344246"/>
                  <a:pt x="789354" y="1441938"/>
                </a:cubicBezTo>
                <a:cubicBezTo>
                  <a:pt x="562708" y="1539630"/>
                  <a:pt x="281354" y="1598246"/>
                  <a:pt x="179754" y="1723292"/>
                </a:cubicBezTo>
                <a:cubicBezTo>
                  <a:pt x="78154" y="1848338"/>
                  <a:pt x="0" y="2090615"/>
                  <a:pt x="179754" y="2192215"/>
                </a:cubicBezTo>
                <a:cubicBezTo>
                  <a:pt x="359508" y="2293815"/>
                  <a:pt x="918308" y="2305538"/>
                  <a:pt x="1258277" y="2332892"/>
                </a:cubicBezTo>
                <a:cubicBezTo>
                  <a:pt x="1598246" y="2360246"/>
                  <a:pt x="1953846" y="2270369"/>
                  <a:pt x="2219569" y="2356338"/>
                </a:cubicBezTo>
                <a:cubicBezTo>
                  <a:pt x="2485292" y="2442307"/>
                  <a:pt x="2743200" y="2622061"/>
                  <a:pt x="2852615" y="2848707"/>
                </a:cubicBezTo>
                <a:cubicBezTo>
                  <a:pt x="2962030" y="3075353"/>
                  <a:pt x="2715846" y="3532554"/>
                  <a:pt x="2876061" y="3716215"/>
                </a:cubicBezTo>
                <a:cubicBezTo>
                  <a:pt x="3036276" y="3899876"/>
                  <a:pt x="3505199" y="3993661"/>
                  <a:pt x="3813907" y="3950676"/>
                </a:cubicBezTo>
                <a:cubicBezTo>
                  <a:pt x="4122615" y="3907691"/>
                  <a:pt x="4548553" y="3763107"/>
                  <a:pt x="4728307" y="3458307"/>
                </a:cubicBezTo>
                <a:cubicBezTo>
                  <a:pt x="4908061" y="3153507"/>
                  <a:pt x="5017477" y="2536091"/>
                  <a:pt x="4892431" y="2121876"/>
                </a:cubicBezTo>
                <a:cubicBezTo>
                  <a:pt x="4767385" y="1707661"/>
                  <a:pt x="4302369" y="1266092"/>
                  <a:pt x="3978031" y="973015"/>
                </a:cubicBezTo>
                <a:cubicBezTo>
                  <a:pt x="3653693" y="679938"/>
                  <a:pt x="3173046" y="515815"/>
                  <a:pt x="2946400" y="363415"/>
                </a:cubicBezTo>
                <a:cubicBezTo>
                  <a:pt x="2719754" y="211015"/>
                  <a:pt x="2762739" y="117231"/>
                  <a:pt x="2618154" y="58615"/>
                </a:cubicBezTo>
                <a:cubicBezTo>
                  <a:pt x="2473569" y="0"/>
                  <a:pt x="2276230" y="5861"/>
                  <a:pt x="2078892" y="11722"/>
                </a:cubicBezTo>
              </a:path>
            </a:pathLst>
          </a:custGeom>
          <a:solidFill>
            <a:srgbClr val="FFFF00"/>
          </a:solidFill>
          <a:ln>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Production </a:t>
            </a:r>
            <a:r>
              <a:rPr lang="en-US" dirty="0" err="1" smtClean="0"/>
              <a:t>Fuction</a:t>
            </a:r>
            <a:endParaRPr lang="en-US" dirty="0"/>
          </a:p>
        </p:txBody>
      </p:sp>
      <p:graphicFrame>
        <p:nvGraphicFramePr>
          <p:cNvPr id="30722" name="Object 2"/>
          <p:cNvGraphicFramePr>
            <a:graphicFrameLocks noChangeAspect="1"/>
          </p:cNvGraphicFramePr>
          <p:nvPr/>
        </p:nvGraphicFramePr>
        <p:xfrm>
          <a:off x="381000" y="3048000"/>
          <a:ext cx="4648200" cy="3486150"/>
        </p:xfrm>
        <a:graphic>
          <a:graphicData uri="http://schemas.openxmlformats.org/presentationml/2006/ole">
            <p:oleObj spid="_x0000_s30728" r:id="rId3" imgW="5809298" imgH="4351973" progId="">
              <p:embed/>
            </p:oleObj>
          </a:graphicData>
        </a:graphic>
      </p:graphicFrame>
      <p:sp>
        <p:nvSpPr>
          <p:cNvPr id="3072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0724" name="Object 4"/>
          <p:cNvGraphicFramePr>
            <a:graphicFrameLocks noChangeAspect="1"/>
          </p:cNvGraphicFramePr>
          <p:nvPr/>
        </p:nvGraphicFramePr>
        <p:xfrm>
          <a:off x="3886200" y="2209800"/>
          <a:ext cx="4779963" cy="1612900"/>
        </p:xfrm>
        <a:graphic>
          <a:graphicData uri="http://schemas.openxmlformats.org/presentationml/2006/ole">
            <p:oleObj spid="_x0000_s30729" name="Equation" r:id="rId4" imgW="2336800" imgH="787400" progId="Equation.3">
              <p:embed/>
            </p:oleObj>
          </a:graphicData>
        </a:graphic>
      </p:graphicFrame>
      <p:sp>
        <p:nvSpPr>
          <p:cNvPr id="30727"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0726" name="Object 6"/>
          <p:cNvGraphicFramePr>
            <a:graphicFrameLocks noChangeAspect="1"/>
          </p:cNvGraphicFramePr>
          <p:nvPr/>
        </p:nvGraphicFramePr>
        <p:xfrm>
          <a:off x="5438775" y="4343400"/>
          <a:ext cx="3579813" cy="1676400"/>
        </p:xfrm>
        <a:graphic>
          <a:graphicData uri="http://schemas.openxmlformats.org/presentationml/2006/ole">
            <p:oleObj spid="_x0000_s30730" name="Equation" r:id="rId5" imgW="1625600" imgH="762000" progId="Equation.3">
              <p:embed/>
            </p:oleObj>
          </a:graphicData>
        </a:graphic>
      </p:graphicFrame>
      <p:sp>
        <p:nvSpPr>
          <p:cNvPr id="10" name="TextBox 9"/>
          <p:cNvSpPr txBox="1"/>
          <p:nvPr/>
        </p:nvSpPr>
        <p:spPr>
          <a:xfrm>
            <a:off x="5562600" y="3974068"/>
            <a:ext cx="599716" cy="369332"/>
          </a:xfrm>
          <a:prstGeom prst="rect">
            <a:avLst/>
          </a:prstGeom>
          <a:noFill/>
        </p:spPr>
        <p:txBody>
          <a:bodyPr wrap="none" rtlCol="0">
            <a:spAutoFit/>
          </a:bodyPr>
          <a:lstStyle/>
          <a:p>
            <a:r>
              <a:rPr lang="en-US" dirty="0" err="1" smtClean="0"/>
              <a:t>atau</a:t>
            </a:r>
            <a:endParaRPr lang="en-US" dirty="0"/>
          </a:p>
        </p:txBody>
      </p:sp>
      <p:sp>
        <p:nvSpPr>
          <p:cNvPr id="11" name="Freeform 10"/>
          <p:cNvSpPr/>
          <p:nvPr/>
        </p:nvSpPr>
        <p:spPr>
          <a:xfrm>
            <a:off x="2696308" y="4087446"/>
            <a:ext cx="3868615" cy="1309077"/>
          </a:xfrm>
          <a:custGeom>
            <a:avLst/>
            <a:gdLst>
              <a:gd name="connsiteX0" fmla="*/ 0 w 3868615"/>
              <a:gd name="connsiteY0" fmla="*/ 132862 h 1309077"/>
              <a:gd name="connsiteX1" fmla="*/ 375138 w 3868615"/>
              <a:gd name="connsiteY1" fmla="*/ 296985 h 1309077"/>
              <a:gd name="connsiteX2" fmla="*/ 1336430 w 3868615"/>
              <a:gd name="connsiteY2" fmla="*/ 85969 h 1309077"/>
              <a:gd name="connsiteX3" fmla="*/ 2391507 w 3868615"/>
              <a:gd name="connsiteY3" fmla="*/ 812800 h 1309077"/>
              <a:gd name="connsiteX4" fmla="*/ 2836984 w 3868615"/>
              <a:gd name="connsiteY4" fmla="*/ 1094154 h 1309077"/>
              <a:gd name="connsiteX5" fmla="*/ 3352800 w 3868615"/>
              <a:gd name="connsiteY5" fmla="*/ 1234831 h 1309077"/>
              <a:gd name="connsiteX6" fmla="*/ 3751384 w 3868615"/>
              <a:gd name="connsiteY6" fmla="*/ 1258277 h 1309077"/>
              <a:gd name="connsiteX7" fmla="*/ 3868615 w 3868615"/>
              <a:gd name="connsiteY7" fmla="*/ 930031 h 130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68615" h="1309077">
                <a:moveTo>
                  <a:pt x="0" y="132862"/>
                </a:moveTo>
                <a:cubicBezTo>
                  <a:pt x="76200" y="218831"/>
                  <a:pt x="152400" y="304801"/>
                  <a:pt x="375138" y="296985"/>
                </a:cubicBezTo>
                <a:cubicBezTo>
                  <a:pt x="597876" y="289170"/>
                  <a:pt x="1000369" y="0"/>
                  <a:pt x="1336430" y="85969"/>
                </a:cubicBezTo>
                <a:cubicBezTo>
                  <a:pt x="1672492" y="171938"/>
                  <a:pt x="2141415" y="644769"/>
                  <a:pt x="2391507" y="812800"/>
                </a:cubicBezTo>
                <a:cubicBezTo>
                  <a:pt x="2641599" y="980831"/>
                  <a:pt x="2676769" y="1023816"/>
                  <a:pt x="2836984" y="1094154"/>
                </a:cubicBezTo>
                <a:cubicBezTo>
                  <a:pt x="2997200" y="1164493"/>
                  <a:pt x="3200400" y="1207477"/>
                  <a:pt x="3352800" y="1234831"/>
                </a:cubicBezTo>
                <a:cubicBezTo>
                  <a:pt x="3505200" y="1262185"/>
                  <a:pt x="3665415" y="1309077"/>
                  <a:pt x="3751384" y="1258277"/>
                </a:cubicBezTo>
                <a:cubicBezTo>
                  <a:pt x="3837353" y="1207477"/>
                  <a:pt x="3852984" y="1068754"/>
                  <a:pt x="3868615" y="930031"/>
                </a:cubicBezTo>
              </a:path>
            </a:pathLst>
          </a:cu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4196862" y="5603631"/>
            <a:ext cx="2317261" cy="887045"/>
          </a:xfrm>
          <a:custGeom>
            <a:avLst/>
            <a:gdLst>
              <a:gd name="connsiteX0" fmla="*/ 0 w 2317261"/>
              <a:gd name="connsiteY0" fmla="*/ 0 h 887045"/>
              <a:gd name="connsiteX1" fmla="*/ 562707 w 2317261"/>
              <a:gd name="connsiteY1" fmla="*/ 281354 h 887045"/>
              <a:gd name="connsiteX2" fmla="*/ 890953 w 2317261"/>
              <a:gd name="connsiteY2" fmla="*/ 586154 h 887045"/>
              <a:gd name="connsiteX3" fmla="*/ 1359876 w 2317261"/>
              <a:gd name="connsiteY3" fmla="*/ 750277 h 887045"/>
              <a:gd name="connsiteX4" fmla="*/ 2016369 w 2317261"/>
              <a:gd name="connsiteY4" fmla="*/ 867507 h 887045"/>
              <a:gd name="connsiteX5" fmla="*/ 2297723 w 2317261"/>
              <a:gd name="connsiteY5" fmla="*/ 633046 h 887045"/>
              <a:gd name="connsiteX6" fmla="*/ 2133600 w 2317261"/>
              <a:gd name="connsiteY6" fmla="*/ 351692 h 88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7261" h="887045">
                <a:moveTo>
                  <a:pt x="0" y="0"/>
                </a:moveTo>
                <a:cubicBezTo>
                  <a:pt x="207107" y="91831"/>
                  <a:pt x="414215" y="183662"/>
                  <a:pt x="562707" y="281354"/>
                </a:cubicBezTo>
                <a:cubicBezTo>
                  <a:pt x="711199" y="379046"/>
                  <a:pt x="758091" y="508000"/>
                  <a:pt x="890953" y="586154"/>
                </a:cubicBezTo>
                <a:cubicBezTo>
                  <a:pt x="1023815" y="664308"/>
                  <a:pt x="1172307" y="703385"/>
                  <a:pt x="1359876" y="750277"/>
                </a:cubicBezTo>
                <a:cubicBezTo>
                  <a:pt x="1547445" y="797169"/>
                  <a:pt x="1860061" y="887045"/>
                  <a:pt x="2016369" y="867507"/>
                </a:cubicBezTo>
                <a:cubicBezTo>
                  <a:pt x="2172677" y="847969"/>
                  <a:pt x="2278185" y="719015"/>
                  <a:pt x="2297723" y="633046"/>
                </a:cubicBezTo>
                <a:cubicBezTo>
                  <a:pt x="2317261" y="547077"/>
                  <a:pt x="2225430" y="449384"/>
                  <a:pt x="2133600" y="351692"/>
                </a:cubicBezTo>
              </a:path>
            </a:pathLst>
          </a:cu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3" name="Object 1"/>
          <p:cNvGraphicFramePr>
            <a:graphicFrameLocks noChangeAspect="1"/>
          </p:cNvGraphicFramePr>
          <p:nvPr/>
        </p:nvGraphicFramePr>
        <p:xfrm>
          <a:off x="919163" y="1447800"/>
          <a:ext cx="8145462" cy="450850"/>
        </p:xfrm>
        <a:graphic>
          <a:graphicData uri="http://schemas.openxmlformats.org/presentationml/2006/ole">
            <p:oleObj spid="_x0000_s30731" name="Equation" r:id="rId6" imgW="3873500" imgH="203200" progId="Equation.3">
              <p:embed/>
            </p:oleObj>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3"/>
          <p:cNvSpPr/>
          <p:nvPr/>
        </p:nvSpPr>
        <p:spPr>
          <a:xfrm>
            <a:off x="2512647" y="4575908"/>
            <a:ext cx="1602153" cy="2211754"/>
          </a:xfrm>
          <a:custGeom>
            <a:avLst/>
            <a:gdLst>
              <a:gd name="connsiteX0" fmla="*/ 1027723 w 1602153"/>
              <a:gd name="connsiteY0" fmla="*/ 121139 h 2211754"/>
              <a:gd name="connsiteX1" fmla="*/ 277446 w 1602153"/>
              <a:gd name="connsiteY1" fmla="*/ 74246 h 2211754"/>
              <a:gd name="connsiteX2" fmla="*/ 19538 w 1602153"/>
              <a:gd name="connsiteY2" fmla="*/ 566615 h 2211754"/>
              <a:gd name="connsiteX3" fmla="*/ 160215 w 1602153"/>
              <a:gd name="connsiteY3" fmla="*/ 1129323 h 2211754"/>
              <a:gd name="connsiteX4" fmla="*/ 89876 w 1602153"/>
              <a:gd name="connsiteY4" fmla="*/ 1387231 h 2211754"/>
              <a:gd name="connsiteX5" fmla="*/ 42984 w 1602153"/>
              <a:gd name="connsiteY5" fmla="*/ 1738923 h 2211754"/>
              <a:gd name="connsiteX6" fmla="*/ 183661 w 1602153"/>
              <a:gd name="connsiteY6" fmla="*/ 2020277 h 2211754"/>
              <a:gd name="connsiteX7" fmla="*/ 722923 w 1602153"/>
              <a:gd name="connsiteY7" fmla="*/ 2090615 h 2211754"/>
              <a:gd name="connsiteX8" fmla="*/ 1449753 w 1602153"/>
              <a:gd name="connsiteY8" fmla="*/ 2114062 h 2211754"/>
              <a:gd name="connsiteX9" fmla="*/ 1590430 w 1602153"/>
              <a:gd name="connsiteY9" fmla="*/ 1504462 h 2211754"/>
              <a:gd name="connsiteX10" fmla="*/ 1379415 w 1602153"/>
              <a:gd name="connsiteY10" fmla="*/ 1035539 h 2211754"/>
              <a:gd name="connsiteX11" fmla="*/ 1215292 w 1602153"/>
              <a:gd name="connsiteY11" fmla="*/ 425939 h 2211754"/>
              <a:gd name="connsiteX12" fmla="*/ 1027723 w 1602153"/>
              <a:gd name="connsiteY12" fmla="*/ 121139 h 221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2153" h="2211754">
                <a:moveTo>
                  <a:pt x="1027723" y="121139"/>
                </a:moveTo>
                <a:cubicBezTo>
                  <a:pt x="871415" y="62524"/>
                  <a:pt x="445477" y="0"/>
                  <a:pt x="277446" y="74246"/>
                </a:cubicBezTo>
                <a:cubicBezTo>
                  <a:pt x="109415" y="148492"/>
                  <a:pt x="39076" y="390769"/>
                  <a:pt x="19538" y="566615"/>
                </a:cubicBezTo>
                <a:cubicBezTo>
                  <a:pt x="0" y="742461"/>
                  <a:pt x="148492" y="992554"/>
                  <a:pt x="160215" y="1129323"/>
                </a:cubicBezTo>
                <a:cubicBezTo>
                  <a:pt x="171938" y="1266092"/>
                  <a:pt x="109414" y="1285631"/>
                  <a:pt x="89876" y="1387231"/>
                </a:cubicBezTo>
                <a:cubicBezTo>
                  <a:pt x="70338" y="1488831"/>
                  <a:pt x="27353" y="1633415"/>
                  <a:pt x="42984" y="1738923"/>
                </a:cubicBezTo>
                <a:cubicBezTo>
                  <a:pt x="58615" y="1844431"/>
                  <a:pt x="70338" y="1961662"/>
                  <a:pt x="183661" y="2020277"/>
                </a:cubicBezTo>
                <a:cubicBezTo>
                  <a:pt x="296984" y="2078892"/>
                  <a:pt x="511908" y="2074984"/>
                  <a:pt x="722923" y="2090615"/>
                </a:cubicBezTo>
                <a:cubicBezTo>
                  <a:pt x="933938" y="2106246"/>
                  <a:pt x="1305169" y="2211754"/>
                  <a:pt x="1449753" y="2114062"/>
                </a:cubicBezTo>
                <a:cubicBezTo>
                  <a:pt x="1594338" y="2016370"/>
                  <a:pt x="1602153" y="1684216"/>
                  <a:pt x="1590430" y="1504462"/>
                </a:cubicBezTo>
                <a:cubicBezTo>
                  <a:pt x="1578707" y="1324708"/>
                  <a:pt x="1441938" y="1215293"/>
                  <a:pt x="1379415" y="1035539"/>
                </a:cubicBezTo>
                <a:cubicBezTo>
                  <a:pt x="1316892" y="855785"/>
                  <a:pt x="1273907" y="570524"/>
                  <a:pt x="1215292" y="425939"/>
                </a:cubicBezTo>
                <a:cubicBezTo>
                  <a:pt x="1156677" y="281354"/>
                  <a:pt x="1184031" y="179755"/>
                  <a:pt x="1027723" y="121139"/>
                </a:cubicBezTo>
                <a:close/>
              </a:path>
            </a:pathLst>
          </a:custGeom>
          <a:solidFill>
            <a:srgbClr val="FFFF0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Cost minimization: bottom level</a:t>
            </a:r>
            <a:endParaRPr lang="en-US" dirty="0"/>
          </a:p>
        </p:txBody>
      </p:sp>
      <p:sp>
        <p:nvSpPr>
          <p:cNvPr id="317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 name="TextBox 4"/>
          <p:cNvSpPr txBox="1"/>
          <p:nvPr/>
        </p:nvSpPr>
        <p:spPr>
          <a:xfrm>
            <a:off x="2743200" y="2743200"/>
            <a:ext cx="1128835" cy="523220"/>
          </a:xfrm>
          <a:prstGeom prst="rect">
            <a:avLst/>
          </a:prstGeom>
          <a:noFill/>
        </p:spPr>
        <p:txBody>
          <a:bodyPr wrap="none" rtlCol="0">
            <a:spAutoFit/>
          </a:bodyPr>
          <a:lstStyle/>
          <a:p>
            <a:r>
              <a:rPr lang="en-US" sz="2800" dirty="0" err="1" smtClean="0"/>
              <a:t>Solusi</a:t>
            </a:r>
            <a:r>
              <a:rPr lang="en-US" sz="2800" dirty="0" smtClean="0"/>
              <a:t>:</a:t>
            </a:r>
            <a:endParaRPr lang="en-US" sz="2800" dirty="0"/>
          </a:p>
        </p:txBody>
      </p:sp>
      <p:sp>
        <p:nvSpPr>
          <p:cNvPr id="3174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75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75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53" name="Object 9"/>
          <p:cNvGraphicFramePr>
            <a:graphicFrameLocks noChangeAspect="1"/>
          </p:cNvGraphicFramePr>
          <p:nvPr/>
        </p:nvGraphicFramePr>
        <p:xfrm>
          <a:off x="228600" y="3733800"/>
          <a:ext cx="3886200" cy="2914650"/>
        </p:xfrm>
        <a:graphic>
          <a:graphicData uri="http://schemas.openxmlformats.org/presentationml/2006/ole">
            <p:oleObj spid="_x0000_s32781" r:id="rId3" imgW="5809298" imgH="4351973" progId="">
              <p:embed/>
            </p:oleObj>
          </a:graphicData>
        </a:graphic>
      </p:graphicFrame>
      <p:sp>
        <p:nvSpPr>
          <p:cNvPr id="3277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2774" name="Object 6"/>
          <p:cNvGraphicFramePr>
            <a:graphicFrameLocks noChangeAspect="1"/>
          </p:cNvGraphicFramePr>
          <p:nvPr/>
        </p:nvGraphicFramePr>
        <p:xfrm>
          <a:off x="1089025" y="1501775"/>
          <a:ext cx="7546975" cy="954088"/>
        </p:xfrm>
        <a:graphic>
          <a:graphicData uri="http://schemas.openxmlformats.org/presentationml/2006/ole">
            <p:oleObj spid="_x0000_s32782" name="Equation" r:id="rId4" imgW="4229100" imgH="533400" progId="Equation.3">
              <p:embed/>
            </p:oleObj>
          </a:graphicData>
        </a:graphic>
      </p:graphicFrame>
      <p:sp>
        <p:nvSpPr>
          <p:cNvPr id="32777"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2776" name="Object 8"/>
          <p:cNvGraphicFramePr>
            <a:graphicFrameLocks noChangeAspect="1"/>
          </p:cNvGraphicFramePr>
          <p:nvPr/>
        </p:nvGraphicFramePr>
        <p:xfrm>
          <a:off x="3065463" y="3048000"/>
          <a:ext cx="5827712" cy="782638"/>
        </p:xfrm>
        <a:graphic>
          <a:graphicData uri="http://schemas.openxmlformats.org/presentationml/2006/ole">
            <p:oleObj spid="_x0000_s32783" name="Equation" r:id="rId5" imgW="3733800" imgH="495300" progId="Equation.3">
              <p:embed/>
            </p:oleObj>
          </a:graphicData>
        </a:graphic>
      </p:graphicFrame>
      <p:sp>
        <p:nvSpPr>
          <p:cNvPr id="3277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2778" name="Object 10"/>
          <p:cNvGraphicFramePr>
            <a:graphicFrameLocks noChangeAspect="1"/>
          </p:cNvGraphicFramePr>
          <p:nvPr/>
        </p:nvGraphicFramePr>
        <p:xfrm>
          <a:off x="2971800" y="3886200"/>
          <a:ext cx="5948362" cy="890587"/>
        </p:xfrm>
        <a:graphic>
          <a:graphicData uri="http://schemas.openxmlformats.org/presentationml/2006/ole">
            <p:oleObj spid="_x0000_s32784" name="Equation" r:id="rId6" imgW="3352800" imgH="495300" progId="Equation.3">
              <p:embed/>
            </p:oleObj>
          </a:graphicData>
        </a:graphic>
      </p:graphicFrame>
      <p:sp>
        <p:nvSpPr>
          <p:cNvPr id="32781"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2780" name="Object 12"/>
          <p:cNvGraphicFramePr>
            <a:graphicFrameLocks noChangeAspect="1"/>
          </p:cNvGraphicFramePr>
          <p:nvPr/>
        </p:nvGraphicFramePr>
        <p:xfrm>
          <a:off x="4724400" y="5265057"/>
          <a:ext cx="4343400" cy="1516743"/>
        </p:xfrm>
        <a:graphic>
          <a:graphicData uri="http://schemas.openxmlformats.org/presentationml/2006/ole">
            <p:oleObj spid="_x0000_s32785" name="Equation" r:id="rId7" imgW="1955800" imgH="660400" progId="Equation.3">
              <p:embed/>
            </p:oleObj>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minimization: bottom level</a:t>
            </a:r>
            <a:endParaRPr lang="en-US" dirty="0"/>
          </a:p>
        </p:txBody>
      </p:sp>
      <p:sp>
        <p:nvSpPr>
          <p:cNvPr id="3" name="Freeform 2"/>
          <p:cNvSpPr/>
          <p:nvPr/>
        </p:nvSpPr>
        <p:spPr>
          <a:xfrm>
            <a:off x="2284047" y="3051908"/>
            <a:ext cx="1602153" cy="2211754"/>
          </a:xfrm>
          <a:custGeom>
            <a:avLst/>
            <a:gdLst>
              <a:gd name="connsiteX0" fmla="*/ 1027723 w 1602153"/>
              <a:gd name="connsiteY0" fmla="*/ 121139 h 2211754"/>
              <a:gd name="connsiteX1" fmla="*/ 277446 w 1602153"/>
              <a:gd name="connsiteY1" fmla="*/ 74246 h 2211754"/>
              <a:gd name="connsiteX2" fmla="*/ 19538 w 1602153"/>
              <a:gd name="connsiteY2" fmla="*/ 566615 h 2211754"/>
              <a:gd name="connsiteX3" fmla="*/ 160215 w 1602153"/>
              <a:gd name="connsiteY3" fmla="*/ 1129323 h 2211754"/>
              <a:gd name="connsiteX4" fmla="*/ 89876 w 1602153"/>
              <a:gd name="connsiteY4" fmla="*/ 1387231 h 2211754"/>
              <a:gd name="connsiteX5" fmla="*/ 42984 w 1602153"/>
              <a:gd name="connsiteY5" fmla="*/ 1738923 h 2211754"/>
              <a:gd name="connsiteX6" fmla="*/ 183661 w 1602153"/>
              <a:gd name="connsiteY6" fmla="*/ 2020277 h 2211754"/>
              <a:gd name="connsiteX7" fmla="*/ 722923 w 1602153"/>
              <a:gd name="connsiteY7" fmla="*/ 2090615 h 2211754"/>
              <a:gd name="connsiteX8" fmla="*/ 1449753 w 1602153"/>
              <a:gd name="connsiteY8" fmla="*/ 2114062 h 2211754"/>
              <a:gd name="connsiteX9" fmla="*/ 1590430 w 1602153"/>
              <a:gd name="connsiteY9" fmla="*/ 1504462 h 2211754"/>
              <a:gd name="connsiteX10" fmla="*/ 1379415 w 1602153"/>
              <a:gd name="connsiteY10" fmla="*/ 1035539 h 2211754"/>
              <a:gd name="connsiteX11" fmla="*/ 1215292 w 1602153"/>
              <a:gd name="connsiteY11" fmla="*/ 425939 h 2211754"/>
              <a:gd name="connsiteX12" fmla="*/ 1027723 w 1602153"/>
              <a:gd name="connsiteY12" fmla="*/ 121139 h 221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02153" h="2211754">
                <a:moveTo>
                  <a:pt x="1027723" y="121139"/>
                </a:moveTo>
                <a:cubicBezTo>
                  <a:pt x="871415" y="62524"/>
                  <a:pt x="445477" y="0"/>
                  <a:pt x="277446" y="74246"/>
                </a:cubicBezTo>
                <a:cubicBezTo>
                  <a:pt x="109415" y="148492"/>
                  <a:pt x="39076" y="390769"/>
                  <a:pt x="19538" y="566615"/>
                </a:cubicBezTo>
                <a:cubicBezTo>
                  <a:pt x="0" y="742461"/>
                  <a:pt x="148492" y="992554"/>
                  <a:pt x="160215" y="1129323"/>
                </a:cubicBezTo>
                <a:cubicBezTo>
                  <a:pt x="171938" y="1266092"/>
                  <a:pt x="109414" y="1285631"/>
                  <a:pt x="89876" y="1387231"/>
                </a:cubicBezTo>
                <a:cubicBezTo>
                  <a:pt x="70338" y="1488831"/>
                  <a:pt x="27353" y="1633415"/>
                  <a:pt x="42984" y="1738923"/>
                </a:cubicBezTo>
                <a:cubicBezTo>
                  <a:pt x="58615" y="1844431"/>
                  <a:pt x="70338" y="1961662"/>
                  <a:pt x="183661" y="2020277"/>
                </a:cubicBezTo>
                <a:cubicBezTo>
                  <a:pt x="296984" y="2078892"/>
                  <a:pt x="511908" y="2074984"/>
                  <a:pt x="722923" y="2090615"/>
                </a:cubicBezTo>
                <a:cubicBezTo>
                  <a:pt x="933938" y="2106246"/>
                  <a:pt x="1305169" y="2211754"/>
                  <a:pt x="1449753" y="2114062"/>
                </a:cubicBezTo>
                <a:cubicBezTo>
                  <a:pt x="1594338" y="2016370"/>
                  <a:pt x="1602153" y="1684216"/>
                  <a:pt x="1590430" y="1504462"/>
                </a:cubicBezTo>
                <a:cubicBezTo>
                  <a:pt x="1578707" y="1324708"/>
                  <a:pt x="1441938" y="1215293"/>
                  <a:pt x="1379415" y="1035539"/>
                </a:cubicBezTo>
                <a:cubicBezTo>
                  <a:pt x="1316892" y="855785"/>
                  <a:pt x="1273907" y="570524"/>
                  <a:pt x="1215292" y="425939"/>
                </a:cubicBezTo>
                <a:cubicBezTo>
                  <a:pt x="1156677" y="281354"/>
                  <a:pt x="1184031" y="179755"/>
                  <a:pt x="1027723" y="121139"/>
                </a:cubicBezTo>
                <a:close/>
              </a:path>
            </a:pathLst>
          </a:custGeom>
          <a:solidFill>
            <a:srgbClr val="FFFF0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Object 9"/>
          <p:cNvGraphicFramePr>
            <a:graphicFrameLocks noChangeAspect="1"/>
          </p:cNvGraphicFramePr>
          <p:nvPr/>
        </p:nvGraphicFramePr>
        <p:xfrm>
          <a:off x="228600" y="2819400"/>
          <a:ext cx="3886200" cy="2914650"/>
        </p:xfrm>
        <a:graphic>
          <a:graphicData uri="http://schemas.openxmlformats.org/presentationml/2006/ole">
            <p:oleObj spid="_x0000_s33795" r:id="rId3" imgW="5809298" imgH="4351973" progId="">
              <p:embed/>
            </p:oleObj>
          </a:graphicData>
        </a:graphic>
      </p:graphicFrame>
      <p:grpSp>
        <p:nvGrpSpPr>
          <p:cNvPr id="5" name="Group 4"/>
          <p:cNvGrpSpPr/>
          <p:nvPr/>
        </p:nvGrpSpPr>
        <p:grpSpPr>
          <a:xfrm>
            <a:off x="5029200" y="2866746"/>
            <a:ext cx="2767583" cy="2601202"/>
            <a:chOff x="1965435" y="2604360"/>
            <a:chExt cx="2767583" cy="2601202"/>
          </a:xfrm>
        </p:grpSpPr>
        <p:grpSp>
          <p:nvGrpSpPr>
            <p:cNvPr id="6" name="Group 19"/>
            <p:cNvGrpSpPr/>
            <p:nvPr/>
          </p:nvGrpSpPr>
          <p:grpSpPr>
            <a:xfrm>
              <a:off x="2276061" y="2663118"/>
              <a:ext cx="2295939" cy="2278214"/>
              <a:chOff x="6009861" y="3874936"/>
              <a:chExt cx="2295939" cy="2278214"/>
            </a:xfrm>
          </p:grpSpPr>
          <p:pic>
            <p:nvPicPr>
              <p:cNvPr id="10" name="Picture 2"/>
              <p:cNvPicPr>
                <a:picLocks noChangeAspect="1" noChangeArrowheads="1"/>
              </p:cNvPicPr>
              <p:nvPr/>
            </p:nvPicPr>
            <p:blipFill>
              <a:blip r:embed="rId4" cstate="print"/>
              <a:srcRect/>
              <a:stretch>
                <a:fillRect/>
              </a:stretch>
            </p:blipFill>
            <p:spPr bwMode="auto">
              <a:xfrm>
                <a:off x="6009861" y="3886200"/>
                <a:ext cx="2286000" cy="2266950"/>
              </a:xfrm>
              <a:prstGeom prst="rect">
                <a:avLst/>
              </a:prstGeom>
              <a:noFill/>
              <a:ln w="9525">
                <a:noFill/>
                <a:miter lim="800000"/>
                <a:headEnd/>
                <a:tailEnd/>
              </a:ln>
              <a:effectLst/>
            </p:spPr>
          </p:pic>
          <p:grpSp>
            <p:nvGrpSpPr>
              <p:cNvPr id="11" name="Group 49"/>
              <p:cNvGrpSpPr/>
              <p:nvPr/>
            </p:nvGrpSpPr>
            <p:grpSpPr>
              <a:xfrm>
                <a:off x="6086061" y="3874936"/>
                <a:ext cx="2219739" cy="2221064"/>
                <a:chOff x="675861" y="609601"/>
                <a:chExt cx="2219739" cy="2221064"/>
              </a:xfrm>
            </p:grpSpPr>
            <p:cxnSp>
              <p:nvCxnSpPr>
                <p:cNvPr id="12" name="Straight Connector 11"/>
                <p:cNvCxnSpPr/>
                <p:nvPr/>
              </p:nvCxnSpPr>
              <p:spPr>
                <a:xfrm rot="5400000">
                  <a:off x="-429701" y="1715163"/>
                  <a:ext cx="2221064" cy="9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75861" y="2820988"/>
                  <a:ext cx="2219739" cy="9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7" name="TextBox 6"/>
            <p:cNvSpPr txBox="1"/>
            <p:nvPr/>
          </p:nvSpPr>
          <p:spPr>
            <a:xfrm>
              <a:off x="3528842" y="4836230"/>
              <a:ext cx="1204176" cy="369332"/>
            </a:xfrm>
            <a:prstGeom prst="rect">
              <a:avLst/>
            </a:prstGeom>
            <a:noFill/>
          </p:spPr>
          <p:txBody>
            <a:bodyPr wrap="none" rtlCol="0">
              <a:spAutoFit/>
            </a:bodyPr>
            <a:lstStyle/>
            <a:p>
              <a:r>
                <a:rPr lang="en-US" dirty="0" smtClean="0">
                  <a:latin typeface="Times New Roman" pitchFamily="18" charset="0"/>
                  <a:cs typeface="Times New Roman" pitchFamily="18" charset="0"/>
                </a:rPr>
                <a:t>XLAB(</a:t>
              </a:r>
              <a:r>
                <a:rPr lang="en-US" dirty="0" err="1" smtClean="0">
                  <a:latin typeface="Times New Roman" pitchFamily="18" charset="0"/>
                  <a:cs typeface="Times New Roman" pitchFamily="18" charset="0"/>
                </a:rPr>
                <a:t>i,d</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8" name="TextBox 7"/>
            <p:cNvSpPr txBox="1"/>
            <p:nvPr/>
          </p:nvSpPr>
          <p:spPr>
            <a:xfrm rot="16200000">
              <a:off x="1554425" y="3015370"/>
              <a:ext cx="1191352" cy="369332"/>
            </a:xfrm>
            <a:prstGeom prst="rect">
              <a:avLst/>
            </a:prstGeom>
            <a:noFill/>
          </p:spPr>
          <p:txBody>
            <a:bodyPr wrap="none" rtlCol="0">
              <a:spAutoFit/>
            </a:bodyPr>
            <a:lstStyle/>
            <a:p>
              <a:r>
                <a:rPr lang="en-US" dirty="0" smtClean="0">
                  <a:latin typeface="Times New Roman" pitchFamily="18" charset="0"/>
                  <a:cs typeface="Times New Roman" pitchFamily="18" charset="0"/>
                </a:rPr>
                <a:t>XCAP(</a:t>
              </a:r>
              <a:r>
                <a:rPr lang="en-US" dirty="0" err="1" smtClean="0">
                  <a:latin typeface="Times New Roman" pitchFamily="18" charset="0"/>
                  <a:cs typeface="Times New Roman" pitchFamily="18" charset="0"/>
                </a:rPr>
                <a:t>i,d</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9" name="TextBox 8"/>
            <p:cNvSpPr txBox="1"/>
            <p:nvPr/>
          </p:nvSpPr>
          <p:spPr>
            <a:xfrm>
              <a:off x="3276600" y="3429000"/>
              <a:ext cx="1306768" cy="369332"/>
            </a:xfrm>
            <a:prstGeom prst="rect">
              <a:avLst/>
            </a:prstGeom>
            <a:solidFill>
              <a:schemeClr val="bg1"/>
            </a:solidFill>
          </p:spPr>
          <p:txBody>
            <a:bodyPr wrap="none" rtlCol="0">
              <a:spAutoFit/>
            </a:bodyPr>
            <a:lstStyle/>
            <a:p>
              <a:r>
                <a:rPr lang="en-US" dirty="0" smtClean="0">
                  <a:latin typeface="Times New Roman" pitchFamily="18" charset="0"/>
                  <a:cs typeface="Times New Roman" pitchFamily="18" charset="0"/>
                </a:rPr>
                <a:t>XPRIM(</a:t>
              </a:r>
              <a:r>
                <a:rPr lang="en-US" dirty="0" err="1" smtClean="0">
                  <a:latin typeface="Times New Roman" pitchFamily="18" charset="0"/>
                  <a:cs typeface="Times New Roman" pitchFamily="18" charset="0"/>
                </a:rPr>
                <a:t>i,d</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grpSp>
      <p:cxnSp>
        <p:nvCxnSpPr>
          <p:cNvPr id="15" name="Straight Connector 14"/>
          <p:cNvCxnSpPr/>
          <p:nvPr/>
        </p:nvCxnSpPr>
        <p:spPr>
          <a:xfrm>
            <a:off x="4343400" y="2971800"/>
            <a:ext cx="4419600" cy="304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629400" y="5715000"/>
            <a:ext cx="1806905" cy="369332"/>
          </a:xfrm>
          <a:prstGeom prst="rect">
            <a:avLst/>
          </a:prstGeom>
          <a:noFill/>
        </p:spPr>
        <p:txBody>
          <a:bodyPr wrap="none" rtlCol="0">
            <a:spAutoFit/>
          </a:bodyPr>
          <a:lstStyle/>
          <a:p>
            <a:r>
              <a:rPr lang="en-US" dirty="0" smtClean="0">
                <a:latin typeface="Times New Roman" pitchFamily="18" charset="0"/>
                <a:cs typeface="Times New Roman" pitchFamily="18" charset="0"/>
              </a:rPr>
              <a:t>PLAB/PCAP(</a:t>
            </a:r>
            <a:r>
              <a:rPr lang="en-US" dirty="0" err="1" smtClean="0">
                <a:latin typeface="Times New Roman" pitchFamily="18" charset="0"/>
                <a:cs typeface="Times New Roman" pitchFamily="18" charset="0"/>
              </a:rPr>
              <a:t>i,d</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cxnSp>
        <p:nvCxnSpPr>
          <p:cNvPr id="18" name="Straight Arrow Connector 17"/>
          <p:cNvCxnSpPr>
            <a:stCxn id="16" idx="0"/>
          </p:cNvCxnSpPr>
          <p:nvPr/>
        </p:nvCxnSpPr>
        <p:spPr>
          <a:xfrm rot="5400000" flipH="1" flipV="1">
            <a:off x="7614529" y="5404730"/>
            <a:ext cx="228594" cy="3919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2"/>
          <p:cNvSpPr/>
          <p:nvPr/>
        </p:nvSpPr>
        <p:spPr>
          <a:xfrm>
            <a:off x="484554" y="3622431"/>
            <a:ext cx="3583354" cy="1953845"/>
          </a:xfrm>
          <a:custGeom>
            <a:avLst/>
            <a:gdLst>
              <a:gd name="connsiteX0" fmla="*/ 1320800 w 3583354"/>
              <a:gd name="connsiteY0" fmla="*/ 58615 h 1953845"/>
              <a:gd name="connsiteX1" fmla="*/ 1250461 w 3583354"/>
              <a:gd name="connsiteY1" fmla="*/ 363415 h 1953845"/>
              <a:gd name="connsiteX2" fmla="*/ 1180123 w 3583354"/>
              <a:gd name="connsiteY2" fmla="*/ 949569 h 1953845"/>
              <a:gd name="connsiteX3" fmla="*/ 242277 w 3583354"/>
              <a:gd name="connsiteY3" fmla="*/ 1043354 h 1953845"/>
              <a:gd name="connsiteX4" fmla="*/ 31261 w 3583354"/>
              <a:gd name="connsiteY4" fmla="*/ 1441938 h 1953845"/>
              <a:gd name="connsiteX5" fmla="*/ 54708 w 3583354"/>
              <a:gd name="connsiteY5" fmla="*/ 1770184 h 1953845"/>
              <a:gd name="connsiteX6" fmla="*/ 218831 w 3583354"/>
              <a:gd name="connsiteY6" fmla="*/ 1863969 h 1953845"/>
              <a:gd name="connsiteX7" fmla="*/ 1203569 w 3583354"/>
              <a:gd name="connsiteY7" fmla="*/ 1934307 h 1953845"/>
              <a:gd name="connsiteX8" fmla="*/ 2235200 w 3583354"/>
              <a:gd name="connsiteY8" fmla="*/ 1934307 h 1953845"/>
              <a:gd name="connsiteX9" fmla="*/ 3313723 w 3583354"/>
              <a:gd name="connsiteY9" fmla="*/ 1817077 h 1953845"/>
              <a:gd name="connsiteX10" fmla="*/ 3454400 w 3583354"/>
              <a:gd name="connsiteY10" fmla="*/ 1254369 h 1953845"/>
              <a:gd name="connsiteX11" fmla="*/ 2540000 w 3583354"/>
              <a:gd name="connsiteY11" fmla="*/ 1113692 h 1953845"/>
              <a:gd name="connsiteX12" fmla="*/ 2258646 w 3583354"/>
              <a:gd name="connsiteY12" fmla="*/ 902677 h 1953845"/>
              <a:gd name="connsiteX13" fmla="*/ 2141415 w 3583354"/>
              <a:gd name="connsiteY13" fmla="*/ 527538 h 1953845"/>
              <a:gd name="connsiteX14" fmla="*/ 2141415 w 3583354"/>
              <a:gd name="connsiteY14" fmla="*/ 222738 h 1953845"/>
              <a:gd name="connsiteX15" fmla="*/ 1860061 w 3583354"/>
              <a:gd name="connsiteY15" fmla="*/ 35169 h 1953845"/>
              <a:gd name="connsiteX16" fmla="*/ 1625600 w 3583354"/>
              <a:gd name="connsiteY16" fmla="*/ 11723 h 1953845"/>
              <a:gd name="connsiteX17" fmla="*/ 1320800 w 3583354"/>
              <a:gd name="connsiteY17" fmla="*/ 58615 h 195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83354" h="1953845">
                <a:moveTo>
                  <a:pt x="1320800" y="58615"/>
                </a:moveTo>
                <a:cubicBezTo>
                  <a:pt x="1258277" y="117230"/>
                  <a:pt x="1273907" y="214923"/>
                  <a:pt x="1250461" y="363415"/>
                </a:cubicBezTo>
                <a:cubicBezTo>
                  <a:pt x="1227015" y="511907"/>
                  <a:pt x="1348154" y="836246"/>
                  <a:pt x="1180123" y="949569"/>
                </a:cubicBezTo>
                <a:cubicBezTo>
                  <a:pt x="1012092" y="1062892"/>
                  <a:pt x="433754" y="961293"/>
                  <a:pt x="242277" y="1043354"/>
                </a:cubicBezTo>
                <a:cubicBezTo>
                  <a:pt x="50800" y="1125415"/>
                  <a:pt x="62523" y="1320800"/>
                  <a:pt x="31261" y="1441938"/>
                </a:cubicBezTo>
                <a:cubicBezTo>
                  <a:pt x="0" y="1563076"/>
                  <a:pt x="23446" y="1699846"/>
                  <a:pt x="54708" y="1770184"/>
                </a:cubicBezTo>
                <a:cubicBezTo>
                  <a:pt x="85970" y="1840522"/>
                  <a:pt x="27354" y="1836615"/>
                  <a:pt x="218831" y="1863969"/>
                </a:cubicBezTo>
                <a:cubicBezTo>
                  <a:pt x="410308" y="1891323"/>
                  <a:pt x="867508" y="1922584"/>
                  <a:pt x="1203569" y="1934307"/>
                </a:cubicBezTo>
                <a:cubicBezTo>
                  <a:pt x="1539631" y="1946030"/>
                  <a:pt x="1883508" y="1953845"/>
                  <a:pt x="2235200" y="1934307"/>
                </a:cubicBezTo>
                <a:cubicBezTo>
                  <a:pt x="2586892" y="1914769"/>
                  <a:pt x="3110523" y="1930400"/>
                  <a:pt x="3313723" y="1817077"/>
                </a:cubicBezTo>
                <a:cubicBezTo>
                  <a:pt x="3516923" y="1703754"/>
                  <a:pt x="3583354" y="1371600"/>
                  <a:pt x="3454400" y="1254369"/>
                </a:cubicBezTo>
                <a:cubicBezTo>
                  <a:pt x="3325446" y="1137138"/>
                  <a:pt x="2739292" y="1172307"/>
                  <a:pt x="2540000" y="1113692"/>
                </a:cubicBezTo>
                <a:cubicBezTo>
                  <a:pt x="2340708" y="1055077"/>
                  <a:pt x="2325077" y="1000369"/>
                  <a:pt x="2258646" y="902677"/>
                </a:cubicBezTo>
                <a:cubicBezTo>
                  <a:pt x="2192215" y="804985"/>
                  <a:pt x="2160954" y="640861"/>
                  <a:pt x="2141415" y="527538"/>
                </a:cubicBezTo>
                <a:cubicBezTo>
                  <a:pt x="2121877" y="414215"/>
                  <a:pt x="2188307" y="304799"/>
                  <a:pt x="2141415" y="222738"/>
                </a:cubicBezTo>
                <a:cubicBezTo>
                  <a:pt x="2094523" y="140677"/>
                  <a:pt x="1946030" y="70338"/>
                  <a:pt x="1860061" y="35169"/>
                </a:cubicBezTo>
                <a:cubicBezTo>
                  <a:pt x="1774092" y="0"/>
                  <a:pt x="1711569" y="3908"/>
                  <a:pt x="1625600" y="11723"/>
                </a:cubicBezTo>
                <a:cubicBezTo>
                  <a:pt x="1539631" y="19538"/>
                  <a:pt x="1383323" y="0"/>
                  <a:pt x="1320800" y="58615"/>
                </a:cubicBezTo>
                <a:close/>
              </a:path>
            </a:pathLst>
          </a:custGeom>
          <a:solidFill>
            <a:srgbClr val="FFFF0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Cost minimization: Top Level</a:t>
            </a:r>
            <a:endParaRPr lang="en-US" dirty="0"/>
          </a:p>
        </p:txBody>
      </p:sp>
      <p:sp>
        <p:nvSpPr>
          <p:cNvPr id="317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 name="TextBox 4"/>
          <p:cNvSpPr txBox="1"/>
          <p:nvPr/>
        </p:nvSpPr>
        <p:spPr>
          <a:xfrm>
            <a:off x="381000" y="2819400"/>
            <a:ext cx="4230902" cy="523220"/>
          </a:xfrm>
          <a:prstGeom prst="rect">
            <a:avLst/>
          </a:prstGeom>
          <a:noFill/>
        </p:spPr>
        <p:txBody>
          <a:bodyPr wrap="none" rtlCol="0">
            <a:spAutoFit/>
          </a:bodyPr>
          <a:lstStyle/>
          <a:p>
            <a:r>
              <a:rPr lang="en-US" sz="2800" dirty="0" err="1" smtClean="0"/>
              <a:t>Solusi</a:t>
            </a:r>
            <a:r>
              <a:rPr lang="en-US" sz="2800" dirty="0" smtClean="0"/>
              <a:t> (optimum condition):</a:t>
            </a:r>
            <a:endParaRPr lang="en-US" sz="2800" dirty="0"/>
          </a:p>
        </p:txBody>
      </p:sp>
      <p:sp>
        <p:nvSpPr>
          <p:cNvPr id="3174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47" name="Object 3"/>
          <p:cNvGraphicFramePr>
            <a:graphicFrameLocks noChangeAspect="1"/>
          </p:cNvGraphicFramePr>
          <p:nvPr/>
        </p:nvGraphicFramePr>
        <p:xfrm>
          <a:off x="2743200" y="3429000"/>
          <a:ext cx="6169025" cy="470221"/>
        </p:xfrm>
        <a:graphic>
          <a:graphicData uri="http://schemas.openxmlformats.org/presentationml/2006/ole">
            <p:oleObj spid="_x0000_s31755" name="Equation" r:id="rId3" imgW="2984500" imgH="215900" progId="Equation.3">
              <p:embed/>
            </p:oleObj>
          </a:graphicData>
        </a:graphic>
      </p:graphicFrame>
      <p:sp>
        <p:nvSpPr>
          <p:cNvPr id="3175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49" name="Object 5"/>
          <p:cNvGraphicFramePr>
            <a:graphicFrameLocks noChangeAspect="1"/>
          </p:cNvGraphicFramePr>
          <p:nvPr/>
        </p:nvGraphicFramePr>
        <p:xfrm>
          <a:off x="2971800" y="4191000"/>
          <a:ext cx="5895975" cy="455133"/>
        </p:xfrm>
        <a:graphic>
          <a:graphicData uri="http://schemas.openxmlformats.org/presentationml/2006/ole">
            <p:oleObj spid="_x0000_s31756" name="Equation" r:id="rId4" imgW="2578100" imgH="203200" progId="Equation.3">
              <p:embed/>
            </p:oleObj>
          </a:graphicData>
        </a:graphic>
      </p:graphicFrame>
      <p:sp>
        <p:nvSpPr>
          <p:cNvPr id="3175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51" name="Object 7"/>
          <p:cNvGraphicFramePr>
            <a:graphicFrameLocks noChangeAspect="1"/>
          </p:cNvGraphicFramePr>
          <p:nvPr/>
        </p:nvGraphicFramePr>
        <p:xfrm>
          <a:off x="762000" y="1295400"/>
          <a:ext cx="8307388" cy="1435100"/>
        </p:xfrm>
        <a:graphic>
          <a:graphicData uri="http://schemas.openxmlformats.org/presentationml/2006/ole">
            <p:oleObj spid="_x0000_s31757" name="Equation" r:id="rId5" imgW="4851400" imgH="838200" progId="Equation.3">
              <p:embed/>
            </p:oleObj>
          </a:graphicData>
        </a:graphic>
      </p:graphicFrame>
      <p:graphicFrame>
        <p:nvGraphicFramePr>
          <p:cNvPr id="31753" name="Object 9"/>
          <p:cNvGraphicFramePr>
            <a:graphicFrameLocks noChangeAspect="1"/>
          </p:cNvGraphicFramePr>
          <p:nvPr/>
        </p:nvGraphicFramePr>
        <p:xfrm>
          <a:off x="228600" y="3733800"/>
          <a:ext cx="3886200" cy="2914650"/>
        </p:xfrm>
        <a:graphic>
          <a:graphicData uri="http://schemas.openxmlformats.org/presentationml/2006/ole">
            <p:oleObj spid="_x0000_s31758" r:id="rId6" imgW="5809298" imgH="4351973" progId="">
              <p:embed/>
            </p:oleObj>
          </a:graphicData>
        </a:graphic>
      </p:graphicFrame>
      <p:sp>
        <p:nvSpPr>
          <p:cNvPr id="31755"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54" name="Object 10"/>
          <p:cNvGraphicFramePr>
            <a:graphicFrameLocks noChangeAspect="1"/>
          </p:cNvGraphicFramePr>
          <p:nvPr/>
        </p:nvGraphicFramePr>
        <p:xfrm>
          <a:off x="4191000" y="5562600"/>
          <a:ext cx="4586288" cy="903288"/>
        </p:xfrm>
        <a:graphic>
          <a:graphicData uri="http://schemas.openxmlformats.org/presentationml/2006/ole">
            <p:oleObj spid="_x0000_s31759" name="Equation" r:id="rId7" imgW="4127500" imgH="800100" progId="Equation.3">
              <p:embed/>
            </p:oleObj>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US" dirty="0" smtClean="0"/>
              <a:t>Supplies meets Demands:</a:t>
            </a:r>
            <a:br>
              <a:rPr lang="en-US" dirty="0" smtClean="0"/>
            </a:br>
            <a:r>
              <a:rPr lang="en-US" dirty="0" smtClean="0"/>
              <a:t>MARKET CLEARING FOR Domestic COMMODITIES</a:t>
            </a:r>
            <a:endParaRPr lang="en-US" dirty="0"/>
          </a:p>
        </p:txBody>
      </p:sp>
      <p:sp>
        <p:nvSpPr>
          <p:cNvPr id="3482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819" name="Object 3"/>
          <p:cNvGraphicFramePr>
            <a:graphicFrameLocks noChangeAspect="1"/>
          </p:cNvGraphicFramePr>
          <p:nvPr/>
        </p:nvGraphicFramePr>
        <p:xfrm>
          <a:off x="457200" y="3200400"/>
          <a:ext cx="8316913" cy="778394"/>
        </p:xfrm>
        <a:graphic>
          <a:graphicData uri="http://schemas.openxmlformats.org/presentationml/2006/ole">
            <p:oleObj spid="_x0000_s34820" name="Equation" r:id="rId3" imgW="2120900" imgH="203200" progId="Equation.3">
              <p:embed/>
            </p:oleObj>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fontScale="90000"/>
          </a:bodyPr>
          <a:lstStyle/>
          <a:p>
            <a:r>
              <a:rPr lang="en-US" dirty="0" smtClean="0"/>
              <a:t>Supplies meets Demands:</a:t>
            </a:r>
            <a:br>
              <a:rPr lang="en-US" dirty="0" smtClean="0"/>
            </a:br>
            <a:r>
              <a:rPr lang="en-US" dirty="0" smtClean="0"/>
              <a:t>MARKET CLEARING FOR Domestic COMMODITIES</a:t>
            </a:r>
            <a:endParaRPr lang="en-US" dirty="0"/>
          </a:p>
        </p:txBody>
      </p:sp>
      <p:sp>
        <p:nvSpPr>
          <p:cNvPr id="3482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 name="Rectangle 6"/>
          <p:cNvSpPr/>
          <p:nvPr/>
        </p:nvSpPr>
        <p:spPr>
          <a:xfrm>
            <a:off x="990600" y="2209800"/>
            <a:ext cx="8153400" cy="4278094"/>
          </a:xfrm>
          <a:prstGeom prst="rect">
            <a:avLst/>
          </a:prstGeom>
        </p:spPr>
        <p:txBody>
          <a:bodyPr wrap="square">
            <a:spAutoFit/>
          </a:bodyPr>
          <a:lstStyle/>
          <a:p>
            <a:r>
              <a:rPr lang="en-US" sz="1600" b="1" dirty="0" smtClean="0"/>
              <a:t>Equation </a:t>
            </a:r>
            <a:r>
              <a:rPr lang="en-US" sz="1600" b="1" dirty="0" err="1" smtClean="0"/>
              <a:t>E_xtrad_d</a:t>
            </a:r>
            <a:r>
              <a:rPr lang="en-US" sz="1600" b="1" dirty="0" smtClean="0"/>
              <a:t/>
            </a:r>
            <a:br>
              <a:rPr lang="en-US" sz="1600" b="1" dirty="0" smtClean="0"/>
            </a:br>
            <a:r>
              <a:rPr lang="en-US" sz="1600" b="1" dirty="0" smtClean="0"/>
              <a:t>(</a:t>
            </a:r>
            <a:r>
              <a:rPr lang="en-US" sz="1600" b="1" dirty="0" err="1" smtClean="0"/>
              <a:t>all,c,COM</a:t>
            </a:r>
            <a:r>
              <a:rPr lang="en-US" sz="1600" b="1" dirty="0" smtClean="0"/>
              <a:t>)(</a:t>
            </a:r>
            <a:r>
              <a:rPr lang="en-US" sz="1600" b="1" dirty="0" err="1" smtClean="0"/>
              <a:t>all,s,SRC</a:t>
            </a:r>
            <a:r>
              <a:rPr lang="en-US" sz="1600" b="1" dirty="0" smtClean="0"/>
              <a:t>)(</a:t>
            </a:r>
            <a:r>
              <a:rPr lang="en-US" sz="1600" b="1" dirty="0" err="1" smtClean="0"/>
              <a:t>all,r,ORG</a:t>
            </a:r>
            <a:r>
              <a:rPr lang="en-US" sz="1600" b="1" dirty="0" smtClean="0"/>
              <a:t>) ID01(TRADE_D(</a:t>
            </a:r>
            <a:r>
              <a:rPr lang="en-US" sz="1600" b="1" dirty="0" err="1" smtClean="0"/>
              <a:t>c,s,r</a:t>
            </a:r>
            <a:r>
              <a:rPr lang="en-US" sz="1600" b="1" dirty="0" smtClean="0"/>
              <a:t>))*</a:t>
            </a:r>
            <a:r>
              <a:rPr lang="en-US" sz="1600" b="1" dirty="0" err="1" smtClean="0"/>
              <a:t>xtrad_d</a:t>
            </a:r>
            <a:r>
              <a:rPr lang="en-US" sz="1600" b="1" dirty="0" smtClean="0"/>
              <a:t>(</a:t>
            </a:r>
            <a:r>
              <a:rPr lang="en-US" sz="1600" b="1" dirty="0" err="1" smtClean="0"/>
              <a:t>c,s,r</a:t>
            </a:r>
            <a:r>
              <a:rPr lang="en-US" sz="1600" b="1" dirty="0" smtClean="0"/>
              <a:t>) =</a:t>
            </a:r>
            <a:br>
              <a:rPr lang="en-US" sz="1600" b="1" dirty="0" smtClean="0"/>
            </a:br>
            <a:r>
              <a:rPr lang="en-US" sz="1600" b="1" dirty="0" smtClean="0"/>
              <a:t>                              sum{</a:t>
            </a:r>
            <a:r>
              <a:rPr lang="en-US" sz="1600" b="1" dirty="0" err="1" smtClean="0"/>
              <a:t>d,DST</a:t>
            </a:r>
            <a:r>
              <a:rPr lang="en-US" sz="1600" b="1" dirty="0" smtClean="0"/>
              <a:t>, TRADE(</a:t>
            </a:r>
            <a:r>
              <a:rPr lang="en-US" sz="1600" b="1" dirty="0" err="1" smtClean="0"/>
              <a:t>c,s,r,d</a:t>
            </a:r>
            <a:r>
              <a:rPr lang="en-US" sz="1600" b="1" dirty="0" smtClean="0"/>
              <a:t>)*</a:t>
            </a:r>
            <a:r>
              <a:rPr lang="en-US" sz="1600" b="1" dirty="0" err="1" smtClean="0"/>
              <a:t>xtrad</a:t>
            </a:r>
            <a:r>
              <a:rPr lang="en-US" sz="1600" b="1" dirty="0" smtClean="0"/>
              <a:t>(</a:t>
            </a:r>
            <a:r>
              <a:rPr lang="en-US" sz="1600" b="1" dirty="0" err="1" smtClean="0"/>
              <a:t>c,s,r,d</a:t>
            </a:r>
            <a:r>
              <a:rPr lang="en-US" sz="1600" b="1" dirty="0" smtClean="0"/>
              <a:t>)};</a:t>
            </a:r>
            <a:br>
              <a:rPr lang="en-US" sz="1600" b="1" dirty="0" smtClean="0"/>
            </a:br>
            <a:r>
              <a:rPr lang="en-US" sz="1600" b="1" dirty="0" smtClean="0"/>
              <a:t/>
            </a:r>
            <a:br>
              <a:rPr lang="en-US" sz="1600" b="1" dirty="0" smtClean="0"/>
            </a:br>
            <a:r>
              <a:rPr lang="en-US" sz="1600" b="1" dirty="0" smtClean="0"/>
              <a:t>Equation </a:t>
            </a:r>
            <a:r>
              <a:rPr lang="en-US" sz="1600" b="1" dirty="0" err="1" smtClean="0"/>
              <a:t>E_xtrad_r</a:t>
            </a:r>
            <a:r>
              <a:rPr lang="en-US" sz="1600" b="1" dirty="0" smtClean="0"/>
              <a:t/>
            </a:r>
            <a:br>
              <a:rPr lang="en-US" sz="1600" b="1" dirty="0" smtClean="0"/>
            </a:br>
            <a:r>
              <a:rPr lang="en-US" sz="1600" b="1" dirty="0" smtClean="0"/>
              <a:t>(</a:t>
            </a:r>
            <a:r>
              <a:rPr lang="en-US" sz="1600" b="1" dirty="0" err="1" smtClean="0"/>
              <a:t>all,c,COM</a:t>
            </a:r>
            <a:r>
              <a:rPr lang="en-US" sz="1600" b="1" dirty="0" smtClean="0"/>
              <a:t>)(</a:t>
            </a:r>
            <a:r>
              <a:rPr lang="en-US" sz="1600" b="1" dirty="0" err="1" smtClean="0"/>
              <a:t>all,s,SRC</a:t>
            </a:r>
            <a:r>
              <a:rPr lang="en-US" sz="1600" b="1" dirty="0" smtClean="0"/>
              <a:t>)(</a:t>
            </a:r>
            <a:r>
              <a:rPr lang="en-US" sz="1600" b="1" dirty="0" err="1" smtClean="0"/>
              <a:t>all,d,DST</a:t>
            </a:r>
            <a:r>
              <a:rPr lang="en-US" sz="1600" b="1" dirty="0" smtClean="0"/>
              <a:t>) ID01(TRADE_R(</a:t>
            </a:r>
            <a:r>
              <a:rPr lang="en-US" sz="1600" b="1" dirty="0" err="1" smtClean="0"/>
              <a:t>c,s,d</a:t>
            </a:r>
            <a:r>
              <a:rPr lang="en-US" sz="1600" b="1" dirty="0" smtClean="0"/>
              <a:t>))*</a:t>
            </a:r>
            <a:r>
              <a:rPr lang="en-US" sz="1600" b="1" dirty="0" err="1" smtClean="0"/>
              <a:t>xtrad_r</a:t>
            </a:r>
            <a:r>
              <a:rPr lang="en-US" sz="1600" b="1" dirty="0" smtClean="0"/>
              <a:t>(</a:t>
            </a:r>
            <a:r>
              <a:rPr lang="en-US" sz="1600" b="1" dirty="0" err="1" smtClean="0"/>
              <a:t>c,s,d</a:t>
            </a:r>
            <a:r>
              <a:rPr lang="en-US" sz="1600" b="1" dirty="0" smtClean="0"/>
              <a:t>) =</a:t>
            </a:r>
            <a:br>
              <a:rPr lang="en-US" sz="1600" b="1" dirty="0" smtClean="0"/>
            </a:br>
            <a:r>
              <a:rPr lang="en-US" sz="1600" b="1" dirty="0" smtClean="0"/>
              <a:t>                              sum{</a:t>
            </a:r>
            <a:r>
              <a:rPr lang="en-US" sz="1600" b="1" dirty="0" err="1" smtClean="0"/>
              <a:t>r,ORG</a:t>
            </a:r>
            <a:r>
              <a:rPr lang="en-US" sz="1600" b="1" dirty="0" smtClean="0"/>
              <a:t>, TRADE(</a:t>
            </a:r>
            <a:r>
              <a:rPr lang="en-US" sz="1600" b="1" dirty="0" err="1" smtClean="0"/>
              <a:t>c,s,r,d</a:t>
            </a:r>
            <a:r>
              <a:rPr lang="en-US" sz="1600" b="1" dirty="0" smtClean="0"/>
              <a:t>)*</a:t>
            </a:r>
            <a:r>
              <a:rPr lang="en-US" sz="1600" b="1" dirty="0" err="1" smtClean="0"/>
              <a:t>xtrad</a:t>
            </a:r>
            <a:r>
              <a:rPr lang="en-US" sz="1600" b="1" dirty="0" smtClean="0"/>
              <a:t>(</a:t>
            </a:r>
            <a:r>
              <a:rPr lang="en-US" sz="1600" b="1" dirty="0" err="1" smtClean="0"/>
              <a:t>c,s,r,d</a:t>
            </a:r>
            <a:r>
              <a:rPr lang="en-US" sz="1600" b="1" dirty="0" smtClean="0"/>
              <a:t>)};</a:t>
            </a:r>
            <a:br>
              <a:rPr lang="en-US" sz="1600" b="1" dirty="0" smtClean="0"/>
            </a:br>
            <a:r>
              <a:rPr lang="en-US" sz="1600" b="1" dirty="0" smtClean="0"/>
              <a:t/>
            </a:r>
            <a:br>
              <a:rPr lang="en-US" sz="1600" b="1" dirty="0" smtClean="0"/>
            </a:br>
            <a:r>
              <a:rPr lang="en-US" sz="1600" b="1" dirty="0" smtClean="0"/>
              <a:t>Equation </a:t>
            </a:r>
            <a:r>
              <a:rPr lang="en-US" sz="1600" b="1" dirty="0" err="1" smtClean="0"/>
              <a:t>E_pdomA</a:t>
            </a:r>
            <a:r>
              <a:rPr lang="en-US" sz="1600" b="1" dirty="0" smtClean="0"/>
              <a:t> </a:t>
            </a:r>
            <a:r>
              <a:rPr lang="en-US" sz="1600" b="1" i="1" dirty="0" smtClean="0"/>
              <a:t># Supply = demand for non-margins #</a:t>
            </a:r>
            <a:br>
              <a:rPr lang="en-US" sz="1600" b="1" i="1" dirty="0" smtClean="0"/>
            </a:br>
            <a:r>
              <a:rPr lang="en-US" sz="1600" b="1" i="1" dirty="0" smtClean="0"/>
              <a:t> (</a:t>
            </a:r>
            <a:r>
              <a:rPr lang="en-US" sz="1600" b="1" i="1" dirty="0" err="1" smtClean="0"/>
              <a:t>all,c,NONMAR</a:t>
            </a:r>
            <a:r>
              <a:rPr lang="en-US" sz="1600" b="1" i="1" dirty="0" smtClean="0"/>
              <a:t>)(</a:t>
            </a:r>
            <a:r>
              <a:rPr lang="en-US" sz="1600" b="1" i="1" dirty="0" err="1" smtClean="0"/>
              <a:t>all,r,REG</a:t>
            </a:r>
            <a:r>
              <a:rPr lang="en-US" sz="1600" b="1" i="1" dirty="0" smtClean="0"/>
              <a:t>)</a:t>
            </a:r>
            <a:br>
              <a:rPr lang="en-US" sz="1600" b="1" i="1" dirty="0" smtClean="0"/>
            </a:br>
            <a:r>
              <a:rPr lang="en-US" sz="1600" b="1" i="1" dirty="0" smtClean="0"/>
              <a:t>   </a:t>
            </a:r>
            <a:r>
              <a:rPr lang="en-US" sz="1600" b="1" i="1" dirty="0" err="1" smtClean="0"/>
              <a:t>xcom</a:t>
            </a:r>
            <a:r>
              <a:rPr lang="en-US" sz="1600" b="1" i="1" dirty="0" smtClean="0"/>
              <a:t>(</a:t>
            </a:r>
            <a:r>
              <a:rPr lang="en-US" sz="1600" b="1" i="1" dirty="0" err="1" smtClean="0"/>
              <a:t>c,r</a:t>
            </a:r>
            <a:r>
              <a:rPr lang="en-US" sz="1600" b="1" i="1" dirty="0" smtClean="0"/>
              <a:t>) = </a:t>
            </a:r>
            <a:r>
              <a:rPr lang="en-US" sz="1600" b="1" i="1" dirty="0" err="1" smtClean="0"/>
              <a:t>xtrad_d</a:t>
            </a:r>
            <a:r>
              <a:rPr lang="en-US" sz="1600" b="1" i="1" dirty="0" smtClean="0"/>
              <a:t>(</a:t>
            </a:r>
            <a:r>
              <a:rPr lang="en-US" sz="1600" b="1" i="1" dirty="0" err="1" smtClean="0"/>
              <a:t>c,"dom",r</a:t>
            </a:r>
            <a:r>
              <a:rPr lang="en-US" sz="1600" b="1" i="1" dirty="0" smtClean="0"/>
              <a:t>);</a:t>
            </a:r>
            <a:br>
              <a:rPr lang="en-US" sz="1600" b="1" i="1" dirty="0" smtClean="0"/>
            </a:br>
            <a:r>
              <a:rPr lang="en-US" sz="1600" b="1" i="1" dirty="0" smtClean="0"/>
              <a:t/>
            </a:r>
            <a:br>
              <a:rPr lang="en-US" sz="1600" b="1" i="1" dirty="0" smtClean="0"/>
            </a:br>
            <a:r>
              <a:rPr lang="en-US" sz="1600" b="1" i="1" dirty="0" smtClean="0"/>
              <a:t>Equation </a:t>
            </a:r>
            <a:r>
              <a:rPr lang="en-US" sz="1600" b="1" i="1" dirty="0" err="1" smtClean="0"/>
              <a:t>E_pdomB</a:t>
            </a:r>
            <a:r>
              <a:rPr lang="en-US" sz="1600" b="1" i="1" dirty="0" smtClean="0"/>
              <a:t> # Demand = supply for margins #</a:t>
            </a:r>
            <a:br>
              <a:rPr lang="en-US" sz="1600" b="1" i="1" dirty="0" smtClean="0"/>
            </a:br>
            <a:r>
              <a:rPr lang="en-US" sz="1600" b="1" i="1" dirty="0" smtClean="0"/>
              <a:t> (</a:t>
            </a:r>
            <a:r>
              <a:rPr lang="en-US" sz="1600" b="1" i="1" dirty="0" err="1" smtClean="0"/>
              <a:t>all,m,MAR</a:t>
            </a:r>
            <a:r>
              <a:rPr lang="en-US" sz="1600" b="1" i="1" dirty="0" smtClean="0"/>
              <a:t>)(</a:t>
            </a:r>
            <a:r>
              <a:rPr lang="en-US" sz="1600" b="1" i="1" dirty="0" err="1" smtClean="0"/>
              <a:t>all,p,REG</a:t>
            </a:r>
            <a:r>
              <a:rPr lang="en-US" sz="1600" b="1" i="1" dirty="0" smtClean="0"/>
              <a:t>)</a:t>
            </a:r>
            <a:br>
              <a:rPr lang="en-US" sz="1600" b="1" i="1" dirty="0" smtClean="0"/>
            </a:br>
            <a:r>
              <a:rPr lang="en-US" sz="1600" b="1" i="1" dirty="0" smtClean="0"/>
              <a:t>   MAKE_I(</a:t>
            </a:r>
            <a:r>
              <a:rPr lang="en-US" sz="1600" b="1" i="1" dirty="0" err="1" smtClean="0"/>
              <a:t>m,p</a:t>
            </a:r>
            <a:r>
              <a:rPr lang="en-US" sz="1600" b="1" i="1" dirty="0" smtClean="0"/>
              <a:t>)*</a:t>
            </a:r>
            <a:r>
              <a:rPr lang="en-US" sz="1600" b="1" i="1" dirty="0" err="1" smtClean="0"/>
              <a:t>xcom</a:t>
            </a:r>
            <a:r>
              <a:rPr lang="en-US" sz="1600" b="1" i="1" dirty="0" smtClean="0"/>
              <a:t>(</a:t>
            </a:r>
            <a:r>
              <a:rPr lang="en-US" sz="1600" b="1" i="1" dirty="0" err="1" smtClean="0"/>
              <a:t>m,p</a:t>
            </a:r>
            <a:r>
              <a:rPr lang="en-US" sz="1600" b="1" i="1" dirty="0" smtClean="0"/>
              <a:t>) = TRADE_D(</a:t>
            </a:r>
            <a:r>
              <a:rPr lang="en-US" sz="1600" b="1" i="1" dirty="0" err="1" smtClean="0"/>
              <a:t>m,"dom",p</a:t>
            </a:r>
            <a:r>
              <a:rPr lang="en-US" sz="1600" b="1" i="1" dirty="0" smtClean="0"/>
              <a:t>)*</a:t>
            </a:r>
            <a:r>
              <a:rPr lang="en-US" sz="1600" b="1" i="1" dirty="0" err="1" smtClean="0"/>
              <a:t>xtrad_d</a:t>
            </a:r>
            <a:r>
              <a:rPr lang="en-US" sz="1600" b="1" i="1" dirty="0" smtClean="0"/>
              <a:t>(</a:t>
            </a:r>
            <a:r>
              <a:rPr lang="en-US" sz="1600" b="1" i="1" dirty="0" err="1" smtClean="0"/>
              <a:t>m,"dom",p</a:t>
            </a:r>
            <a:r>
              <a:rPr lang="en-US" sz="1600" b="1" i="1" dirty="0" smtClean="0"/>
              <a:t>)</a:t>
            </a:r>
            <a:br>
              <a:rPr lang="en-US" sz="1600" b="1" i="1" dirty="0" smtClean="0"/>
            </a:br>
            <a:r>
              <a:rPr lang="en-US" sz="1600" b="1" i="1" dirty="0" smtClean="0"/>
              <a:t>                          + SUPPMAR_RD(</a:t>
            </a:r>
            <a:r>
              <a:rPr lang="en-US" sz="1600" b="1" i="1" dirty="0" err="1" smtClean="0"/>
              <a:t>m,p</a:t>
            </a:r>
            <a:r>
              <a:rPr lang="en-US" sz="1600" b="1" i="1" dirty="0" smtClean="0"/>
              <a:t>)*</a:t>
            </a:r>
            <a:r>
              <a:rPr lang="en-US" sz="1600" b="1" i="1" dirty="0" err="1" smtClean="0"/>
              <a:t>xsuppmar_rd</a:t>
            </a:r>
            <a:r>
              <a:rPr lang="en-US" sz="1600" b="1" i="1" dirty="0" smtClean="0"/>
              <a:t>(</a:t>
            </a:r>
            <a:r>
              <a:rPr lang="en-US" sz="1600" b="1" i="1" dirty="0" err="1" smtClean="0"/>
              <a:t>m,p</a:t>
            </a:r>
            <a:r>
              <a:rPr lang="en-US" sz="1600" b="1" i="1" dirty="0" smtClean="0"/>
              <a:t>);</a:t>
            </a:r>
            <a:br>
              <a:rPr lang="en-US" sz="1600" b="1" i="1" dirty="0" smtClean="0"/>
            </a:br>
            <a:endParaRPr lang="en-US" sz="16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id-ID"/>
          </a:p>
        </p:txBody>
      </p:sp>
      <p:pic>
        <p:nvPicPr>
          <p:cNvPr id="103427" name="Picture 3"/>
          <p:cNvPicPr>
            <a:picLocks noChangeAspect="1" noChangeArrowheads="1"/>
          </p:cNvPicPr>
          <p:nvPr/>
        </p:nvPicPr>
        <p:blipFill>
          <a:blip r:embed="rId3" cstate="print"/>
          <a:srcRect/>
          <a:stretch>
            <a:fillRect/>
          </a:stretch>
        </p:blipFill>
        <p:spPr bwMode="auto">
          <a:xfrm>
            <a:off x="745102" y="0"/>
            <a:ext cx="4741298" cy="6858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76472B0-1460-4354-8899-4C355718E4A6}" type="slidenum">
              <a:rPr lang="en-US"/>
              <a:pPr/>
              <a:t>27</a:t>
            </a:fld>
            <a:endParaRPr lang="en-US"/>
          </a:p>
        </p:txBody>
      </p:sp>
      <p:sp>
        <p:nvSpPr>
          <p:cNvPr id="526338" name="Rectangle 2"/>
          <p:cNvSpPr>
            <a:spLocks noGrp="1" noChangeArrowheads="1"/>
          </p:cNvSpPr>
          <p:nvPr>
            <p:ph type="body" idx="1"/>
          </p:nvPr>
        </p:nvSpPr>
        <p:spPr>
          <a:xfrm>
            <a:off x="762000" y="899410"/>
            <a:ext cx="8382000" cy="5791200"/>
          </a:xfrm>
        </p:spPr>
        <p:txBody>
          <a:bodyPr/>
          <a:lstStyle/>
          <a:p>
            <a:pPr marL="0" indent="0">
              <a:buFontTx/>
              <a:buNone/>
            </a:pPr>
            <a:endParaRPr lang="en-US" sz="2400" dirty="0"/>
          </a:p>
          <a:p>
            <a:pPr marL="0" indent="0">
              <a:buFontTx/>
              <a:buNone/>
            </a:pPr>
            <a:r>
              <a:rPr lang="en-AU" sz="1800" dirty="0"/>
              <a:t>Variable</a:t>
            </a:r>
            <a:br>
              <a:rPr lang="en-AU" sz="1800" dirty="0"/>
            </a:br>
            <a:r>
              <a:rPr lang="en-AU" sz="1800" dirty="0"/>
              <a:t>(</a:t>
            </a:r>
            <a:r>
              <a:rPr lang="en-AU" sz="1800" dirty="0" err="1"/>
              <a:t>all,c,COM</a:t>
            </a:r>
            <a:r>
              <a:rPr lang="en-AU" sz="1800" dirty="0"/>
              <a:t>)(</a:t>
            </a:r>
            <a:r>
              <a:rPr lang="en-AU" sz="1800" dirty="0" err="1"/>
              <a:t>all,u,USR</a:t>
            </a:r>
            <a:r>
              <a:rPr lang="en-AU" sz="1800" dirty="0"/>
              <a:t>)(</a:t>
            </a:r>
            <a:r>
              <a:rPr lang="en-AU" sz="1800" dirty="0" err="1"/>
              <a:t>all,d,DST</a:t>
            </a:r>
            <a:r>
              <a:rPr lang="en-AU" sz="1800" dirty="0"/>
              <a:t>) </a:t>
            </a:r>
            <a:r>
              <a:rPr lang="en-AU" sz="1800" dirty="0" err="1"/>
              <a:t>ppur_s</a:t>
            </a:r>
            <a:r>
              <a:rPr lang="en-AU" sz="1800" dirty="0"/>
              <a:t>(</a:t>
            </a:r>
            <a:r>
              <a:rPr lang="en-AU" sz="1800" dirty="0" err="1"/>
              <a:t>c,u,d</a:t>
            </a:r>
            <a:r>
              <a:rPr lang="en-AU" sz="1800" dirty="0"/>
              <a:t>) </a:t>
            </a:r>
            <a:r>
              <a:rPr lang="en-AU" sz="1800" i="1" dirty="0"/>
              <a:t># User prices, average over s#</a:t>
            </a:r>
            <a:r>
              <a:rPr lang="en-AU" sz="1800" dirty="0"/>
              <a:t>;</a:t>
            </a:r>
            <a:br>
              <a:rPr lang="en-AU" sz="1800" dirty="0"/>
            </a:br>
            <a:r>
              <a:rPr lang="en-AU" sz="1800" dirty="0"/>
              <a:t>(</a:t>
            </a:r>
            <a:r>
              <a:rPr lang="en-AU" sz="1800" dirty="0" err="1"/>
              <a:t>all,c,COM</a:t>
            </a:r>
            <a:r>
              <a:rPr lang="en-AU" sz="1800" dirty="0"/>
              <a:t>)(</a:t>
            </a:r>
            <a:r>
              <a:rPr lang="en-AU" sz="1800" dirty="0" err="1"/>
              <a:t>all,i,IND</a:t>
            </a:r>
            <a:r>
              <a:rPr lang="en-AU" sz="1800" dirty="0"/>
              <a:t>)(</a:t>
            </a:r>
            <a:r>
              <a:rPr lang="en-AU" sz="1800" dirty="0" err="1"/>
              <a:t>all,d,DST</a:t>
            </a:r>
            <a:r>
              <a:rPr lang="en-AU" sz="1800" dirty="0"/>
              <a:t>)</a:t>
            </a:r>
            <a:br>
              <a:rPr lang="en-AU" sz="1800" dirty="0"/>
            </a:br>
            <a:r>
              <a:rPr lang="en-AU" sz="1800" dirty="0"/>
              <a:t>                     </a:t>
            </a:r>
            <a:r>
              <a:rPr lang="en-AU" sz="1800" dirty="0" err="1"/>
              <a:t>xint_s</a:t>
            </a:r>
            <a:r>
              <a:rPr lang="en-AU" sz="1800" dirty="0"/>
              <a:t>(</a:t>
            </a:r>
            <a:r>
              <a:rPr lang="en-AU" sz="1800" dirty="0" err="1"/>
              <a:t>c,i,d</a:t>
            </a:r>
            <a:r>
              <a:rPr lang="en-AU" sz="1800" dirty="0"/>
              <a:t>) </a:t>
            </a:r>
            <a:r>
              <a:rPr lang="en-AU" sz="1800" i="1" dirty="0"/>
              <a:t># Industry demands for </a:t>
            </a:r>
            <a:r>
              <a:rPr lang="en-AU" sz="1800" i="1" dirty="0" err="1"/>
              <a:t>dom</a:t>
            </a:r>
            <a:r>
              <a:rPr lang="en-AU" sz="1800" i="1" dirty="0"/>
              <a:t>/imp composite #</a:t>
            </a:r>
            <a:r>
              <a:rPr lang="en-AU" sz="1800" dirty="0"/>
              <a:t>;</a:t>
            </a:r>
            <a:br>
              <a:rPr lang="en-AU" sz="1800" dirty="0"/>
            </a:br>
            <a:r>
              <a:rPr lang="en-AU" sz="1800" dirty="0"/>
              <a:t>Equation</a:t>
            </a:r>
            <a:br>
              <a:rPr lang="en-AU" sz="1800" dirty="0"/>
            </a:br>
            <a:r>
              <a:rPr lang="en-AU" sz="1800" dirty="0"/>
              <a:t> </a:t>
            </a:r>
            <a:r>
              <a:rPr lang="en-AU" sz="1800" dirty="0" err="1"/>
              <a:t>E_ppur_s</a:t>
            </a:r>
            <a:r>
              <a:rPr lang="en-AU" sz="1800" dirty="0"/>
              <a:t/>
            </a:r>
            <a:br>
              <a:rPr lang="en-AU" sz="1800" dirty="0"/>
            </a:br>
            <a:r>
              <a:rPr lang="en-AU" sz="1800" dirty="0"/>
              <a:t>(</a:t>
            </a:r>
            <a:r>
              <a:rPr lang="en-AU" sz="1800" dirty="0" err="1"/>
              <a:t>all,c,COM</a:t>
            </a:r>
            <a:r>
              <a:rPr lang="en-AU" sz="1800" dirty="0"/>
              <a:t>)(</a:t>
            </a:r>
            <a:r>
              <a:rPr lang="en-AU" sz="1800" dirty="0" err="1"/>
              <a:t>all,u,USR</a:t>
            </a:r>
            <a:r>
              <a:rPr lang="en-AU" sz="1800" dirty="0"/>
              <a:t>)(</a:t>
            </a:r>
            <a:r>
              <a:rPr lang="en-AU" sz="1800" dirty="0" err="1"/>
              <a:t>all,d,DST</a:t>
            </a:r>
            <a:r>
              <a:rPr lang="en-AU" sz="1800" dirty="0"/>
              <a:t>)</a:t>
            </a:r>
            <a:br>
              <a:rPr lang="en-AU" sz="1800" dirty="0"/>
            </a:br>
            <a:r>
              <a:rPr lang="en-AU" sz="1800" dirty="0"/>
              <a:t>          </a:t>
            </a:r>
            <a:r>
              <a:rPr lang="en-AU" sz="1800" dirty="0" err="1"/>
              <a:t>ppur_s</a:t>
            </a:r>
            <a:r>
              <a:rPr lang="en-AU" sz="1800" dirty="0"/>
              <a:t>(</a:t>
            </a:r>
            <a:r>
              <a:rPr lang="en-AU" sz="1800" dirty="0" err="1"/>
              <a:t>c,u,d</a:t>
            </a:r>
            <a:r>
              <a:rPr lang="en-AU" sz="1800" dirty="0"/>
              <a:t>) = sum{</a:t>
            </a:r>
            <a:r>
              <a:rPr lang="en-AU" sz="1800" dirty="0" err="1"/>
              <a:t>s,SRC,SRCSHR</a:t>
            </a:r>
            <a:r>
              <a:rPr lang="en-AU" sz="1800" dirty="0"/>
              <a:t>(</a:t>
            </a:r>
            <a:r>
              <a:rPr lang="en-AU" sz="1800" dirty="0" err="1"/>
              <a:t>c,s,u,d</a:t>
            </a:r>
            <a:r>
              <a:rPr lang="en-AU" sz="1800" dirty="0"/>
              <a:t>)*</a:t>
            </a:r>
            <a:r>
              <a:rPr lang="en-AU" sz="1800" dirty="0" err="1"/>
              <a:t>ppur</a:t>
            </a:r>
            <a:r>
              <a:rPr lang="en-AU" sz="1800" dirty="0"/>
              <a:t>(</a:t>
            </a:r>
            <a:r>
              <a:rPr lang="en-AU" sz="1800" dirty="0" err="1"/>
              <a:t>c,s,u,d</a:t>
            </a:r>
            <a:r>
              <a:rPr lang="en-AU" sz="1800" dirty="0"/>
              <a:t>)};</a:t>
            </a:r>
          </a:p>
          <a:p>
            <a:pPr marL="0" indent="0">
              <a:buFontTx/>
              <a:buNone/>
            </a:pPr>
            <a:r>
              <a:rPr lang="en-AU" sz="1800" dirty="0"/>
              <a:t/>
            </a:r>
            <a:br>
              <a:rPr lang="en-AU" sz="1800" dirty="0"/>
            </a:br>
            <a:r>
              <a:rPr lang="en-AU" sz="1800" dirty="0" err="1"/>
              <a:t>E_xint</a:t>
            </a:r>
            <a:r>
              <a:rPr lang="en-AU" sz="1800" dirty="0"/>
              <a:t> (</a:t>
            </a:r>
            <a:r>
              <a:rPr lang="en-AU" sz="1800" dirty="0" err="1"/>
              <a:t>all,c,COM</a:t>
            </a:r>
            <a:r>
              <a:rPr lang="en-AU" sz="1800" dirty="0"/>
              <a:t>)(</a:t>
            </a:r>
            <a:r>
              <a:rPr lang="en-AU" sz="1800" dirty="0" err="1"/>
              <a:t>all,s,SRC</a:t>
            </a:r>
            <a:r>
              <a:rPr lang="en-AU" sz="1800" dirty="0"/>
              <a:t>)(</a:t>
            </a:r>
            <a:r>
              <a:rPr lang="en-AU" sz="1800" dirty="0" err="1"/>
              <a:t>all,i,IND</a:t>
            </a:r>
            <a:r>
              <a:rPr lang="en-AU" sz="1800" dirty="0"/>
              <a:t>)(</a:t>
            </a:r>
            <a:r>
              <a:rPr lang="en-AU" sz="1800" dirty="0" err="1"/>
              <a:t>all,d,DST</a:t>
            </a:r>
            <a:r>
              <a:rPr lang="en-AU" sz="1800" dirty="0"/>
              <a:t>)</a:t>
            </a:r>
            <a:br>
              <a:rPr lang="en-AU" sz="1800" dirty="0"/>
            </a:br>
            <a:r>
              <a:rPr lang="en-AU" sz="1800" dirty="0" err="1"/>
              <a:t>xint</a:t>
            </a:r>
            <a:r>
              <a:rPr lang="en-AU" sz="1800" dirty="0"/>
              <a:t>(</a:t>
            </a:r>
            <a:r>
              <a:rPr lang="en-AU" sz="1800" dirty="0" err="1"/>
              <a:t>c,s,i,d</a:t>
            </a:r>
            <a:r>
              <a:rPr lang="en-AU" sz="1800" dirty="0"/>
              <a:t>) = </a:t>
            </a:r>
            <a:r>
              <a:rPr lang="en-AU" sz="1800" dirty="0" err="1"/>
              <a:t>xint_s</a:t>
            </a:r>
            <a:r>
              <a:rPr lang="en-AU" sz="1800" dirty="0"/>
              <a:t>(</a:t>
            </a:r>
            <a:r>
              <a:rPr lang="en-AU" sz="1800" dirty="0" err="1"/>
              <a:t>c,i,d</a:t>
            </a:r>
            <a:r>
              <a:rPr lang="en-AU" sz="1800" dirty="0"/>
              <a:t>) - SIGMADOMIMP(c)*[</a:t>
            </a:r>
            <a:r>
              <a:rPr lang="en-AU" sz="1800" dirty="0" err="1"/>
              <a:t>ppur</a:t>
            </a:r>
            <a:r>
              <a:rPr lang="en-AU" sz="1800" dirty="0"/>
              <a:t>(</a:t>
            </a:r>
            <a:r>
              <a:rPr lang="en-AU" sz="1800" dirty="0" err="1"/>
              <a:t>c,s,i,d</a:t>
            </a:r>
            <a:r>
              <a:rPr lang="en-AU" sz="1800" dirty="0"/>
              <a:t>)-</a:t>
            </a:r>
            <a:r>
              <a:rPr lang="en-AU" sz="1800" dirty="0" err="1"/>
              <a:t>ppur_s</a:t>
            </a:r>
            <a:r>
              <a:rPr lang="en-AU" sz="1800" dirty="0"/>
              <a:t>(</a:t>
            </a:r>
            <a:r>
              <a:rPr lang="en-AU" sz="1800" dirty="0" err="1"/>
              <a:t>c,i,d</a:t>
            </a:r>
            <a:r>
              <a:rPr lang="en-AU" sz="1800" dirty="0"/>
              <a:t>)];</a:t>
            </a:r>
            <a:br>
              <a:rPr lang="en-AU" sz="1800" dirty="0"/>
            </a:br>
            <a:endParaRPr lang="en-AU" sz="1800" dirty="0"/>
          </a:p>
          <a:p>
            <a:pPr marL="0" indent="0" algn="r">
              <a:buFontTx/>
              <a:buNone/>
            </a:pPr>
            <a:r>
              <a:rPr lang="en-AU" sz="1800" dirty="0">
                <a:solidFill>
                  <a:srgbClr val="FF0000"/>
                </a:solidFill>
              </a:rPr>
              <a:t>		</a:t>
            </a:r>
            <a:r>
              <a:rPr lang="en-AU" sz="1800" dirty="0" err="1">
                <a:solidFill>
                  <a:srgbClr val="0000CC"/>
                </a:solidFill>
              </a:rPr>
              <a:t>x</a:t>
            </a:r>
            <a:r>
              <a:rPr lang="en-AU" sz="1800" baseline="-25000" dirty="0" err="1">
                <a:solidFill>
                  <a:srgbClr val="0000CC"/>
                </a:solidFill>
              </a:rPr>
              <a:t>s</a:t>
            </a:r>
            <a:r>
              <a:rPr lang="en-AU" sz="1800" baseline="-25000" dirty="0">
                <a:solidFill>
                  <a:srgbClr val="0000CC"/>
                </a:solidFill>
              </a:rPr>
              <a:t> </a:t>
            </a:r>
            <a:r>
              <a:rPr lang="en-AU" sz="1800" dirty="0">
                <a:solidFill>
                  <a:srgbClr val="0000CC"/>
                </a:solidFill>
              </a:rPr>
              <a:t> = </a:t>
            </a:r>
            <a:r>
              <a:rPr lang="en-AU" sz="1800" dirty="0" err="1">
                <a:solidFill>
                  <a:srgbClr val="0000CC"/>
                </a:solidFill>
              </a:rPr>
              <a:t>x</a:t>
            </a:r>
            <a:r>
              <a:rPr lang="en-AU" sz="1800" baseline="-25000" dirty="0" err="1">
                <a:solidFill>
                  <a:srgbClr val="0000CC"/>
                </a:solidFill>
              </a:rPr>
              <a:t>average</a:t>
            </a:r>
            <a:r>
              <a:rPr lang="en-AU" sz="1800" dirty="0">
                <a:solidFill>
                  <a:srgbClr val="0000CC"/>
                </a:solidFill>
              </a:rPr>
              <a:t> - s[</a:t>
            </a:r>
            <a:r>
              <a:rPr lang="en-AU" sz="1800" dirty="0" err="1">
                <a:solidFill>
                  <a:srgbClr val="0000CC"/>
                </a:solidFill>
              </a:rPr>
              <a:t>p</a:t>
            </a:r>
            <a:r>
              <a:rPr lang="en-AU" sz="1800" baseline="-25000" dirty="0" err="1">
                <a:solidFill>
                  <a:srgbClr val="0000CC"/>
                </a:solidFill>
              </a:rPr>
              <a:t>s</a:t>
            </a:r>
            <a:r>
              <a:rPr lang="en-AU" sz="1800" baseline="-25000" dirty="0">
                <a:solidFill>
                  <a:srgbClr val="0000CC"/>
                </a:solidFill>
              </a:rPr>
              <a:t> </a:t>
            </a:r>
            <a:r>
              <a:rPr lang="en-AU" sz="1800" dirty="0">
                <a:solidFill>
                  <a:srgbClr val="0000CC"/>
                </a:solidFill>
              </a:rPr>
              <a:t> - </a:t>
            </a:r>
            <a:r>
              <a:rPr lang="en-AU" sz="1800" dirty="0" err="1">
                <a:solidFill>
                  <a:srgbClr val="0000CC"/>
                </a:solidFill>
              </a:rPr>
              <a:t>p</a:t>
            </a:r>
            <a:r>
              <a:rPr lang="en-AU" sz="1800" baseline="-25000" dirty="0" err="1">
                <a:solidFill>
                  <a:srgbClr val="0000CC"/>
                </a:solidFill>
              </a:rPr>
              <a:t>average</a:t>
            </a:r>
            <a:r>
              <a:rPr lang="en-AU" sz="1800" dirty="0">
                <a:solidFill>
                  <a:srgbClr val="0000CC"/>
                </a:solidFill>
              </a:rPr>
              <a:t>]</a:t>
            </a:r>
          </a:p>
          <a:p>
            <a:pPr marL="0" indent="0" algn="r">
              <a:lnSpc>
                <a:spcPct val="120000"/>
              </a:lnSpc>
              <a:spcAft>
                <a:spcPct val="20000"/>
              </a:spcAft>
              <a:buFontTx/>
              <a:buNone/>
            </a:pPr>
            <a:r>
              <a:rPr lang="en-AU" sz="2800" dirty="0">
                <a:solidFill>
                  <a:srgbClr val="0000CC"/>
                </a:solidFill>
              </a:rPr>
              <a:t>		</a:t>
            </a:r>
            <a:r>
              <a:rPr lang="en-AU" sz="2800" dirty="0" err="1">
                <a:solidFill>
                  <a:srgbClr val="0000CC"/>
                </a:solidFill>
              </a:rPr>
              <a:t>p</a:t>
            </a:r>
            <a:r>
              <a:rPr lang="en-AU" sz="2800" baseline="-25000" dirty="0" err="1">
                <a:solidFill>
                  <a:srgbClr val="0000CC"/>
                </a:solidFill>
              </a:rPr>
              <a:t>average</a:t>
            </a:r>
            <a:r>
              <a:rPr lang="en-AU" sz="2800" dirty="0">
                <a:solidFill>
                  <a:srgbClr val="0000CC"/>
                </a:solidFill>
              </a:rPr>
              <a:t> = </a:t>
            </a:r>
            <a:r>
              <a:rPr lang="en-AU" sz="3600" dirty="0">
                <a:solidFill>
                  <a:srgbClr val="0000CC"/>
                </a:solidFill>
                <a:latin typeface="Symbol" pitchFamily="18" charset="2"/>
              </a:rPr>
              <a:t>S</a:t>
            </a:r>
            <a:r>
              <a:rPr lang="en-AU" sz="2800" dirty="0">
                <a:solidFill>
                  <a:srgbClr val="0000CC"/>
                </a:solidFill>
              </a:rPr>
              <a:t>S</a:t>
            </a:r>
            <a:r>
              <a:rPr lang="en-AU" sz="2800" baseline="-25000" dirty="0">
                <a:solidFill>
                  <a:srgbClr val="0000CC"/>
                </a:solidFill>
              </a:rPr>
              <a:t>s</a:t>
            </a:r>
            <a:r>
              <a:rPr lang="en-AU" sz="2800" dirty="0">
                <a:solidFill>
                  <a:srgbClr val="0000CC"/>
                </a:solidFill>
              </a:rPr>
              <a:t>.[</a:t>
            </a:r>
            <a:r>
              <a:rPr lang="en-AU" sz="2800" dirty="0" err="1">
                <a:solidFill>
                  <a:srgbClr val="0000CC"/>
                </a:solidFill>
              </a:rPr>
              <a:t>p</a:t>
            </a:r>
            <a:r>
              <a:rPr lang="en-AU" sz="2800" baseline="-25000" dirty="0" err="1">
                <a:solidFill>
                  <a:srgbClr val="0000CC"/>
                </a:solidFill>
              </a:rPr>
              <a:t>s</a:t>
            </a:r>
            <a:r>
              <a:rPr lang="en-AU" sz="2800" baseline="-25000" dirty="0">
                <a:solidFill>
                  <a:srgbClr val="0000CC"/>
                </a:solidFill>
              </a:rPr>
              <a:t> </a:t>
            </a:r>
            <a:r>
              <a:rPr lang="en-AU" sz="2800" dirty="0">
                <a:solidFill>
                  <a:srgbClr val="0000CC"/>
                </a:solidFill>
              </a:rPr>
              <a:t>]</a:t>
            </a:r>
          </a:p>
          <a:p>
            <a:pPr marL="0" indent="0" algn="r">
              <a:lnSpc>
                <a:spcPct val="120000"/>
              </a:lnSpc>
              <a:spcAft>
                <a:spcPct val="20000"/>
              </a:spcAft>
              <a:buFontTx/>
              <a:buNone/>
            </a:pPr>
            <a:r>
              <a:rPr lang="en-AU" sz="2800" dirty="0">
                <a:solidFill>
                  <a:srgbClr val="0000CC"/>
                </a:solidFill>
              </a:rPr>
              <a:t>SAME FOR HOU AND INV USERS</a:t>
            </a:r>
            <a:endParaRPr lang="en-US" sz="2400" b="0" dirty="0">
              <a:solidFill>
                <a:srgbClr val="0000CC"/>
              </a:solidFill>
            </a:endParaRPr>
          </a:p>
          <a:p>
            <a:pPr marL="0" indent="0" algn="r">
              <a:buFontTx/>
              <a:buNone/>
            </a:pPr>
            <a:endParaRPr lang="en-US" sz="2400" b="0" dirty="0"/>
          </a:p>
        </p:txBody>
      </p:sp>
      <p:sp>
        <p:nvSpPr>
          <p:cNvPr id="526339" name="Rectangle 3"/>
          <p:cNvSpPr>
            <a:spLocks noGrp="1" noChangeArrowheads="1"/>
          </p:cNvSpPr>
          <p:nvPr>
            <p:ph type="title"/>
          </p:nvPr>
        </p:nvSpPr>
        <p:spPr>
          <a:xfrm>
            <a:off x="609600" y="228600"/>
            <a:ext cx="7772400" cy="685800"/>
          </a:xfrm>
        </p:spPr>
        <p:txBody>
          <a:bodyPr/>
          <a:lstStyle/>
          <a:p>
            <a:r>
              <a:rPr lang="en-US" sz="3000" dirty="0">
                <a:latin typeface="Tahoma" pitchFamily="34" charset="0"/>
              </a:rPr>
              <a:t>Intermediate Sourcing</a:t>
            </a:r>
          </a:p>
        </p:txBody>
      </p:sp>
      <p:pic>
        <p:nvPicPr>
          <p:cNvPr id="5" name="Picture 3"/>
          <p:cNvPicPr>
            <a:picLocks noChangeAspect="1" noChangeArrowheads="1"/>
          </p:cNvPicPr>
          <p:nvPr/>
        </p:nvPicPr>
        <p:blipFill>
          <a:blip r:embed="rId3" cstate="print"/>
          <a:srcRect r="3571" b="76666"/>
          <a:stretch>
            <a:fillRect/>
          </a:stretch>
        </p:blipFill>
        <p:spPr bwMode="auto">
          <a:xfrm>
            <a:off x="8022" y="5029203"/>
            <a:ext cx="5225134" cy="182879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564C9F42-0AE9-4AF8-98B9-E24BC3BE433F}" type="slidenum">
              <a:rPr lang="en-US"/>
              <a:pPr/>
              <a:t>28</a:t>
            </a:fld>
            <a:endParaRPr lang="en-US"/>
          </a:p>
        </p:txBody>
      </p:sp>
      <p:sp>
        <p:nvSpPr>
          <p:cNvPr id="583682" name="Rectangle 2"/>
          <p:cNvSpPr>
            <a:spLocks noGrp="1" noChangeArrowheads="1"/>
          </p:cNvSpPr>
          <p:nvPr>
            <p:ph type="title"/>
          </p:nvPr>
        </p:nvSpPr>
        <p:spPr>
          <a:xfrm>
            <a:off x="0" y="0"/>
            <a:ext cx="9144000" cy="800100"/>
          </a:xfrm>
          <a:noFill/>
        </p:spPr>
        <p:txBody>
          <a:bodyPr/>
          <a:lstStyle/>
          <a:p>
            <a:r>
              <a:rPr lang="en-AU" sz="3200">
                <a:latin typeface="Tahoma" pitchFamily="34" charset="0"/>
              </a:rPr>
              <a:t>Regional sourcing of goods</a:t>
            </a:r>
            <a:endParaRPr lang="en-US" sz="3200">
              <a:latin typeface="Tahoma" pitchFamily="34" charset="0"/>
            </a:endParaRPr>
          </a:p>
        </p:txBody>
      </p:sp>
      <p:graphicFrame>
        <p:nvGraphicFramePr>
          <p:cNvPr id="827392" name="Object 1024"/>
          <p:cNvGraphicFramePr>
            <a:graphicFrameLocks noChangeAspect="1"/>
          </p:cNvGraphicFramePr>
          <p:nvPr/>
        </p:nvGraphicFramePr>
        <p:xfrm>
          <a:off x="609600" y="533400"/>
          <a:ext cx="7708900" cy="3186112"/>
        </p:xfrm>
        <a:graphic>
          <a:graphicData uri="http://schemas.openxmlformats.org/presentationml/2006/ole">
            <p:oleObj spid="_x0000_s57347" name="ABC FlowCharter" r:id="rId4" imgW="5989320" imgH="2474595" progId="">
              <p:embed/>
            </p:oleObj>
          </a:graphicData>
        </a:graphic>
      </p:graphicFrame>
      <p:sp>
        <p:nvSpPr>
          <p:cNvPr id="583684" name="Rectangle 4"/>
          <p:cNvSpPr>
            <a:spLocks noChangeArrowheads="1"/>
          </p:cNvSpPr>
          <p:nvPr/>
        </p:nvSpPr>
        <p:spPr bwMode="auto">
          <a:xfrm>
            <a:off x="6997700" y="1257300"/>
            <a:ext cx="2146300" cy="1333500"/>
          </a:xfrm>
          <a:prstGeom prst="rect">
            <a:avLst/>
          </a:prstGeom>
          <a:noFill/>
          <a:ln w="9525">
            <a:noFill/>
            <a:miter lim="800000"/>
            <a:headEnd/>
            <a:tailEnd/>
          </a:ln>
          <a:effectLst/>
        </p:spPr>
        <p:txBody>
          <a:bodyPr anchor="ctr"/>
          <a:lstStyle/>
          <a:p>
            <a:pPr algn="l"/>
            <a:r>
              <a:rPr lang="en-AU" sz="1800" b="1">
                <a:solidFill>
                  <a:srgbClr val="CC3300"/>
                </a:solidFill>
                <a:latin typeface="Arial" charset="0"/>
              </a:rPr>
              <a:t>Choosing between Dom from different regions</a:t>
            </a:r>
            <a:endParaRPr lang="en-US" sz="1600" b="1">
              <a:solidFill>
                <a:srgbClr val="CC3300"/>
              </a:solidFill>
              <a:latin typeface="Arial" charset="0"/>
            </a:endParaRPr>
          </a:p>
        </p:txBody>
      </p:sp>
      <p:sp>
        <p:nvSpPr>
          <p:cNvPr id="583685" name="Rectangle 5"/>
          <p:cNvSpPr>
            <a:spLocks noGrp="1" noChangeArrowheads="1"/>
          </p:cNvSpPr>
          <p:nvPr>
            <p:ph type="body" idx="1"/>
          </p:nvPr>
        </p:nvSpPr>
        <p:spPr>
          <a:xfrm>
            <a:off x="0" y="3898900"/>
            <a:ext cx="9144000" cy="2959100"/>
          </a:xfrm>
          <a:noFill/>
          <a:ln/>
        </p:spPr>
        <p:txBody>
          <a:bodyPr>
            <a:normAutofit lnSpcReduction="10000"/>
          </a:bodyPr>
          <a:lstStyle/>
          <a:p>
            <a:pPr marL="0" indent="0">
              <a:buFontTx/>
              <a:buNone/>
            </a:pPr>
            <a:r>
              <a:rPr lang="en-US" sz="2000" b="1" dirty="0" smtClean="0"/>
              <a:t>Equation </a:t>
            </a:r>
            <a:r>
              <a:rPr lang="en-US" sz="2000" b="1" dirty="0" err="1" smtClean="0"/>
              <a:t>E_puse</a:t>
            </a:r>
            <a:r>
              <a:rPr lang="en-US" sz="2000" b="1" dirty="0" smtClean="0"/>
              <a:t> </a:t>
            </a:r>
            <a:r>
              <a:rPr lang="en-US" sz="2000" b="1" i="1" dirty="0" smtClean="0"/>
              <a:t># Delivered price of regional composite good </a:t>
            </a:r>
            <a:r>
              <a:rPr lang="en-US" sz="2000" b="1" i="1" dirty="0" err="1" smtClean="0"/>
              <a:t>c,s</a:t>
            </a:r>
            <a:r>
              <a:rPr lang="en-US" sz="2000" b="1" i="1" dirty="0" smtClean="0"/>
              <a:t> to d #</a:t>
            </a:r>
            <a:br>
              <a:rPr lang="en-US" sz="2000" b="1" i="1" dirty="0" smtClean="0"/>
            </a:br>
            <a:r>
              <a:rPr lang="en-US" sz="2000" b="1" i="1" dirty="0" smtClean="0"/>
              <a:t> (</a:t>
            </a:r>
            <a:r>
              <a:rPr lang="en-US" sz="2000" b="1" i="1" dirty="0" err="1" smtClean="0"/>
              <a:t>all,c,COM</a:t>
            </a:r>
            <a:r>
              <a:rPr lang="en-US" sz="2000" b="1" i="1" dirty="0" smtClean="0"/>
              <a:t>)(</a:t>
            </a:r>
            <a:r>
              <a:rPr lang="en-US" sz="2000" b="1" i="1" dirty="0" err="1" smtClean="0"/>
              <a:t>all,s,SRC</a:t>
            </a:r>
            <a:r>
              <a:rPr lang="en-US" sz="2000" b="1" i="1" dirty="0" smtClean="0"/>
              <a:t>)(</a:t>
            </a:r>
            <a:r>
              <a:rPr lang="en-US" sz="2000" b="1" i="1" dirty="0" err="1" smtClean="0"/>
              <a:t>all,d,DST</a:t>
            </a:r>
            <a:r>
              <a:rPr lang="en-US" sz="2000" b="1" i="1" dirty="0" smtClean="0"/>
              <a:t>)</a:t>
            </a:r>
            <a:br>
              <a:rPr lang="en-US" sz="2000" b="1" i="1" dirty="0" smtClean="0"/>
            </a:br>
            <a:r>
              <a:rPr lang="en-US" sz="2000" b="1" i="1" dirty="0" smtClean="0"/>
              <a:t>  ID01(DELIVRD_R(</a:t>
            </a:r>
            <a:r>
              <a:rPr lang="en-US" sz="2000" b="1" i="1" dirty="0" err="1" smtClean="0"/>
              <a:t>c,s,d</a:t>
            </a:r>
            <a:r>
              <a:rPr lang="en-US" sz="2000" b="1" i="1" dirty="0" smtClean="0"/>
              <a:t>))*</a:t>
            </a:r>
            <a:r>
              <a:rPr lang="en-US" sz="2000" b="1" i="1" dirty="0" err="1" smtClean="0"/>
              <a:t>puse</a:t>
            </a:r>
            <a:r>
              <a:rPr lang="en-US" sz="2000" b="1" i="1" dirty="0" smtClean="0"/>
              <a:t>(</a:t>
            </a:r>
            <a:r>
              <a:rPr lang="en-US" sz="2000" b="1" i="1" dirty="0" err="1" smtClean="0"/>
              <a:t>c,s,d</a:t>
            </a:r>
            <a:r>
              <a:rPr lang="en-US" sz="2000" b="1" i="1" dirty="0" smtClean="0"/>
              <a:t>) ! CES price index !</a:t>
            </a:r>
            <a:br>
              <a:rPr lang="en-US" sz="2000" b="1" i="1" dirty="0" smtClean="0"/>
            </a:br>
            <a:r>
              <a:rPr lang="en-US" sz="2000" b="1" i="1" dirty="0" smtClean="0"/>
              <a:t>            = sum{</a:t>
            </a:r>
            <a:r>
              <a:rPr lang="en-US" sz="2000" b="1" i="1" dirty="0" err="1" smtClean="0"/>
              <a:t>r,ORG,DELIVRD</a:t>
            </a:r>
            <a:r>
              <a:rPr lang="en-US" sz="2000" b="1" i="1" dirty="0" smtClean="0"/>
              <a:t>(</a:t>
            </a:r>
            <a:r>
              <a:rPr lang="en-US" sz="2000" b="1" i="1" dirty="0" err="1" smtClean="0"/>
              <a:t>c,s,r,d</a:t>
            </a:r>
            <a:r>
              <a:rPr lang="en-US" sz="2000" b="1" i="1" dirty="0" smtClean="0"/>
              <a:t>)*[</a:t>
            </a:r>
            <a:r>
              <a:rPr lang="en-US" sz="2000" b="1" i="1" dirty="0" err="1" smtClean="0"/>
              <a:t>pdelivrd</a:t>
            </a:r>
            <a:r>
              <a:rPr lang="en-US" sz="2000" b="1" i="1" dirty="0" smtClean="0"/>
              <a:t>(</a:t>
            </a:r>
            <a:r>
              <a:rPr lang="en-US" sz="2000" b="1" i="1" dirty="0" err="1" smtClean="0"/>
              <a:t>c,s,r,d</a:t>
            </a:r>
            <a:r>
              <a:rPr lang="en-US" sz="2000" b="1" i="1" dirty="0" smtClean="0"/>
              <a:t>)+</a:t>
            </a:r>
            <a:r>
              <a:rPr lang="en-US" sz="2000" b="1" i="1" dirty="0" err="1" smtClean="0"/>
              <a:t>atrad</a:t>
            </a:r>
            <a:r>
              <a:rPr lang="en-US" sz="2000" b="1" i="1" dirty="0" smtClean="0"/>
              <a:t>(</a:t>
            </a:r>
            <a:r>
              <a:rPr lang="en-US" sz="2000" b="1" i="1" dirty="0" err="1" smtClean="0"/>
              <a:t>c,s,r,d</a:t>
            </a:r>
            <a:r>
              <a:rPr lang="en-US" sz="2000" b="1" i="1" dirty="0" smtClean="0"/>
              <a:t>)]};</a:t>
            </a:r>
            <a:br>
              <a:rPr lang="en-US" sz="2000" b="1" i="1" dirty="0" smtClean="0"/>
            </a:br>
            <a:r>
              <a:rPr lang="en-US" sz="2000" b="1" i="1" dirty="0" smtClean="0"/>
              <a:t> </a:t>
            </a:r>
            <a:r>
              <a:rPr lang="en-AU" sz="2000" dirty="0"/>
              <a:t/>
            </a:r>
            <a:br>
              <a:rPr lang="en-AU" sz="2000" dirty="0"/>
            </a:br>
            <a:r>
              <a:rPr lang="id-ID" sz="2000" b="1" dirty="0" smtClean="0"/>
              <a:t> Equation E_xtrad </a:t>
            </a:r>
            <a:r>
              <a:rPr lang="id-ID" sz="2000" b="1" i="1" dirty="0" smtClean="0"/>
              <a:t># CES between goods from different regions #</a:t>
            </a:r>
            <a:br>
              <a:rPr lang="id-ID" sz="2000" b="1" i="1" dirty="0" smtClean="0"/>
            </a:br>
            <a:r>
              <a:rPr lang="id-ID" sz="2000" b="1" i="1" dirty="0" smtClean="0"/>
              <a:t> (all,c,COM)(all,s,SRC)(all,r,ORG)(all,d,DST)  </a:t>
            </a:r>
            <a:br>
              <a:rPr lang="id-ID" sz="2000" b="1" i="1" dirty="0" smtClean="0"/>
            </a:br>
            <a:r>
              <a:rPr lang="id-ID" sz="2000" b="1" i="1" dirty="0" smtClean="0"/>
              <a:t>  xtrad(c,s,r,d) - atrad(c,s,r,d) = xuse(c,s,d)</a:t>
            </a:r>
            <a:br>
              <a:rPr lang="id-ID" sz="2000" b="1" i="1" dirty="0" smtClean="0"/>
            </a:br>
            <a:r>
              <a:rPr lang="id-ID" sz="2000" b="1" i="1" dirty="0" smtClean="0"/>
              <a:t>            - SIGMADOMDOM(c)*[pdelivrd(c,s,r,d)+atrad(c,s,r,d)-puse(c,s,d)];</a:t>
            </a:r>
            <a:br>
              <a:rPr lang="id-ID" sz="2000" b="1" i="1" dirty="0" smtClean="0"/>
            </a:b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3066</TotalTime>
  <Words>883</Words>
  <Application>Microsoft Office PowerPoint</Application>
  <PresentationFormat>On-screen Show (4:3)</PresentationFormat>
  <Paragraphs>120</Paragraphs>
  <Slides>28</Slides>
  <Notes>4</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28</vt:i4>
      </vt:variant>
    </vt:vector>
  </HeadingPairs>
  <TitlesOfParts>
    <vt:vector size="31" baseType="lpstr">
      <vt:lpstr>Office Theme</vt:lpstr>
      <vt:lpstr>Equation</vt:lpstr>
      <vt:lpstr>ABC FlowCharter</vt:lpstr>
      <vt:lpstr>IndoTERM: Theoretical Structures and Equations</vt:lpstr>
      <vt:lpstr>Equilibrium = &gt; Supply = Demand</vt:lpstr>
      <vt:lpstr>DEMAND</vt:lpstr>
      <vt:lpstr>DEMAND</vt:lpstr>
      <vt:lpstr>Composite (IMP-DOM) goods</vt:lpstr>
      <vt:lpstr>Composite goods</vt:lpstr>
      <vt:lpstr>Consumer’s behaviour in sourcing??</vt:lpstr>
      <vt:lpstr>Solution</vt:lpstr>
      <vt:lpstr>Solution: Intermediate (1)</vt:lpstr>
      <vt:lpstr>Solution Investment (2)</vt:lpstr>
      <vt:lpstr>How composite goods are determine?</vt:lpstr>
      <vt:lpstr>Slide 12</vt:lpstr>
      <vt:lpstr>Household?</vt:lpstr>
      <vt:lpstr>Linear Expenditure  Demand System</vt:lpstr>
      <vt:lpstr>Linear Expenditure Demand System</vt:lpstr>
      <vt:lpstr>Other users?</vt:lpstr>
      <vt:lpstr>Export Demand</vt:lpstr>
      <vt:lpstr>SUPPLY</vt:lpstr>
      <vt:lpstr>Production function OUTPUT = F(INPUT)</vt:lpstr>
      <vt:lpstr>Production Fuction</vt:lpstr>
      <vt:lpstr>Cost minimization: bottom level</vt:lpstr>
      <vt:lpstr>Cost minimization: bottom level</vt:lpstr>
      <vt:lpstr>Cost minimization: Top Level</vt:lpstr>
      <vt:lpstr>Supplies meets Demands: MARKET CLEARING FOR Domestic COMMODITIES</vt:lpstr>
      <vt:lpstr>Supplies meets Demands: MARKET CLEARING FOR Domestic COMMODITIES</vt:lpstr>
      <vt:lpstr>Slide 26</vt:lpstr>
      <vt:lpstr>Intermediate Sourcing</vt:lpstr>
      <vt:lpstr>Regional sourcing of goods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 &gt; Supply = Demand</dc:title>
  <dc:creator>ANSHORY</dc:creator>
  <cp:lastModifiedBy>LP3E-FE</cp:lastModifiedBy>
  <cp:revision>240</cp:revision>
  <dcterms:created xsi:type="dcterms:W3CDTF">2010-10-30T12:38:28Z</dcterms:created>
  <dcterms:modified xsi:type="dcterms:W3CDTF">2015-04-05T08:41:57Z</dcterms:modified>
</cp:coreProperties>
</file>