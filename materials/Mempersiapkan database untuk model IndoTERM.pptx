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4" r:id="rId5"/>
    <p:sldId id="265" r:id="rId6"/>
    <p:sldId id="260" r:id="rId7"/>
    <p:sldId id="266" r:id="rId8"/>
    <p:sldId id="267" r:id="rId9"/>
    <p:sldId id="261" r:id="rId10"/>
    <p:sldId id="259" r:id="rId1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7961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63077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064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2545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4706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0374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99567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4049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9042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8752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0079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AE76E-E481-401F-B23E-F6CCA764FFCC}" type="datetimeFigureOut">
              <a:rPr lang="id-ID" smtClean="0"/>
              <a:t>03/09/2024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E467F-01CA-483F-9163-7827264AF21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8065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psmodels.com/archivep/tpmh0198.zip" TargetMode="External"/><Relationship Id="rId7" Type="http://schemas.openxmlformats.org/officeDocument/2006/relationships/hyperlink" Target="https://www.copsmodels.com/archivep/tpmh0118.zip" TargetMode="External"/><Relationship Id="rId2" Type="http://schemas.openxmlformats.org/officeDocument/2006/relationships/hyperlink" Target="https://www.copsmodels.com/archivep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psmodels.com/archivep/tpmh0168.zip" TargetMode="External"/><Relationship Id="rId5" Type="http://schemas.openxmlformats.org/officeDocument/2006/relationships/hyperlink" Target="https://www.copsmodels.com/archivep/tpmh0187.zip" TargetMode="External"/><Relationship Id="rId4" Type="http://schemas.openxmlformats.org/officeDocument/2006/relationships/hyperlink" Target="https://www.copsmodels.com/archivep/tpmh0197.zi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d-ID" dirty="0">
                <a:latin typeface="Footlight MT Light" panose="0204060206030A020304" pitchFamily="18" charset="0"/>
              </a:rPr>
              <a:t>Mempersiapkan database untuk </a:t>
            </a:r>
            <a:r>
              <a:rPr lang="id-ID" dirty="0" smtClean="0">
                <a:latin typeface="Footlight MT Light" panose="0204060206030A020304" pitchFamily="18" charset="0"/>
              </a:rPr>
              <a:t>simulasi model IndoTERM</a:t>
            </a:r>
            <a:endParaRPr lang="id-ID" dirty="0">
              <a:latin typeface="Footlight MT Light" panose="0204060206030A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918" y="5178261"/>
            <a:ext cx="1241612" cy="150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9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>
                <a:latin typeface="Footlight MT Light" panose="0204060206030A020304" pitchFamily="18" charset="0"/>
              </a:rPr>
              <a:t>Full data IndoTERM </a:t>
            </a:r>
            <a:r>
              <a:rPr lang="id-ID" dirty="0" smtClean="0">
                <a:latin typeface="Footlight MT Light" panose="0204060206030A020304" pitchFamily="18" charset="0"/>
                <a:hlinkClick r:id="rId2"/>
              </a:rPr>
              <a:t>https://www.copsmodels.com/archivep.htm</a:t>
            </a:r>
            <a:endParaRPr lang="id-ID" dirty="0">
              <a:latin typeface="Footlight MT Light" panose="0204060206030A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>
                <a:latin typeface="Footlight MT Light" panose="0204060206030A020304" pitchFamily="18" charset="0"/>
              </a:rPr>
              <a:t>TPMH0198</a:t>
            </a:r>
            <a:r>
              <a:rPr lang="en-US" dirty="0" smtClean="0">
                <a:latin typeface="Footlight MT Light" panose="0204060206030A020304" pitchFamily="18" charset="0"/>
              </a:rPr>
              <a:t> </a:t>
            </a:r>
            <a:r>
              <a:rPr lang="en-US" b="1" dirty="0" smtClean="0">
                <a:latin typeface="Footlight MT Light" panose="0204060206030A020304" pitchFamily="18" charset="0"/>
              </a:rPr>
              <a:t>This download includes the full suite of data</a:t>
            </a:r>
            <a:r>
              <a:rPr lang="en-US" dirty="0" smtClean="0">
                <a:latin typeface="Footlight MT Light" panose="0204060206030A020304" pitchFamily="18" charset="0"/>
              </a:rPr>
              <a:t>, programs and scripts used to </a:t>
            </a:r>
            <a:r>
              <a:rPr lang="en-US" b="1" dirty="0" smtClean="0">
                <a:latin typeface="Footlight MT Light" panose="0204060206030A020304" pitchFamily="18" charset="0"/>
              </a:rPr>
              <a:t>generate the 185-sector 2016 Indonesia CGE database (ORANI-G format) </a:t>
            </a:r>
            <a:r>
              <a:rPr lang="en-US" dirty="0" smtClean="0">
                <a:latin typeface="Footlight MT Light" panose="0204060206030A020304" pitchFamily="18" charset="0"/>
              </a:rPr>
              <a:t>that includes the limited regional data needed for a "top-down" regional extension. To replicate the data process, GEMPACK 12 or later is needed. For more details see file ReadMe.TXT. Submitted JMH October 2021 (updated February 2023). </a:t>
            </a:r>
            <a:r>
              <a:rPr lang="en-US" dirty="0" smtClean="0">
                <a:latin typeface="Footlight MT Light" panose="0204060206030A020304" pitchFamily="18" charset="0"/>
                <a:hlinkClick r:id="rId3"/>
              </a:rPr>
              <a:t>download</a:t>
            </a:r>
            <a:r>
              <a:rPr lang="en-US" dirty="0" smtClean="0">
                <a:latin typeface="Footlight MT Light" panose="0204060206030A020304" pitchFamily="18" charset="0"/>
              </a:rPr>
              <a:t> (13.5MB). </a:t>
            </a:r>
            <a:endParaRPr lang="id-ID" dirty="0" smtClean="0">
              <a:latin typeface="Footlight MT Light" panose="0204060206030A020304" pitchFamily="18" charset="0"/>
            </a:endParaRPr>
          </a:p>
          <a:p>
            <a:r>
              <a:rPr lang="en-US" b="1" dirty="0" smtClean="0">
                <a:latin typeface="Footlight MT Light" panose="0204060206030A020304" pitchFamily="18" charset="0"/>
              </a:rPr>
              <a:t>TPMH0197</a:t>
            </a:r>
            <a:r>
              <a:rPr lang="en-US" dirty="0" smtClean="0">
                <a:latin typeface="Footlight MT Light" panose="0204060206030A020304" pitchFamily="18" charset="0"/>
              </a:rPr>
              <a:t> </a:t>
            </a:r>
            <a:r>
              <a:rPr lang="en-US" b="1" dirty="0" smtClean="0">
                <a:latin typeface="Footlight MT Light" panose="0204060206030A020304" pitchFamily="18" charset="0"/>
              </a:rPr>
              <a:t>This download includes the full suite of data</a:t>
            </a:r>
            <a:r>
              <a:rPr lang="en-US" dirty="0" smtClean="0">
                <a:latin typeface="Footlight MT Light" panose="0204060206030A020304" pitchFamily="18" charset="0"/>
              </a:rPr>
              <a:t>, programs and scripts used to </a:t>
            </a:r>
            <a:r>
              <a:rPr lang="en-US" b="1" dirty="0" smtClean="0">
                <a:latin typeface="Footlight MT Light" panose="0204060206030A020304" pitchFamily="18" charset="0"/>
              </a:rPr>
              <a:t>generate the 185-sector, 34-province 2016 Indonesia TERM database</a:t>
            </a:r>
            <a:r>
              <a:rPr lang="en-US" dirty="0" smtClean="0">
                <a:latin typeface="Footlight MT Light" panose="0204060206030A020304" pitchFamily="18" charset="0"/>
              </a:rPr>
              <a:t>. The starting point is a national CGE database (ORANI-G format) that includes the limited regional data needed for a "top-down" regional extension. To replicate the data process, a source code GEMPACK </a:t>
            </a:r>
            <a:r>
              <a:rPr lang="en-US" dirty="0" err="1" smtClean="0">
                <a:latin typeface="Footlight MT Light" panose="0204060206030A020304" pitchFamily="18" charset="0"/>
              </a:rPr>
              <a:t>licence</a:t>
            </a:r>
            <a:r>
              <a:rPr lang="en-US" dirty="0" smtClean="0">
                <a:latin typeface="Footlight MT Light" panose="0204060206030A020304" pitchFamily="18" charset="0"/>
              </a:rPr>
              <a:t> is needed. For more details see file ReadMe.TXT. Submitted JMH October 2021 (updated February 2023). </a:t>
            </a:r>
            <a:r>
              <a:rPr lang="en-US" dirty="0" smtClean="0">
                <a:latin typeface="Footlight MT Light" panose="0204060206030A020304" pitchFamily="18" charset="0"/>
                <a:hlinkClick r:id="rId4"/>
              </a:rPr>
              <a:t>download</a:t>
            </a:r>
            <a:r>
              <a:rPr lang="en-US" dirty="0" smtClean="0">
                <a:latin typeface="Footlight MT Light" panose="0204060206030A020304" pitchFamily="18" charset="0"/>
              </a:rPr>
              <a:t> (8.3MB). </a:t>
            </a:r>
            <a:endParaRPr lang="id-ID" dirty="0" smtClean="0">
              <a:latin typeface="Footlight MT Light" panose="0204060206030A020304" pitchFamily="18" charset="0"/>
            </a:endParaRPr>
          </a:p>
          <a:p>
            <a:r>
              <a:rPr lang="en-US" b="1" dirty="0" smtClean="0">
                <a:latin typeface="Footlight MT Light" panose="0204060206030A020304" pitchFamily="18" charset="0"/>
              </a:rPr>
              <a:t>TPMH0187</a:t>
            </a:r>
            <a:r>
              <a:rPr lang="en-US" dirty="0" smtClean="0">
                <a:latin typeface="Footlight MT Light" panose="0204060206030A020304" pitchFamily="18" charset="0"/>
              </a:rPr>
              <a:t> </a:t>
            </a:r>
            <a:r>
              <a:rPr lang="en-US" dirty="0" err="1" smtClean="0">
                <a:latin typeface="Footlight MT Light" panose="0204060206030A020304" pitchFamily="18" charset="0"/>
              </a:rPr>
              <a:t>Fullsize</a:t>
            </a:r>
            <a:r>
              <a:rPr lang="en-US" dirty="0" smtClean="0">
                <a:latin typeface="Footlight MT Light" panose="0204060206030A020304" pitchFamily="18" charset="0"/>
              </a:rPr>
              <a:t> TERM databases, with around 30 regions and &gt;100 sectors are too large to run conveniently. They are usually aggregated to a smaller size (say 20 regions and 70 sectors) which solves far more quickly. This archive shows how to aggregate a 34 region, 185 sector Indonesian TERM database (see item TPMH0168 below) down to 19 regions and 22 sectors. See file </a:t>
            </a:r>
            <a:r>
              <a:rPr lang="en-US" dirty="0" err="1" smtClean="0">
                <a:latin typeface="Footlight MT Light" panose="0204060206030A020304" pitchFamily="18" charset="0"/>
              </a:rPr>
              <a:t>ReadMe.Doc</a:t>
            </a:r>
            <a:r>
              <a:rPr lang="en-US" dirty="0" smtClean="0">
                <a:latin typeface="Footlight MT Light" panose="0204060206030A020304" pitchFamily="18" charset="0"/>
              </a:rPr>
              <a:t>. Submitted JMH March 2020. </a:t>
            </a:r>
            <a:r>
              <a:rPr lang="en-US" dirty="0" smtClean="0">
                <a:latin typeface="Footlight MT Light" panose="0204060206030A020304" pitchFamily="18" charset="0"/>
                <a:hlinkClick r:id="rId5"/>
              </a:rPr>
              <a:t>download</a:t>
            </a:r>
            <a:r>
              <a:rPr lang="en-US" dirty="0" smtClean="0">
                <a:latin typeface="Footlight MT Light" panose="0204060206030A020304" pitchFamily="18" charset="0"/>
              </a:rPr>
              <a:t> (33MB). </a:t>
            </a:r>
            <a:endParaRPr lang="id-ID" dirty="0" smtClean="0">
              <a:latin typeface="Footlight MT Light" panose="0204060206030A020304" pitchFamily="18" charset="0"/>
            </a:endParaRPr>
          </a:p>
          <a:p>
            <a:r>
              <a:rPr lang="en-US" b="1" dirty="0" smtClean="0">
                <a:latin typeface="Footlight MT Light" panose="0204060206030A020304" pitchFamily="18" charset="0"/>
              </a:rPr>
              <a:t>TPMH0168</a:t>
            </a:r>
            <a:r>
              <a:rPr lang="en-US" dirty="0" smtClean="0">
                <a:latin typeface="Footlight MT Light" panose="0204060206030A020304" pitchFamily="18" charset="0"/>
              </a:rPr>
              <a:t> Contains document describing data used to construct an updated (2010 base year, 34 provinces, 185 sectors) version of the </a:t>
            </a:r>
            <a:r>
              <a:rPr lang="en-US" dirty="0" err="1" smtClean="0">
                <a:latin typeface="Footlight MT Light" panose="0204060206030A020304" pitchFamily="18" charset="0"/>
              </a:rPr>
              <a:t>IndoTERM</a:t>
            </a:r>
            <a:r>
              <a:rPr lang="en-US" dirty="0" smtClean="0">
                <a:latin typeface="Footlight MT Light" panose="0204060206030A020304" pitchFamily="18" charset="0"/>
              </a:rPr>
              <a:t> inter-regional CGE model of Indonesia, and 3 example simulations using this data. See file ReadMe.txt. Submitted by MH Jan 2018. </a:t>
            </a:r>
            <a:r>
              <a:rPr lang="en-US" dirty="0" smtClean="0">
                <a:latin typeface="Footlight MT Light" panose="0204060206030A020304" pitchFamily="18" charset="0"/>
                <a:hlinkClick r:id="rId6"/>
              </a:rPr>
              <a:t>download</a:t>
            </a:r>
            <a:r>
              <a:rPr lang="en-US" dirty="0" smtClean="0">
                <a:latin typeface="Footlight MT Light" panose="0204060206030A020304" pitchFamily="18" charset="0"/>
              </a:rPr>
              <a:t> (17.5MB). </a:t>
            </a:r>
            <a:endParaRPr lang="id-ID" dirty="0" smtClean="0">
              <a:latin typeface="Footlight MT Light" panose="0204060206030A020304" pitchFamily="18" charset="0"/>
            </a:endParaRPr>
          </a:p>
          <a:p>
            <a:r>
              <a:rPr lang="en-US" b="1" dirty="0" smtClean="0">
                <a:latin typeface="Footlight MT Light" panose="0204060206030A020304" pitchFamily="18" charset="0"/>
              </a:rPr>
              <a:t>TPMH0118</a:t>
            </a:r>
            <a:r>
              <a:rPr lang="en-US" dirty="0" smtClean="0">
                <a:latin typeface="Footlight MT Light" panose="0204060206030A020304" pitchFamily="18" charset="0"/>
              </a:rPr>
              <a:t> Example of Indonesian TERM prepared February 2012 with 30 regions and 39 sectors. Please see cautionary notes in file ReadMe.txt. Submitted by Mark </a:t>
            </a:r>
            <a:r>
              <a:rPr lang="en-US" dirty="0" err="1" smtClean="0">
                <a:latin typeface="Footlight MT Light" panose="0204060206030A020304" pitchFamily="18" charset="0"/>
              </a:rPr>
              <a:t>Horridge</a:t>
            </a:r>
            <a:r>
              <a:rPr lang="en-US" dirty="0" smtClean="0">
                <a:latin typeface="Footlight MT Light" panose="0204060206030A020304" pitchFamily="18" charset="0"/>
              </a:rPr>
              <a:t> December 2012. </a:t>
            </a:r>
            <a:r>
              <a:rPr lang="en-US" dirty="0" smtClean="0">
                <a:latin typeface="Footlight MT Light" panose="0204060206030A020304" pitchFamily="18" charset="0"/>
                <a:hlinkClick r:id="rId7"/>
              </a:rPr>
              <a:t>download</a:t>
            </a:r>
            <a:r>
              <a:rPr lang="en-US" dirty="0" smtClean="0">
                <a:latin typeface="Footlight MT Light" panose="0204060206030A020304" pitchFamily="18" charset="0"/>
              </a:rPr>
              <a:t> (6MB). </a:t>
            </a:r>
            <a:endParaRPr lang="id-ID" dirty="0" smtClean="0">
              <a:latin typeface="Footlight MT Light" panose="0204060206030A020304" pitchFamily="18" charset="0"/>
            </a:endParaRPr>
          </a:p>
          <a:p>
            <a:endParaRPr lang="id-ID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119" y="0"/>
            <a:ext cx="6617635" cy="68057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99" y="0"/>
            <a:ext cx="3255717" cy="1325563"/>
          </a:xfrm>
        </p:spPr>
        <p:txBody>
          <a:bodyPr>
            <a:noAutofit/>
          </a:bodyPr>
          <a:lstStyle/>
          <a:p>
            <a:r>
              <a:rPr lang="id-ID" sz="2400" b="1" dirty="0" smtClean="0">
                <a:latin typeface="Footlight MT Light" panose="0204060206030A020304" pitchFamily="18" charset="0"/>
              </a:rPr>
              <a:t>Download File aggregasi.zip</a:t>
            </a:r>
            <a:endParaRPr lang="id-ID" sz="2400" b="1" dirty="0">
              <a:latin typeface="Footlight MT Light" panose="0204060206030A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32411" y="1245486"/>
            <a:ext cx="1255060" cy="299710"/>
          </a:xfrm>
          <a:prstGeom prst="rect">
            <a:avLst/>
          </a:prstGeom>
          <a:noFill/>
          <a:ln w="57150">
            <a:solidFill>
              <a:srgbClr val="FF0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Rectangle 17"/>
          <p:cNvSpPr/>
          <p:nvPr/>
        </p:nvSpPr>
        <p:spPr>
          <a:xfrm>
            <a:off x="3832411" y="3473215"/>
            <a:ext cx="1255060" cy="299710"/>
          </a:xfrm>
          <a:prstGeom prst="rect">
            <a:avLst/>
          </a:prstGeom>
          <a:noFill/>
          <a:ln w="57150">
            <a:solidFill>
              <a:srgbClr val="FF0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Rectangle 18"/>
          <p:cNvSpPr/>
          <p:nvPr/>
        </p:nvSpPr>
        <p:spPr>
          <a:xfrm>
            <a:off x="5087470" y="2490972"/>
            <a:ext cx="1757081" cy="29971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Rectangle 19"/>
          <p:cNvSpPr/>
          <p:nvPr/>
        </p:nvSpPr>
        <p:spPr>
          <a:xfrm>
            <a:off x="6947647" y="4703317"/>
            <a:ext cx="1255060" cy="56793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Rectangle 21"/>
          <p:cNvSpPr/>
          <p:nvPr/>
        </p:nvSpPr>
        <p:spPr>
          <a:xfrm>
            <a:off x="6947647" y="1707775"/>
            <a:ext cx="1255060" cy="840583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Rectangle 23"/>
          <p:cNvSpPr/>
          <p:nvPr/>
        </p:nvSpPr>
        <p:spPr>
          <a:xfrm>
            <a:off x="5114365" y="1949825"/>
            <a:ext cx="1111623" cy="36307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Box 26"/>
          <p:cNvSpPr txBox="1"/>
          <p:nvPr/>
        </p:nvSpPr>
        <p:spPr>
          <a:xfrm>
            <a:off x="965200" y="1949825"/>
            <a:ext cx="23831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 smtClean="0">
                <a:latin typeface="Footlight MT Light" panose="0204060206030A020304" pitchFamily="18" charset="0"/>
              </a:rPr>
              <a:t>File dataset hasil menjalankan program aggregasi </a:t>
            </a:r>
            <a:r>
              <a:rPr lang="id-ID" sz="1400" dirty="0" smtClean="0">
                <a:latin typeface="Footlight MT Light" panose="0204060206030A020304" pitchFamily="18" charset="0"/>
              </a:rPr>
              <a:t>(file yang ada dalam folder merupakan file lama dengan aggregasi sektor dan region yang terakhir dibuat)</a:t>
            </a:r>
            <a:endParaRPr lang="id-ID" sz="1400" dirty="0">
              <a:latin typeface="Footlight MT Light" panose="0204060206030A020304" pitchFamily="18" charset="0"/>
            </a:endParaRPr>
          </a:p>
        </p:txBody>
      </p:sp>
      <p:cxnSp>
        <p:nvCxnSpPr>
          <p:cNvPr id="29" name="Straight Arrow Connector 28"/>
          <p:cNvCxnSpPr>
            <a:stCxn id="27" idx="3"/>
            <a:endCxn id="17" idx="1"/>
          </p:cNvCxnSpPr>
          <p:nvPr/>
        </p:nvCxnSpPr>
        <p:spPr>
          <a:xfrm flipV="1">
            <a:off x="3348317" y="1395341"/>
            <a:ext cx="484094" cy="1246982"/>
          </a:xfrm>
          <a:prstGeom prst="straightConnector1">
            <a:avLst/>
          </a:prstGeom>
          <a:ln w="28575">
            <a:solidFill>
              <a:srgbClr val="FF01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7" idx="3"/>
          </p:cNvCxnSpPr>
          <p:nvPr/>
        </p:nvCxnSpPr>
        <p:spPr>
          <a:xfrm>
            <a:off x="3348317" y="2642323"/>
            <a:ext cx="383802" cy="961490"/>
          </a:xfrm>
          <a:prstGeom prst="straightConnector1">
            <a:avLst/>
          </a:prstGeom>
          <a:ln w="28575">
            <a:solidFill>
              <a:srgbClr val="FF01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159256" y="2018832"/>
            <a:ext cx="13043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 smtClean="0">
                <a:latin typeface="Footlight MT Light" panose="0204060206030A020304" pitchFamily="18" charset="0"/>
              </a:rPr>
              <a:t>File agg yang berisikan informasi mapping sektor</a:t>
            </a:r>
            <a:endParaRPr lang="id-ID" sz="1400" b="1" dirty="0">
              <a:latin typeface="Footlight MT Light" panose="0204060206030A020304" pitchFamily="18" charset="0"/>
            </a:endParaRPr>
          </a:p>
        </p:txBody>
      </p:sp>
      <p:cxnSp>
        <p:nvCxnSpPr>
          <p:cNvPr id="40" name="Straight Arrow Connector 39"/>
          <p:cNvCxnSpPr>
            <a:stCxn id="38" idx="1"/>
            <a:endCxn id="22" idx="3"/>
          </p:cNvCxnSpPr>
          <p:nvPr/>
        </p:nvCxnSpPr>
        <p:spPr>
          <a:xfrm flipH="1" flipV="1">
            <a:off x="8202707" y="2128067"/>
            <a:ext cx="1956549" cy="47554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8" idx="1"/>
          </p:cNvCxnSpPr>
          <p:nvPr/>
        </p:nvCxnSpPr>
        <p:spPr>
          <a:xfrm flipH="1">
            <a:off x="8199904" y="2603608"/>
            <a:ext cx="1959352" cy="238367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44432" y="219933"/>
            <a:ext cx="1837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b="1" dirty="0" smtClean="0">
                <a:latin typeface="Footlight MT Light" panose="0204060206030A020304" pitchFamily="18" charset="0"/>
              </a:rPr>
              <a:t>Perintah berbasis dos untuk mengupdate data aggmod.har dan AGGSETS.HAR</a:t>
            </a:r>
            <a:endParaRPr lang="id-ID" sz="1600" b="1" dirty="0">
              <a:latin typeface="Footlight MT Light" panose="0204060206030A020304" pitchFamily="18" charset="0"/>
            </a:endParaRPr>
          </a:p>
        </p:txBody>
      </p:sp>
      <p:cxnSp>
        <p:nvCxnSpPr>
          <p:cNvPr id="49" name="Curved Connector 48"/>
          <p:cNvCxnSpPr>
            <a:endCxn id="24" idx="0"/>
          </p:cNvCxnSpPr>
          <p:nvPr/>
        </p:nvCxnSpPr>
        <p:spPr>
          <a:xfrm rot="10800000" flipV="1">
            <a:off x="5670178" y="804707"/>
            <a:ext cx="4674255" cy="1145117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81150" y="4354681"/>
            <a:ext cx="1304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400" b="1" dirty="0" smtClean="0">
                <a:latin typeface="Footlight MT Light" panose="0204060206030A020304" pitchFamily="18" charset="0"/>
              </a:rPr>
              <a:t>Keterangan 185 sektor dan 34 region</a:t>
            </a:r>
            <a:endParaRPr lang="id-ID" sz="1400" b="1" dirty="0">
              <a:latin typeface="Footlight MT Light" panose="0204060206030A020304" pitchFamily="18" charset="0"/>
            </a:endParaRPr>
          </a:p>
        </p:txBody>
      </p:sp>
      <p:cxnSp>
        <p:nvCxnSpPr>
          <p:cNvPr id="51" name="Curved Connector 50"/>
          <p:cNvCxnSpPr>
            <a:stCxn id="50" idx="3"/>
            <a:endCxn id="19" idx="2"/>
          </p:cNvCxnSpPr>
          <p:nvPr/>
        </p:nvCxnSpPr>
        <p:spPr>
          <a:xfrm flipV="1">
            <a:off x="3485514" y="2790682"/>
            <a:ext cx="2480497" cy="1933331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56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701" y="0"/>
            <a:ext cx="8623300" cy="64209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d-ID" sz="1400" b="1" dirty="0" smtClean="0">
                <a:latin typeface="Footlight MT Light" panose="0204060206030A020304" pitchFamily="18" charset="0"/>
              </a:rPr>
              <a:t>16 sektor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Agric</a:t>
            </a:r>
            <a:r>
              <a:rPr lang="id-ID" sz="1400" dirty="0" smtClean="0"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 Rice; Corn; SweetPotato; Cassava; OthTubers; Peanuts; Soy; OthNuts; OthGrains; Vegetables; DecorPlants; Cane; Tobacco; PlantFiber; OthPlantaton; Fruits; PlantBiophrm; Rubber; Coconut; PalmOil; Coffee; Tea; Cocoa; Clove; Cashew; Livestock; FreshMilk; PoultryEggs; OthAnimalPrd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Finance</a:t>
            </a:r>
            <a:r>
              <a:rPr lang="id-ID" sz="1400" dirty="0" smtClean="0"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AgricSvc; FinancialSvc; InsuranceSvc; PensionSvc; OthFinancSvc; RentalSvc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Extractive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 Wood; OthForestPrd; Fish; Shrimps; OthAquatic; Seaweed; CoalLignite; CrudeOil; NaturalGas; IronOre; TinOre; BauxiteOre; CopperOre; NickelOre; OthMetalMine; GoldOre; SilverOre; GalianPrd; NonMetlMinrl; CoarseSalt; PetrolNatGas; OthMiningQry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FoodProds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 Abattoir; MeatProcessg; DriedFish; FishProcess; VegFruitProc; EdibleOils; Copra; DairyPrd; OthFlour; WheatFlour; RiceMilling; BreadBiscuit; Sugar; Confectionry; PastaNoodle; CoffeeProc; TeaProc; SoyProcessed; OthFood; AnimalFeed; AlcoBeverage; NonAlcoBev; Cigarettes; TobaccoPrd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OthGoods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 Yarn; Textile; RopesCarpets; OthTextilPrd; KnittedPrd; Apparel; Tanning; LeatherPrd; Footwear; SawMill; Plywood; WoodBuildMat; OthWoodPrdn; PaperPulp; Paper; PaperPrd; PrintedPrd; OthNMmetlPrd; Tire; SmokedRubber; OthRubberPrd; PlasticPrd; Glass; ClayCermcPrd; Cement; Instruments; Ships; RailwayEqp; Aircraft; OthTrnsEqp; Motorcycle; Furniture; Jewelry; MusicInstrum; SportsEquip; GamesAndToys; MedicalDvces; OthIndustPrd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Chemicals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OilAndGasRef; BasChemicals; Fertilizer; Plastics; Pesticide; Paints; Varnish; Soaps; Cosmetics; OthChemPrd; Pharmaceutcl; TradMedicine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Metals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BasIronSteel; NonFerrMetal; FoundryPrd; FabMetalPrd; WeaponsAmmo; DomMetalPrd; OthMetalPrd; OfficeMachin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ElectroncPrd; ElecMotorGen; ElectEqp; Batteries; OthElecEqp; DomElectEqp; PrimaryMover; OthMachinEqp; ManMtlRepair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MotVehic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 MotorVehicle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Utilities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Electricity; GasDist; WaterSupply; WasteManage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OthServices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ResidBuildng; EleGasInfstr; AgricInfstrc; RoadsBridges; OthBuildings; Hotels; Restaurants; GenGovernmet; GovEducation; GovHealth; OthGovSvc; OthSvc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Trade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CarTrading; CarRepair; OthTrade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Transports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RailTransprt; LandTransprt; SeaTransport; RiverTrnsprt; AirTransport; TransportSvc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Communicaton</a:t>
            </a:r>
            <a:r>
              <a:rPr lang="id-ID" sz="1400" dirty="0"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Postal; Telecommunic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OthBuServ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Publishing; Broadcasting; RealEstatSvc; PrvEducation; PrvHealth; ArtsEntrtain; HholdRepairs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id-ID" sz="1400" b="1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ICTConsult</a:t>
            </a:r>
            <a:r>
              <a:rPr lang="id-ID" sz="1400" dirty="0" smtClean="0">
                <a:effectLst/>
                <a:latin typeface="Footlight MT Light" panose="0204060206030A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InformatTech; ProfSciTech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d-ID" sz="1400" b="1" dirty="0" smtClean="0">
              <a:latin typeface="Footlight MT Light" panose="0204060206030A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665" y="1086827"/>
            <a:ext cx="354703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400" b="1" dirty="0" smtClean="0">
                <a:latin typeface="Footlight MT Light" panose="0204060206030A020304" pitchFamily="18" charset="0"/>
              </a:rPr>
              <a:t>6 Region</a:t>
            </a:r>
          </a:p>
          <a:p>
            <a:pPr marL="228600" indent="-228600">
              <a:buFont typeface="+mj-lt"/>
              <a:buAutoNum type="arabicPeriod"/>
            </a:pPr>
            <a:r>
              <a:rPr lang="id-ID" sz="1400" b="1" dirty="0" smtClean="0">
                <a:latin typeface="Footlight MT Light" panose="0204060206030A020304" pitchFamily="18" charset="0"/>
              </a:rPr>
              <a:t>Sumatra : </a:t>
            </a:r>
            <a:r>
              <a:rPr lang="id-ID" sz="1400" dirty="0" smtClean="0">
                <a:latin typeface="Footlight MT Light" panose="0204060206030A020304" pitchFamily="18" charset="0"/>
              </a:rPr>
              <a:t>NAD; SumUt; SumBar; RiauProv; KepRi; Jambi; SumSel; BaBel; Bengkulu; Lampung</a:t>
            </a:r>
          </a:p>
          <a:p>
            <a:pPr marL="228600" indent="-228600">
              <a:buFont typeface="+mj-lt"/>
              <a:buAutoNum type="arabicPeriod"/>
            </a:pPr>
            <a:r>
              <a:rPr lang="id-ID" sz="1400" b="1" dirty="0" smtClean="0">
                <a:latin typeface="Footlight MT Light" panose="0204060206030A020304" pitchFamily="18" charset="0"/>
              </a:rPr>
              <a:t>Java : </a:t>
            </a:r>
            <a:r>
              <a:rPr lang="id-ID" sz="1400" dirty="0" smtClean="0">
                <a:latin typeface="Footlight MT Light" panose="0204060206030A020304" pitchFamily="18" charset="0"/>
              </a:rPr>
              <a:t>DKI; JaBar; Banten; JaTeng; DIY; JaTim</a:t>
            </a:r>
          </a:p>
          <a:p>
            <a:pPr marL="228600" indent="-228600">
              <a:buFont typeface="+mj-lt"/>
              <a:buAutoNum type="arabicPeriod"/>
            </a:pPr>
            <a:r>
              <a:rPr lang="id-ID" sz="1400" b="1" dirty="0" smtClean="0">
                <a:latin typeface="Footlight MT Light" panose="0204060206030A020304" pitchFamily="18" charset="0"/>
              </a:rPr>
              <a:t>Kalimantan : </a:t>
            </a:r>
            <a:r>
              <a:rPr lang="id-ID" sz="1400" dirty="0" smtClean="0">
                <a:latin typeface="Footlight MT Light" panose="0204060206030A020304" pitchFamily="18" charset="0"/>
              </a:rPr>
              <a:t>KalBar; KalTeng; KalSel; KalTim; KalUt</a:t>
            </a:r>
          </a:p>
          <a:p>
            <a:pPr marL="228600" indent="-228600">
              <a:buFont typeface="+mj-lt"/>
              <a:buAutoNum type="arabicPeriod"/>
            </a:pPr>
            <a:r>
              <a:rPr lang="id-ID" sz="1400" b="1" dirty="0" smtClean="0">
                <a:latin typeface="Footlight MT Light" panose="0204060206030A020304" pitchFamily="18" charset="0"/>
              </a:rPr>
              <a:t>Sulawesi : </a:t>
            </a:r>
            <a:r>
              <a:rPr lang="id-ID" sz="1400" dirty="0" smtClean="0">
                <a:latin typeface="Footlight MT Light" panose="0204060206030A020304" pitchFamily="18" charset="0"/>
              </a:rPr>
              <a:t>SulUt; Gorontalo; SulTeng; SulaSel; SulBar; SulTra</a:t>
            </a:r>
          </a:p>
          <a:p>
            <a:pPr marL="228600" indent="-228600">
              <a:buFont typeface="+mj-lt"/>
              <a:buAutoNum type="arabicPeriod"/>
            </a:pPr>
            <a:r>
              <a:rPr lang="id-ID" sz="1400" b="1" dirty="0" smtClean="0">
                <a:latin typeface="Footlight MT Light" panose="0204060206030A020304" pitchFamily="18" charset="0"/>
              </a:rPr>
              <a:t>BaliNusaTeng : </a:t>
            </a:r>
            <a:r>
              <a:rPr lang="id-ID" sz="1400" dirty="0" smtClean="0">
                <a:latin typeface="Footlight MT Light" panose="0204060206030A020304" pitchFamily="18" charset="0"/>
              </a:rPr>
              <a:t>Bali; NTB; NTT</a:t>
            </a:r>
          </a:p>
          <a:p>
            <a:pPr marL="228600" indent="-228600">
              <a:buFont typeface="+mj-lt"/>
              <a:buAutoNum type="arabicPeriod"/>
            </a:pPr>
            <a:r>
              <a:rPr lang="id-ID" sz="1400" b="1" dirty="0" smtClean="0">
                <a:latin typeface="Footlight MT Light" panose="0204060206030A020304" pitchFamily="18" charset="0"/>
              </a:rPr>
              <a:t>PapuaMaluku : </a:t>
            </a:r>
            <a:r>
              <a:rPr lang="id-ID" sz="1400" dirty="0" smtClean="0">
                <a:latin typeface="Footlight MT Light" panose="0204060206030A020304" pitchFamily="18" charset="0"/>
              </a:rPr>
              <a:t>Maluku; MalUt; PapuaBar; PapuaProv</a:t>
            </a:r>
            <a:endParaRPr lang="id-ID" sz="1400" dirty="0" smtClean="0">
              <a:latin typeface="Footlight MT Light" panose="0204060206030A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665" y="0"/>
            <a:ext cx="353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latin typeface="Footlight MT Light" panose="0204060206030A020304" pitchFamily="18" charset="0"/>
              </a:rPr>
              <a:t>Tujuan Exercise:</a:t>
            </a:r>
          </a:p>
          <a:p>
            <a:r>
              <a:rPr lang="id-ID" b="1" dirty="0" smtClean="0">
                <a:latin typeface="Footlight MT Light" panose="0204060206030A020304" pitchFamily="18" charset="0"/>
              </a:rPr>
              <a:t>Membuat database IndoTERM</a:t>
            </a:r>
          </a:p>
          <a:p>
            <a:r>
              <a:rPr lang="id-ID" b="1" dirty="0" smtClean="0">
                <a:latin typeface="Footlight MT Light" panose="0204060206030A020304" pitchFamily="18" charset="0"/>
              </a:rPr>
              <a:t>6 Region dan 16 Sektor</a:t>
            </a:r>
            <a:r>
              <a:rPr lang="id-ID" b="1" dirty="0" smtClean="0">
                <a:latin typeface="Footlight MT Light" panose="0204060206030A020304" pitchFamily="18" charset="0"/>
              </a:rPr>
              <a:t> 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72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664" y="0"/>
            <a:ext cx="2179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latin typeface="Footlight MT Light" panose="0204060206030A020304" pitchFamily="18" charset="0"/>
              </a:rPr>
              <a:t>Langkah 1: </a:t>
            </a:r>
            <a:r>
              <a:rPr lang="id-ID" b="1" dirty="0" smtClean="0">
                <a:latin typeface="Footlight MT Light" panose="0204060206030A020304" pitchFamily="18" charset="0"/>
              </a:rPr>
              <a:t>Mempersiapkan Mapping Sektor dan region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0944" t="29298" r="51421" b="48123"/>
          <a:stretch/>
        </p:blipFill>
        <p:spPr>
          <a:xfrm>
            <a:off x="185270" y="1439979"/>
            <a:ext cx="1828800" cy="1536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5270" y="1911740"/>
            <a:ext cx="1757081" cy="29971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185270" y="3216329"/>
            <a:ext cx="17570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Sheet Referensi</a:t>
            </a: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Konkordansi </a:t>
            </a:r>
            <a:r>
              <a:rPr lang="id-ID" sz="1200" dirty="0" smtClean="0">
                <a:latin typeface="Footlight MT Light" panose="0204060206030A020304" pitchFamily="18" charset="0"/>
              </a:rPr>
              <a:t>: Sheet referensi konkordansi setiap sektor Input Output dengan KBKI</a:t>
            </a: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Set 185 Sektor </a:t>
            </a:r>
            <a:r>
              <a:rPr lang="id-ID" sz="1200" dirty="0" smtClean="0">
                <a:latin typeface="Footlight MT Light" panose="0204060206030A020304" pitchFamily="18" charset="0"/>
              </a:rPr>
              <a:t>: Daftar nama 185 sektor model IndoTERM</a:t>
            </a: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Set 34 Region </a:t>
            </a:r>
            <a:r>
              <a:rPr lang="id-ID" sz="1200" dirty="0" smtClean="0">
                <a:latin typeface="Footlight MT Light" panose="0204060206030A020304" pitchFamily="18" charset="0"/>
              </a:rPr>
              <a:t>: Daftar nama 34 region model IndoTERM</a:t>
            </a: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Sheet Template</a:t>
            </a:r>
            <a:endParaRPr lang="id-ID" sz="1200" b="1" dirty="0" smtClean="0">
              <a:latin typeface="Footlight MT Light" panose="0204060206030A020304" pitchFamily="18" charset="0"/>
            </a:endParaRP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Template Sektor </a:t>
            </a:r>
            <a:r>
              <a:rPr lang="id-ID" sz="1200" dirty="0" smtClean="0">
                <a:latin typeface="Footlight MT Light" panose="0204060206030A020304" pitchFamily="18" charset="0"/>
              </a:rPr>
              <a:t>: Sheet untuk membuat mapping sektor</a:t>
            </a: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Template Region </a:t>
            </a:r>
            <a:r>
              <a:rPr lang="id-ID" sz="1200" dirty="0" smtClean="0">
                <a:latin typeface="Footlight MT Light" panose="0204060206030A020304" pitchFamily="18" charset="0"/>
              </a:rPr>
              <a:t>: </a:t>
            </a:r>
            <a:r>
              <a:rPr lang="id-ID" sz="1200" dirty="0" smtClean="0">
                <a:latin typeface="Footlight MT Light" panose="0204060206030A020304" pitchFamily="18" charset="0"/>
              </a:rPr>
              <a:t>Sheet untuk membuat mapping region</a:t>
            </a:r>
            <a:endParaRPr lang="id-ID" sz="1200" dirty="0" smtClean="0">
              <a:latin typeface="Footlight MT Light" panose="0204060206030A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281" y="128032"/>
            <a:ext cx="9107769" cy="381911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281" y="4263117"/>
            <a:ext cx="9107769" cy="234102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84900" y="744600"/>
            <a:ext cx="533400" cy="29337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Rectangle 14"/>
          <p:cNvSpPr/>
          <p:nvPr/>
        </p:nvSpPr>
        <p:spPr>
          <a:xfrm>
            <a:off x="5778500" y="4775199"/>
            <a:ext cx="292100" cy="161613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 15"/>
          <p:cNvSpPr/>
          <p:nvPr/>
        </p:nvSpPr>
        <p:spPr>
          <a:xfrm>
            <a:off x="6762375" y="977156"/>
            <a:ext cx="9181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050" dirty="0" smtClean="0">
                <a:latin typeface="Footlight MT Light" panose="0204060206030A020304" pitchFamily="18" charset="0"/>
              </a:rPr>
              <a:t>Isi tanda tanya dengan grouping 16 sektor</a:t>
            </a:r>
            <a:endParaRPr lang="id-ID" sz="1050" dirty="0" smtClean="0">
              <a:latin typeface="Footlight MT Light" panose="0204060206030A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70600" y="4775199"/>
            <a:ext cx="9181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050" dirty="0" smtClean="0">
                <a:latin typeface="Footlight MT Light" panose="0204060206030A020304" pitchFamily="18" charset="0"/>
              </a:rPr>
              <a:t>Isi tanda tanya dengan grouping 6 region</a:t>
            </a:r>
            <a:endParaRPr lang="id-ID" sz="1050" dirty="0" smtClean="0">
              <a:latin typeface="Footlight MT Light" panose="0204060206030A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348039" y="977156"/>
            <a:ext cx="91813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050" dirty="0" smtClean="0">
                <a:latin typeface="Footlight MT Light" panose="0204060206030A020304" pitchFamily="18" charset="0"/>
              </a:rPr>
              <a:t>Buat list 16 sektor pada excel : Data</a:t>
            </a:r>
            <a:r>
              <a:rPr lang="id-ID" sz="1050" dirty="0" smtClean="0">
                <a:latin typeface="Footlight MT Light" panose="0204060206030A020304" pitchFamily="18" charset="0"/>
                <a:sym typeface="Wingdings" panose="05000000000000000000" pitchFamily="2" charset="2"/>
              </a:rPr>
              <a:t> Remove Duplicates</a:t>
            </a:r>
            <a:endParaRPr lang="id-ID" sz="1050" dirty="0" smtClean="0">
              <a:latin typeface="Footlight MT Light" panose="0204060206030A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44982" y="4824528"/>
            <a:ext cx="91813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050" dirty="0" smtClean="0">
                <a:latin typeface="Footlight MT Light" panose="0204060206030A020304" pitchFamily="18" charset="0"/>
              </a:rPr>
              <a:t>Buat list 6 region pada excel : Data</a:t>
            </a:r>
            <a:r>
              <a:rPr lang="id-ID" sz="1050" dirty="0" smtClean="0">
                <a:latin typeface="Footlight MT Light" panose="0204060206030A020304" pitchFamily="18" charset="0"/>
                <a:sym typeface="Wingdings" panose="05000000000000000000" pitchFamily="2" charset="2"/>
              </a:rPr>
              <a:t> Remove Duplicates</a:t>
            </a:r>
            <a:endParaRPr lang="id-ID" sz="1050" dirty="0" smtClean="0">
              <a:latin typeface="Footlight MT Light" panose="0204060206030A020304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6988736" y="2208329"/>
            <a:ext cx="54142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9455243" y="2206858"/>
            <a:ext cx="54142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225896" y="5887828"/>
            <a:ext cx="54142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133882" y="5886357"/>
            <a:ext cx="54142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62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5" y="1542996"/>
            <a:ext cx="990600" cy="1190625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7046" y="916937"/>
            <a:ext cx="1172134" cy="790838"/>
          </a:xfrm>
        </p:spPr>
        <p:txBody>
          <a:bodyPr>
            <a:no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Bukalah file dengan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797012" y="0"/>
            <a:ext cx="1583140" cy="6805703"/>
            <a:chOff x="1292039" y="0"/>
            <a:chExt cx="1583140" cy="680570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3"/>
            <a:srcRect l="47133" r="28944"/>
            <a:stretch/>
          </p:blipFill>
          <p:spPr>
            <a:xfrm>
              <a:off x="1292039" y="0"/>
              <a:ext cx="1583140" cy="6805703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1388510" y="4703317"/>
              <a:ext cx="1255060" cy="567930"/>
            </a:xfrm>
            <a:prstGeom prst="rect">
              <a:avLst/>
            </a:prstGeom>
            <a:noFill/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88510" y="1707775"/>
              <a:ext cx="1255060" cy="840583"/>
            </a:xfrm>
            <a:prstGeom prst="rect">
              <a:avLst/>
            </a:prstGeom>
            <a:noFill/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cxnSp>
        <p:nvCxnSpPr>
          <p:cNvPr id="20" name="Straight Arrow Connector 19"/>
          <p:cNvCxnSpPr/>
          <p:nvPr/>
        </p:nvCxnSpPr>
        <p:spPr>
          <a:xfrm flipV="1">
            <a:off x="2770094" y="2129051"/>
            <a:ext cx="851112" cy="2247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877671" y="4987282"/>
            <a:ext cx="738812" cy="9570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r="29081" b="5273"/>
          <a:stretch/>
        </p:blipFill>
        <p:spPr>
          <a:xfrm>
            <a:off x="3616483" y="76411"/>
            <a:ext cx="8646459" cy="649325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1664" y="0"/>
            <a:ext cx="2179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latin typeface="Footlight MT Light" panose="0204060206030A020304" pitchFamily="18" charset="0"/>
              </a:rPr>
              <a:t>Langkah 2: </a:t>
            </a:r>
            <a:r>
              <a:rPr lang="id-ID" b="1" dirty="0" smtClean="0">
                <a:latin typeface="Footlight MT Light" panose="0204060206030A020304" pitchFamily="18" charset="0"/>
              </a:rPr>
              <a:t>Memodifikasi file extension .agg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8166" y="2873003"/>
            <a:ext cx="17570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Pilihlah salah satu file agg yang akan dimodifikasi,</a:t>
            </a: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Untuk mapping region</a:t>
            </a:r>
            <a:r>
              <a:rPr lang="id-ID" sz="1200" dirty="0" smtClean="0">
                <a:latin typeface="Footlight MT Light" panose="0204060206030A020304" pitchFamily="18" charset="0"/>
              </a:rPr>
              <a:t>: Gunakan file berawalan reg</a:t>
            </a:r>
          </a:p>
          <a:p>
            <a:r>
              <a:rPr lang="id-ID" sz="1200" b="1" dirty="0" smtClean="0">
                <a:latin typeface="Footlight MT Light" panose="0204060206030A020304" pitchFamily="18" charset="0"/>
              </a:rPr>
              <a:t>Untuk mapping sektor</a:t>
            </a:r>
            <a:r>
              <a:rPr lang="id-ID" sz="1200" dirty="0" smtClean="0">
                <a:latin typeface="Footlight MT Light" panose="0204060206030A020304" pitchFamily="18" charset="0"/>
              </a:rPr>
              <a:t>: Gunakan file berawalan sec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7537" y="1312356"/>
            <a:ext cx="57452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Header yang dimodifikasi :  AREG, MREG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57536" y="5132747"/>
            <a:ext cx="72549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Header yang dimodifikasi : ACOM , AIND, MCOM, MIND</a:t>
            </a:r>
            <a:endParaRPr lang="id-ID" sz="1200" dirty="0" smtClean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0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1" r="29081" b="81104"/>
          <a:stretch/>
        </p:blipFill>
        <p:spPr>
          <a:xfrm>
            <a:off x="3616483" y="76411"/>
            <a:ext cx="8646459" cy="129518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1664" y="0"/>
            <a:ext cx="2179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latin typeface="Footlight MT Light" panose="0204060206030A020304" pitchFamily="18" charset="0"/>
              </a:rPr>
              <a:t>Langkah 2: </a:t>
            </a:r>
            <a:r>
              <a:rPr lang="id-ID" b="1" dirty="0" smtClean="0">
                <a:latin typeface="Footlight MT Light" panose="0204060206030A020304" pitchFamily="18" charset="0"/>
              </a:rPr>
              <a:t>Memodifikasi file extension reg2.agg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52337" y="1607102"/>
            <a:ext cx="1959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Memodifikasi AREG: </a:t>
            </a:r>
          </a:p>
          <a:p>
            <a:r>
              <a:rPr lang="id-ID" sz="1200" dirty="0" smtClean="0">
                <a:latin typeface="Footlight MT Light" panose="0204060206030A020304" pitchFamily="18" charset="0"/>
              </a:rPr>
              <a:t>modifikasi size dengan cara klik kanan pada header AREG -&gt; Change Size -&gt;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018" y="1658443"/>
            <a:ext cx="3153727" cy="118350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52337" y="3756227"/>
            <a:ext cx="22765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Memodifikasi MREG </a:t>
            </a:r>
            <a:r>
              <a:rPr lang="id-ID" sz="1200" dirty="0" smtClean="0">
                <a:latin typeface="Footlight MT Light" panose="0204060206030A020304" pitchFamily="18" charset="0"/>
              </a:rPr>
              <a:t>-&gt; modifikasi mapping dengan cara mengcopy paste mapping region yang telah dibuat di excel ke header MREG</a:t>
            </a:r>
            <a:endParaRPr lang="id-ID" sz="1200" dirty="0" smtClean="0">
              <a:latin typeface="Footlight MT Light" panose="0204060206030A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170" y="1658443"/>
            <a:ext cx="1123950" cy="157162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103340" y="1791667"/>
            <a:ext cx="19590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 smtClean="0">
                <a:latin typeface="Footlight MT Light" panose="0204060206030A020304" pitchFamily="18" charset="0"/>
              </a:rPr>
              <a:t>Update list region dengan cara mengcopy paste dari list 6 region yang dibuat</a:t>
            </a:r>
            <a:endParaRPr lang="id-ID" sz="1200" dirty="0" smtClean="0">
              <a:latin typeface="Footlight MT Light" panose="0204060206030A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2403" y="1679205"/>
            <a:ext cx="1567720" cy="15508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076" y="3550595"/>
            <a:ext cx="1685024" cy="29406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/>
          <a:srcRect t="5671"/>
          <a:stretch/>
        </p:blipFill>
        <p:spPr>
          <a:xfrm>
            <a:off x="5054370" y="3550595"/>
            <a:ext cx="1648321" cy="2948843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7" idx="3"/>
            <a:endCxn id="10" idx="1"/>
          </p:cNvCxnSpPr>
          <p:nvPr/>
        </p:nvCxnSpPr>
        <p:spPr>
          <a:xfrm>
            <a:off x="4483100" y="5020941"/>
            <a:ext cx="571270" cy="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7534908" y="2524748"/>
            <a:ext cx="599809" cy="6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0796" y="3459725"/>
            <a:ext cx="1805130" cy="1993025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991120" y="3376189"/>
            <a:ext cx="2228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 smtClean="0">
                <a:latin typeface="Footlight MT Light" panose="0204060206030A020304" pitchFamily="18" charset="0"/>
              </a:rPr>
              <a:t>Save as file reg yang telah dimodifikasi menjadi </a:t>
            </a:r>
            <a:r>
              <a:rPr lang="id-ID" b="1" dirty="0" smtClean="0">
                <a:latin typeface="Footlight MT Light" panose="0204060206030A020304" pitchFamily="18" charset="0"/>
              </a:rPr>
              <a:t>reg6.agg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83401" y="3376189"/>
            <a:ext cx="5190660" cy="3075194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" name="Rectangle 24"/>
          <p:cNvSpPr/>
          <p:nvPr/>
        </p:nvSpPr>
        <p:spPr>
          <a:xfrm>
            <a:off x="7534908" y="887135"/>
            <a:ext cx="2993392" cy="1796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Rectangle 36"/>
          <p:cNvSpPr/>
          <p:nvPr/>
        </p:nvSpPr>
        <p:spPr>
          <a:xfrm>
            <a:off x="10915098" y="517943"/>
            <a:ext cx="11589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 smtClean="0">
                <a:latin typeface="Footlight MT Light" panose="0204060206030A020304" pitchFamily="18" charset="0"/>
              </a:rPr>
              <a:t>Klik kanan dan pilihlah Change header or name untuk merubah informasi Name</a:t>
            </a:r>
          </a:p>
        </p:txBody>
      </p:sp>
      <p:cxnSp>
        <p:nvCxnSpPr>
          <p:cNvPr id="27" name="Straight Arrow Connector 26"/>
          <p:cNvCxnSpPr>
            <a:stCxn id="25" idx="3"/>
          </p:cNvCxnSpPr>
          <p:nvPr/>
        </p:nvCxnSpPr>
        <p:spPr>
          <a:xfrm flipV="1">
            <a:off x="10528300" y="976967"/>
            <a:ext cx="3867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5689" y="5389011"/>
            <a:ext cx="5086084" cy="91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6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47057" r="29081" b="26819"/>
          <a:stretch/>
        </p:blipFill>
        <p:spPr>
          <a:xfrm>
            <a:off x="3545541" y="114299"/>
            <a:ext cx="8646459" cy="179070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1664" y="0"/>
            <a:ext cx="2179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latin typeface="Footlight MT Light" panose="0204060206030A020304" pitchFamily="18" charset="0"/>
              </a:rPr>
              <a:t>Langkah 2: </a:t>
            </a:r>
            <a:r>
              <a:rPr lang="id-ID" b="1" dirty="0" smtClean="0">
                <a:latin typeface="Footlight MT Light" panose="0204060206030A020304" pitchFamily="18" charset="0"/>
              </a:rPr>
              <a:t>Memodifikasi file extension sec20.agg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0737" y="2038902"/>
            <a:ext cx="1959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Memodifikasi ACOM: </a:t>
            </a:r>
          </a:p>
          <a:p>
            <a:r>
              <a:rPr lang="id-ID" sz="1200" dirty="0" smtClean="0">
                <a:latin typeface="Footlight MT Light" panose="0204060206030A020304" pitchFamily="18" charset="0"/>
              </a:rPr>
              <a:t>modifikasi size dengan cara klik kanan pada header ACOM -&gt; Change Size -&gt;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0719" y="2110704"/>
            <a:ext cx="19590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 smtClean="0">
                <a:latin typeface="Footlight MT Light" panose="0204060206030A020304" pitchFamily="18" charset="0"/>
              </a:rPr>
              <a:t>Update list sektor dengan cara mengcopy paste dari list 16 sektor yang dibuat</a:t>
            </a:r>
            <a:endParaRPr lang="id-ID" sz="1200" dirty="0" smtClean="0">
              <a:latin typeface="Footlight MT Light" panose="0204060206030A020304" pitchFamily="18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809565" y="2869899"/>
            <a:ext cx="599809" cy="6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20" y="2111005"/>
            <a:ext cx="3071819" cy="11401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b="35938"/>
          <a:stretch/>
        </p:blipFill>
        <p:spPr>
          <a:xfrm>
            <a:off x="5481135" y="2111005"/>
            <a:ext cx="1072288" cy="15846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b="34907"/>
          <a:stretch/>
        </p:blipFill>
        <p:spPr>
          <a:xfrm>
            <a:off x="8488505" y="2110705"/>
            <a:ext cx="1297729" cy="161039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52337" y="3756227"/>
            <a:ext cx="19696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Memodifikasi MCOM </a:t>
            </a:r>
            <a:r>
              <a:rPr lang="id-ID" sz="1200" dirty="0" smtClean="0">
                <a:latin typeface="Footlight MT Light" panose="0204060206030A020304" pitchFamily="18" charset="0"/>
              </a:rPr>
              <a:t>-&gt; modifikasi mapping dengan cara mengcopy paste mapping sektor yang telah dibuat di excel ke header MCOM</a:t>
            </a:r>
            <a:endParaRPr lang="id-ID" sz="1200" dirty="0" smtClean="0">
              <a:latin typeface="Footlight MT Light" panose="0204060206030A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235" y="3785184"/>
            <a:ext cx="1852172" cy="2745502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4069407" y="5049898"/>
            <a:ext cx="273993" cy="3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775659"/>
            <a:ext cx="1210542" cy="275502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885833" y="2110703"/>
            <a:ext cx="19590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 smtClean="0">
                <a:latin typeface="Footlight MT Light" panose="0204060206030A020304" pitchFamily="18" charset="0"/>
              </a:rPr>
              <a:t>Lakukan langkah yang sama untuk </a:t>
            </a:r>
            <a:r>
              <a:rPr lang="id-ID" sz="1200" b="1" dirty="0" smtClean="0">
                <a:latin typeface="Footlight MT Light" panose="0204060206030A020304" pitchFamily="18" charset="0"/>
              </a:rPr>
              <a:t>memodifikasi AIND</a:t>
            </a:r>
            <a:endParaRPr lang="id-ID" sz="1200" b="1" dirty="0" smtClean="0">
              <a:latin typeface="Footlight MT Light" panose="0204060206030A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553943" y="3843424"/>
            <a:ext cx="1158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 smtClean="0">
                <a:latin typeface="Footlight MT Light" panose="0204060206030A020304" pitchFamily="18" charset="0"/>
              </a:rPr>
              <a:t>Lakukan langkah yang sama untuk </a:t>
            </a:r>
            <a:r>
              <a:rPr lang="id-ID" sz="1200" b="1" dirty="0" smtClean="0">
                <a:latin typeface="Footlight MT Light" panose="0204060206030A020304" pitchFamily="18" charset="0"/>
              </a:rPr>
              <a:t>memodifikasi MIND</a:t>
            </a:r>
            <a:endParaRPr lang="id-ID" sz="1200" b="1" dirty="0" smtClean="0">
              <a:latin typeface="Footlight MT Light" panose="0204060206030A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6006" y="3885286"/>
            <a:ext cx="1458716" cy="161055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279813" y="3977141"/>
            <a:ext cx="2228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 smtClean="0">
                <a:latin typeface="Footlight MT Light" panose="0204060206030A020304" pitchFamily="18" charset="0"/>
              </a:rPr>
              <a:t>Save as file reg yang telah dimodifikasi menjadi </a:t>
            </a:r>
            <a:r>
              <a:rPr lang="id-ID" b="1" dirty="0" smtClean="0">
                <a:latin typeface="Footlight MT Light" panose="0204060206030A020304" pitchFamily="18" charset="0"/>
              </a:rPr>
              <a:t>sec16.agg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09565" y="3785184"/>
            <a:ext cx="5152007" cy="2869616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4598" y="5552624"/>
            <a:ext cx="4508902" cy="1102176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572057" y="1470476"/>
            <a:ext cx="2993392" cy="1796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Rectangle 30"/>
          <p:cNvSpPr/>
          <p:nvPr/>
        </p:nvSpPr>
        <p:spPr>
          <a:xfrm>
            <a:off x="10875443" y="620107"/>
            <a:ext cx="11589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200" dirty="0" smtClean="0">
                <a:latin typeface="Footlight MT Light" panose="0204060206030A020304" pitchFamily="18" charset="0"/>
              </a:rPr>
              <a:t>Klik kanan dan pilihlah Change header or name untuk merubah informasi Name</a:t>
            </a:r>
          </a:p>
        </p:txBody>
      </p:sp>
      <p:cxnSp>
        <p:nvCxnSpPr>
          <p:cNvPr id="33" name="Straight Arrow Connector 32"/>
          <p:cNvCxnSpPr>
            <a:stCxn id="30" idx="3"/>
          </p:cNvCxnSpPr>
          <p:nvPr/>
        </p:nvCxnSpPr>
        <p:spPr>
          <a:xfrm flipV="1">
            <a:off x="10565449" y="1560308"/>
            <a:ext cx="3867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54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1800" t="14542" r="71026" b="81692"/>
          <a:stretch/>
        </p:blipFill>
        <p:spPr>
          <a:xfrm>
            <a:off x="203045" y="2481081"/>
            <a:ext cx="1331145" cy="3928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6418" t="15904" r="55336" b="75933"/>
          <a:stretch/>
        </p:blipFill>
        <p:spPr>
          <a:xfrm>
            <a:off x="203045" y="2978832"/>
            <a:ext cx="3121203" cy="7850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21353" t="24500" r="52043" b="59693"/>
          <a:stretch/>
        </p:blipFill>
        <p:spPr>
          <a:xfrm>
            <a:off x="281726" y="1048144"/>
            <a:ext cx="1760562" cy="107576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50885" y="1330534"/>
            <a:ext cx="1111623" cy="36307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1534191" y="2497694"/>
            <a:ext cx="2177198" cy="453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200" dirty="0" smtClean="0">
                <a:latin typeface="Footlight MT Light" panose="0204060206030A020304" pitchFamily="18" charset="0"/>
              </a:rPr>
              <a:t>Klik Kanan Folder agregasi dan pilih </a:t>
            </a:r>
            <a:r>
              <a:rPr lang="id-ID" sz="1200" b="1" dirty="0" smtClean="0">
                <a:latin typeface="Footlight MT Light" panose="0204060206030A020304" pitchFamily="18" charset="0"/>
              </a:rPr>
              <a:t>Command Prompt Here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b="81022"/>
          <a:stretch/>
        </p:blipFill>
        <p:spPr>
          <a:xfrm>
            <a:off x="3842694" y="158612"/>
            <a:ext cx="6040894" cy="562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1744" y="759568"/>
            <a:ext cx="6021844" cy="1817403"/>
          </a:xfrm>
          <a:prstGeom prst="rect">
            <a:avLst/>
          </a:prstGeom>
        </p:spPr>
      </p:pic>
      <p:sp>
        <p:nvSpPr>
          <p:cNvPr id="23" name="Title 1"/>
          <p:cNvSpPr txBox="1">
            <a:spLocks/>
          </p:cNvSpPr>
          <p:nvPr/>
        </p:nvSpPr>
        <p:spPr>
          <a:xfrm>
            <a:off x="10637148" y="279139"/>
            <a:ext cx="1292276" cy="453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200" dirty="0" smtClean="0">
                <a:latin typeface="Footlight MT Light" panose="0204060206030A020304" pitchFamily="18" charset="0"/>
              </a:rPr>
              <a:t>Ketik </a:t>
            </a:r>
            <a:r>
              <a:rPr lang="id-ID" sz="1200" b="1" dirty="0" smtClean="0">
                <a:latin typeface="Footlight MT Light" panose="0204060206030A020304" pitchFamily="18" charset="0"/>
              </a:rPr>
              <a:t>doagg</a:t>
            </a:r>
            <a:r>
              <a:rPr lang="id-ID" sz="1200" dirty="0" smtClean="0">
                <a:latin typeface="Footlight MT Light" panose="0204060206030A020304" pitchFamily="18" charset="0"/>
              </a:rPr>
              <a:t> lalu tekan Enter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  <p:cxnSp>
        <p:nvCxnSpPr>
          <p:cNvPr id="13" name="Curved Connector 12"/>
          <p:cNvCxnSpPr>
            <a:stCxn id="23" idx="2"/>
            <a:endCxn id="10" idx="3"/>
          </p:cNvCxnSpPr>
          <p:nvPr/>
        </p:nvCxnSpPr>
        <p:spPr>
          <a:xfrm rot="5400000">
            <a:off x="10115553" y="500537"/>
            <a:ext cx="935768" cy="1399698"/>
          </a:xfrm>
          <a:prstGeom prst="curvedConnector2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/>
          <p:cNvSpPr txBox="1">
            <a:spLocks/>
          </p:cNvSpPr>
          <p:nvPr/>
        </p:nvSpPr>
        <p:spPr>
          <a:xfrm>
            <a:off x="10885263" y="1771174"/>
            <a:ext cx="1139587" cy="407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200" dirty="0" smtClean="0">
                <a:latin typeface="Footlight MT Light" panose="0204060206030A020304" pitchFamily="18" charset="0"/>
              </a:rPr>
              <a:t>Program memberikan informasi dibutuhkan 2 parameter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  <p:cxnSp>
        <p:nvCxnSpPr>
          <p:cNvPr id="27" name="Curved Connector 26"/>
          <p:cNvCxnSpPr>
            <a:stCxn id="24" idx="1"/>
          </p:cNvCxnSpPr>
          <p:nvPr/>
        </p:nvCxnSpPr>
        <p:spPr>
          <a:xfrm rot="10800000" flipV="1">
            <a:off x="7745509" y="1974909"/>
            <a:ext cx="3139755" cy="249628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23" idx="1"/>
          </p:cNvCxnSpPr>
          <p:nvPr/>
        </p:nvCxnSpPr>
        <p:spPr>
          <a:xfrm rot="10800000">
            <a:off x="8646462" y="479885"/>
            <a:ext cx="1990687" cy="25936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1664" y="0"/>
            <a:ext cx="2179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 smtClean="0">
                <a:latin typeface="Footlight MT Light" panose="0204060206030A020304" pitchFamily="18" charset="0"/>
              </a:rPr>
              <a:t>Langkah 2: </a:t>
            </a:r>
            <a:r>
              <a:rPr lang="id-ID" b="1" dirty="0" smtClean="0">
                <a:latin typeface="Footlight MT Light" panose="0204060206030A020304" pitchFamily="18" charset="0"/>
              </a:rPr>
              <a:t>Memodifikasi file extension .agg</a:t>
            </a:r>
            <a:endParaRPr lang="id-ID" b="1" dirty="0" smtClean="0">
              <a:latin typeface="Footlight MT Light" panose="0204060206030A020304" pitchFamily="18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1744" y="2606404"/>
            <a:ext cx="6040894" cy="1897803"/>
          </a:xfrm>
          <a:prstGeom prst="rect">
            <a:avLst/>
          </a:prstGeom>
        </p:spPr>
      </p:pic>
      <p:sp>
        <p:nvSpPr>
          <p:cNvPr id="47" name="Title 1"/>
          <p:cNvSpPr txBox="1">
            <a:spLocks/>
          </p:cNvSpPr>
          <p:nvPr/>
        </p:nvSpPr>
        <p:spPr>
          <a:xfrm>
            <a:off x="10648697" y="3247692"/>
            <a:ext cx="1215932" cy="407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200" dirty="0" smtClean="0">
                <a:latin typeface="Footlight MT Light" panose="0204060206030A020304" pitchFamily="18" charset="0"/>
              </a:rPr>
              <a:t>Gunakan sec16 dan reg6 yang telah dibuat dengan cara ketikkan doagg sec16 reg6 lalu tekan </a:t>
            </a:r>
            <a:r>
              <a:rPr lang="id-ID" sz="1200" b="1" dirty="0" smtClean="0">
                <a:latin typeface="Footlight MT Light" panose="0204060206030A020304" pitchFamily="18" charset="0"/>
              </a:rPr>
              <a:t>enter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  <p:cxnSp>
        <p:nvCxnSpPr>
          <p:cNvPr id="48" name="Curved Connector 47"/>
          <p:cNvCxnSpPr>
            <a:stCxn id="47" idx="1"/>
          </p:cNvCxnSpPr>
          <p:nvPr/>
        </p:nvCxnSpPr>
        <p:spPr>
          <a:xfrm rot="10800000" flipV="1">
            <a:off x="9130553" y="3451427"/>
            <a:ext cx="1518144" cy="649926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9927" y="4533640"/>
            <a:ext cx="5926428" cy="2278053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3324248" y="4777315"/>
            <a:ext cx="6801387" cy="42698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Title 1"/>
          <p:cNvSpPr txBox="1">
            <a:spLocks/>
          </p:cNvSpPr>
          <p:nvPr/>
        </p:nvSpPr>
        <p:spPr>
          <a:xfrm>
            <a:off x="10417364" y="4796830"/>
            <a:ext cx="1215932" cy="407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200" dirty="0" smtClean="0">
                <a:latin typeface="Footlight MT Light" panose="0204060206030A020304" pitchFamily="18" charset="0"/>
              </a:rPr>
              <a:t>Program berjalan tidak mengalami error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324248" y="5939907"/>
            <a:ext cx="6801387" cy="27778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Title 1"/>
          <p:cNvSpPr txBox="1">
            <a:spLocks/>
          </p:cNvSpPr>
          <p:nvPr/>
        </p:nvSpPr>
        <p:spPr>
          <a:xfrm>
            <a:off x="10375185" y="5875066"/>
            <a:ext cx="1215932" cy="407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1200" dirty="0" smtClean="0">
                <a:latin typeface="Footlight MT Light" panose="0204060206030A020304" pitchFamily="18" charset="0"/>
              </a:rPr>
              <a:t>File aggmod.har dan AGGSETS.HAR baru 16 sektor 6 region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14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292039" y="52297"/>
            <a:ext cx="1781175" cy="6805703"/>
            <a:chOff x="827554" y="52297"/>
            <a:chExt cx="1781175" cy="6805703"/>
          </a:xfrm>
        </p:grpSpPr>
        <p:grpSp>
          <p:nvGrpSpPr>
            <p:cNvPr id="6" name="Group 5"/>
            <p:cNvGrpSpPr/>
            <p:nvPr/>
          </p:nvGrpSpPr>
          <p:grpSpPr>
            <a:xfrm>
              <a:off x="827554" y="52297"/>
              <a:ext cx="1418106" cy="6805703"/>
              <a:chOff x="5574366" y="0"/>
              <a:chExt cx="1418106" cy="6805703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/>
              <a:srcRect r="78571"/>
              <a:stretch/>
            </p:blipFill>
            <p:spPr>
              <a:xfrm>
                <a:off x="5574366" y="0"/>
                <a:ext cx="1418106" cy="6805703"/>
              </a:xfrm>
              <a:prstGeom prst="rect">
                <a:avLst/>
              </a:prstGeom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5674657" y="1245486"/>
                <a:ext cx="1255060" cy="299710"/>
              </a:xfrm>
              <a:prstGeom prst="rect">
                <a:avLst/>
              </a:prstGeom>
              <a:noFill/>
              <a:ln w="57150">
                <a:solidFill>
                  <a:srgbClr val="FF01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5674657" y="3473215"/>
                <a:ext cx="1255060" cy="299710"/>
              </a:xfrm>
              <a:prstGeom prst="rect">
                <a:avLst/>
              </a:prstGeom>
              <a:noFill/>
              <a:ln w="57150">
                <a:solidFill>
                  <a:srgbClr val="FF01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cxnSp>
          <p:nvCxnSpPr>
            <p:cNvPr id="25" name="Straight Arrow Connector 24"/>
            <p:cNvCxnSpPr/>
            <p:nvPr/>
          </p:nvCxnSpPr>
          <p:spPr>
            <a:xfrm flipV="1">
              <a:off x="2182905" y="1452282"/>
              <a:ext cx="425824" cy="1"/>
            </a:xfrm>
            <a:prstGeom prst="straightConnector1">
              <a:avLst/>
            </a:prstGeom>
            <a:ln w="28575">
              <a:solidFill>
                <a:srgbClr val="FF01B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2182905" y="3675367"/>
              <a:ext cx="425824" cy="1"/>
            </a:xfrm>
            <a:prstGeom prst="straightConnector1">
              <a:avLst/>
            </a:prstGeom>
            <a:ln w="28575">
              <a:solidFill>
                <a:srgbClr val="FF01B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04" y="702470"/>
            <a:ext cx="990600" cy="1190625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119905" y="76411"/>
            <a:ext cx="1172134" cy="790838"/>
          </a:xfrm>
        </p:spPr>
        <p:txBody>
          <a:bodyPr>
            <a:noAutofit/>
          </a:bodyPr>
          <a:lstStyle/>
          <a:p>
            <a:r>
              <a:rPr lang="id-ID" sz="1200" b="1" dirty="0" smtClean="0">
                <a:latin typeface="Footlight MT Light" panose="0204060206030A020304" pitchFamily="18" charset="0"/>
              </a:rPr>
              <a:t>Bukalah file dengan</a:t>
            </a:r>
            <a:endParaRPr lang="id-ID" sz="1200" b="1" dirty="0">
              <a:latin typeface="Footlight MT Light" panose="0204060206030A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214" y="183766"/>
            <a:ext cx="9030748" cy="631116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18212" y="3939988"/>
            <a:ext cx="1048870" cy="36307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Rectangle 36"/>
          <p:cNvSpPr/>
          <p:nvPr/>
        </p:nvSpPr>
        <p:spPr>
          <a:xfrm>
            <a:off x="4491318" y="5611906"/>
            <a:ext cx="1048870" cy="36307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/>
          <p:cNvSpPr/>
          <p:nvPr/>
        </p:nvSpPr>
        <p:spPr>
          <a:xfrm>
            <a:off x="4491318" y="1917747"/>
            <a:ext cx="1048870" cy="36307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5"/>
          <a:srcRect r="40643"/>
          <a:stretch/>
        </p:blipFill>
        <p:spPr>
          <a:xfrm>
            <a:off x="6702239" y="471830"/>
            <a:ext cx="5238750" cy="306687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7924800" y="1736211"/>
            <a:ext cx="1048870" cy="36307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393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1243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Footlight MT Light</vt:lpstr>
      <vt:lpstr>Times New Roman</vt:lpstr>
      <vt:lpstr>Wingdings</vt:lpstr>
      <vt:lpstr>Office Theme</vt:lpstr>
      <vt:lpstr>Mempersiapkan database untuk simulasi model IndoTERM</vt:lpstr>
      <vt:lpstr>Full data IndoTERM https://www.copsmodels.com/archivep.htm</vt:lpstr>
      <vt:lpstr>Download File aggregasi.zip</vt:lpstr>
      <vt:lpstr>PowerPoint Presentation</vt:lpstr>
      <vt:lpstr>PowerPoint Presentation</vt:lpstr>
      <vt:lpstr>Bukalah file dengan</vt:lpstr>
      <vt:lpstr>PowerPoint Presentation</vt:lpstr>
      <vt:lpstr>PowerPoint Presentation</vt:lpstr>
      <vt:lpstr>PowerPoint Presentation</vt:lpstr>
      <vt:lpstr>Bukalah file dengan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Mempersiapkan database untuk model IndoTERM</dc:title>
  <dc:creator>Megananda</dc:creator>
  <cp:lastModifiedBy>Megananda</cp:lastModifiedBy>
  <cp:revision>31</cp:revision>
  <dcterms:created xsi:type="dcterms:W3CDTF">2024-09-03T12:04:02Z</dcterms:created>
  <dcterms:modified xsi:type="dcterms:W3CDTF">2024-09-04T04:29:53Z</dcterms:modified>
</cp:coreProperties>
</file>