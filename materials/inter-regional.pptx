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9"/>
  </p:notesMasterIdLst>
  <p:sldIdLst>
    <p:sldId id="260" r:id="rId2"/>
    <p:sldId id="298" r:id="rId3"/>
    <p:sldId id="299" r:id="rId4"/>
    <p:sldId id="300" r:id="rId5"/>
    <p:sldId id="310" r:id="rId6"/>
    <p:sldId id="301" r:id="rId7"/>
    <p:sldId id="27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38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18FA51-7474-41D1-9A8C-17CBE0331BE4}" type="doc">
      <dgm:prSet loTypeId="urn:microsoft.com/office/officeart/2005/8/layout/lProcess2" loCatId="list" qsTypeId="urn:microsoft.com/office/officeart/2005/8/quickstyle/simple4" qsCatId="simple" csTypeId="urn:microsoft.com/office/officeart/2005/8/colors/colorful1#1" csCatId="colorful" phldr="1"/>
      <dgm:spPr/>
    </dgm:pt>
    <dgm:pt modelId="{D31E13F4-DDE7-42F2-9061-C85A38DCA666}">
      <dgm:prSet phldrT="[Text]"/>
      <dgm:spPr/>
      <dgm:t>
        <a:bodyPr/>
        <a:lstStyle/>
        <a:p>
          <a:r>
            <a:rPr lang="en-US"/>
            <a:t>Analyzing regional impact of national or international  shock/policies</a:t>
          </a:r>
          <a:endParaRPr lang="en-US" dirty="0"/>
        </a:p>
      </dgm:t>
    </dgm:pt>
    <dgm:pt modelId="{BB7AAF9C-59E0-4604-ABA6-B05FB8ACB17C}" type="parTrans" cxnId="{9A4DA7C1-836A-4C3C-9424-B438435E606D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90BA94B0-2B9F-4799-AB24-FC944065DD1D}" type="sibTrans" cxnId="{9A4DA7C1-836A-4C3C-9424-B438435E606D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4430DA1E-0DF1-43B4-B4F8-8BBC55535485}">
      <dgm:prSet/>
      <dgm:spPr/>
      <dgm:t>
        <a:bodyPr/>
        <a:lstStyle/>
        <a:p>
          <a:r>
            <a:rPr lang="en-US"/>
            <a:t>International oil price shocks</a:t>
          </a:r>
          <a:endParaRPr lang="en-US" dirty="0"/>
        </a:p>
      </dgm:t>
    </dgm:pt>
    <dgm:pt modelId="{13B344C1-1CB8-45D3-80F4-0ECF02B86B8D}" type="parTrans" cxnId="{7D111F56-2F10-42F3-B685-87295FE86DBE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D8EDF77-0CD5-4922-B730-6CE0D20C53D2}" type="sibTrans" cxnId="{7D111F56-2F10-42F3-B685-87295FE86DBE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382C67AA-9CE2-48DE-A7F5-0F6E3AED5065}">
      <dgm:prSet/>
      <dgm:spPr/>
      <dgm:t>
        <a:bodyPr/>
        <a:lstStyle/>
        <a:p>
          <a:r>
            <a:rPr lang="en-US"/>
            <a:t>Import Tariff </a:t>
          </a:r>
          <a:endParaRPr lang="en-US" dirty="0"/>
        </a:p>
      </dgm:t>
    </dgm:pt>
    <dgm:pt modelId="{CCB89D56-443C-4092-BA60-4A17EAFE2DE3}" type="parTrans" cxnId="{6F226694-853E-4C8F-8D78-238DD951AD0E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F6BB633-DE7D-4261-B2CC-01870EA31805}" type="sibTrans" cxnId="{6F226694-853E-4C8F-8D78-238DD951AD0E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72C6927D-25A1-4E62-B529-21C21907926C}">
      <dgm:prSet/>
      <dgm:spPr/>
      <dgm:t>
        <a:bodyPr/>
        <a:lstStyle/>
        <a:p>
          <a:r>
            <a:rPr lang="en-US"/>
            <a:t>Nation-wide indirect taxes</a:t>
          </a:r>
          <a:endParaRPr lang="en-US" dirty="0"/>
        </a:p>
      </dgm:t>
    </dgm:pt>
    <dgm:pt modelId="{89FB2F7F-5F39-4089-B07C-713F7E3F63FE}" type="parTrans" cxnId="{95E12B74-B73A-4DEB-886A-C2E43A530CAC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1A9177B7-B888-4034-BAAF-FB904C548D5E}" type="sibTrans" cxnId="{95E12B74-B73A-4DEB-886A-C2E43A530CAC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541F2D8F-A1CE-4774-8D4C-BC29BE8B9291}">
      <dgm:prSet/>
      <dgm:spPr/>
      <dgm:t>
        <a:bodyPr/>
        <a:lstStyle/>
        <a:p>
          <a:r>
            <a:rPr lang="en-US"/>
            <a:t>Analyzing nation-wide impact of region-specific shocks</a:t>
          </a:r>
          <a:endParaRPr lang="en-US" dirty="0"/>
        </a:p>
      </dgm:t>
    </dgm:pt>
    <dgm:pt modelId="{F46C353E-69C8-439C-81C2-5B7B3CCB3616}" type="parTrans" cxnId="{8A22646E-782C-4981-A4A6-A2E12C104C56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41F42EC-C8D1-4B90-9310-5280FDC77A61}" type="sibTrans" cxnId="{8A22646E-782C-4981-A4A6-A2E12C104C56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51CA70BD-1FA0-428D-AB5F-BBD6914F76AC}">
      <dgm:prSet/>
      <dgm:spPr/>
      <dgm:t>
        <a:bodyPr/>
        <a:lstStyle/>
        <a:p>
          <a:r>
            <a:rPr lang="en-US"/>
            <a:t>Regional policies (regional taxes)</a:t>
          </a:r>
          <a:endParaRPr lang="en-US" dirty="0"/>
        </a:p>
      </dgm:t>
    </dgm:pt>
    <dgm:pt modelId="{AA3E617F-B4D4-4976-B689-DFD7DDF2E468}" type="parTrans" cxnId="{B7D8806B-8DD6-459F-8907-3879B619CD41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AAA84D41-A352-4288-A525-801CB6BA73DF}" type="sibTrans" cxnId="{B7D8806B-8DD6-459F-8907-3879B619CD41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1C741025-67C0-4CB5-88AE-99E087584BFE}">
      <dgm:prSet/>
      <dgm:spPr/>
      <dgm:t>
        <a:bodyPr/>
        <a:lstStyle/>
        <a:p>
          <a:r>
            <a:rPr lang="en-US"/>
            <a:t>Regional specific productivity shocks (draught)</a:t>
          </a:r>
          <a:endParaRPr lang="en-US" dirty="0"/>
        </a:p>
      </dgm:t>
    </dgm:pt>
    <dgm:pt modelId="{500F3040-7A93-4500-8E46-B5AE6B11FBAA}" type="parTrans" cxnId="{0D4BD316-6A63-4F17-AF31-5507DA0EF4D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9A67F9CC-0B34-423E-ACB8-F6ADACB0BFC9}" type="sibTrans" cxnId="{0D4BD316-6A63-4F17-AF31-5507DA0EF4D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A8166030-D3C7-4F4B-B29E-BA3D4A1CD336}">
      <dgm:prSet/>
      <dgm:spPr/>
      <dgm:t>
        <a:bodyPr/>
        <a:lstStyle/>
        <a:p>
          <a:r>
            <a:rPr lang="en-US"/>
            <a:t>Analyzing impact of improving connectivity</a:t>
          </a:r>
          <a:endParaRPr lang="en-US" dirty="0"/>
        </a:p>
      </dgm:t>
    </dgm:pt>
    <dgm:pt modelId="{1070F8E8-E276-4A86-89FD-E6F34F17D9B3}" type="parTrans" cxnId="{D6C921A7-B9E7-412A-8DD8-AF6B886CDA0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E0C7B41F-DB94-4939-8A52-91DE7AE32757}" type="sibTrans" cxnId="{D6C921A7-B9E7-412A-8DD8-AF6B886CDA0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73B5C440-6F2C-4EAB-83C5-CF93F46A152B}">
      <dgm:prSet/>
      <dgm:spPr/>
      <dgm:t>
        <a:bodyPr/>
        <a:lstStyle/>
        <a:p>
          <a:r>
            <a:rPr lang="en-US"/>
            <a:t>Efficiency in transport services</a:t>
          </a:r>
          <a:endParaRPr lang="en-US" dirty="0"/>
        </a:p>
      </dgm:t>
    </dgm:pt>
    <dgm:pt modelId="{111C11DD-8853-48FC-A78A-68C165EB2660}" type="parTrans" cxnId="{E8D0BDE9-0744-448A-B670-85B82F914A49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2082D15C-CBAF-48AC-9B46-C869DEF268EF}" type="sibTrans" cxnId="{E8D0BDE9-0744-448A-B670-85B82F914A49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538884CC-A536-4FB1-A0F7-BC933F49A146}">
      <dgm:prSet/>
      <dgm:spPr/>
      <dgm:t>
        <a:bodyPr/>
        <a:lstStyle/>
        <a:p>
          <a:r>
            <a:rPr lang="en-US"/>
            <a:t>Specific source-destination transport efficiency</a:t>
          </a:r>
          <a:endParaRPr lang="en-US" dirty="0"/>
        </a:p>
      </dgm:t>
    </dgm:pt>
    <dgm:pt modelId="{8A9A6EF6-37B7-4092-8885-2FA67C6492E9}" type="parTrans" cxnId="{8618EE73-8F3A-4372-B090-E729DE4AD4B1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9D2DE87A-51D9-4011-B3E9-7CA987A25726}" type="sibTrans" cxnId="{8618EE73-8F3A-4372-B090-E729DE4AD4B1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EEDD56AF-06C7-46D3-A489-487EBDD1DD11}">
      <dgm:prSet/>
      <dgm:spPr/>
      <dgm:t>
        <a:bodyPr/>
        <a:lstStyle/>
        <a:p>
          <a:r>
            <a:rPr lang="en-US"/>
            <a:t>Other areas</a:t>
          </a:r>
          <a:endParaRPr lang="en-US" dirty="0"/>
        </a:p>
      </dgm:t>
    </dgm:pt>
    <dgm:pt modelId="{3691740E-F795-46E7-A287-2CAFB63B754D}" type="parTrans" cxnId="{94D61F71-7FAB-4513-AFD3-6484CDDA66C6}">
      <dgm:prSet/>
      <dgm:spPr/>
      <dgm:t>
        <a:bodyPr/>
        <a:lstStyle/>
        <a:p>
          <a:endParaRPr lang="en-US"/>
        </a:p>
      </dgm:t>
    </dgm:pt>
    <dgm:pt modelId="{25EA7B64-697D-4D0D-BD97-23404323476F}" type="sibTrans" cxnId="{94D61F71-7FAB-4513-AFD3-6484CDDA66C6}">
      <dgm:prSet/>
      <dgm:spPr/>
      <dgm:t>
        <a:bodyPr/>
        <a:lstStyle/>
        <a:p>
          <a:endParaRPr lang="en-US"/>
        </a:p>
      </dgm:t>
    </dgm:pt>
    <dgm:pt modelId="{3E136838-46DF-4420-9084-4F4906C1A848}" type="pres">
      <dgm:prSet presAssocID="{5818FA51-7474-41D1-9A8C-17CBE0331BE4}" presName="theList" presStyleCnt="0">
        <dgm:presLayoutVars>
          <dgm:dir/>
          <dgm:animLvl val="lvl"/>
          <dgm:resizeHandles val="exact"/>
        </dgm:presLayoutVars>
      </dgm:prSet>
      <dgm:spPr/>
    </dgm:pt>
    <dgm:pt modelId="{519CF63F-D77E-4262-9B2A-54603531E4BE}" type="pres">
      <dgm:prSet presAssocID="{D31E13F4-DDE7-42F2-9061-C85A38DCA666}" presName="compNode" presStyleCnt="0"/>
      <dgm:spPr/>
    </dgm:pt>
    <dgm:pt modelId="{53107359-113A-4A4C-9E01-3BD624E1774D}" type="pres">
      <dgm:prSet presAssocID="{D31E13F4-DDE7-42F2-9061-C85A38DCA666}" presName="aNode" presStyleLbl="bgShp" presStyleIdx="0" presStyleCnt="4"/>
      <dgm:spPr/>
    </dgm:pt>
    <dgm:pt modelId="{3F86793F-F3BE-4084-A7DE-B04227CF7D17}" type="pres">
      <dgm:prSet presAssocID="{D31E13F4-DDE7-42F2-9061-C85A38DCA666}" presName="textNode" presStyleLbl="bgShp" presStyleIdx="0" presStyleCnt="4"/>
      <dgm:spPr/>
    </dgm:pt>
    <dgm:pt modelId="{E1D784E4-B7F0-426E-B8FA-B4232226D211}" type="pres">
      <dgm:prSet presAssocID="{D31E13F4-DDE7-42F2-9061-C85A38DCA666}" presName="compChildNode" presStyleCnt="0"/>
      <dgm:spPr/>
    </dgm:pt>
    <dgm:pt modelId="{9B92E06A-55EB-4261-832C-A7C8434072A0}" type="pres">
      <dgm:prSet presAssocID="{D31E13F4-DDE7-42F2-9061-C85A38DCA666}" presName="theInnerList" presStyleCnt="0"/>
      <dgm:spPr/>
    </dgm:pt>
    <dgm:pt modelId="{E6387676-DC6F-45A9-89F9-5E93E616432C}" type="pres">
      <dgm:prSet presAssocID="{4430DA1E-0DF1-43B4-B4F8-8BBC55535485}" presName="childNode" presStyleLbl="node1" presStyleIdx="0" presStyleCnt="7">
        <dgm:presLayoutVars>
          <dgm:bulletEnabled val="1"/>
        </dgm:presLayoutVars>
      </dgm:prSet>
      <dgm:spPr/>
    </dgm:pt>
    <dgm:pt modelId="{FD80FB4D-600E-4A17-92DA-96459C3FE6BD}" type="pres">
      <dgm:prSet presAssocID="{4430DA1E-0DF1-43B4-B4F8-8BBC55535485}" presName="aSpace2" presStyleCnt="0"/>
      <dgm:spPr/>
    </dgm:pt>
    <dgm:pt modelId="{1535C94B-A2CA-4C6F-B063-0B9A43D18318}" type="pres">
      <dgm:prSet presAssocID="{382C67AA-9CE2-48DE-A7F5-0F6E3AED5065}" presName="childNode" presStyleLbl="node1" presStyleIdx="1" presStyleCnt="7">
        <dgm:presLayoutVars>
          <dgm:bulletEnabled val="1"/>
        </dgm:presLayoutVars>
      </dgm:prSet>
      <dgm:spPr/>
    </dgm:pt>
    <dgm:pt modelId="{155EA6E1-A395-4E65-96E0-4FC659734334}" type="pres">
      <dgm:prSet presAssocID="{382C67AA-9CE2-48DE-A7F5-0F6E3AED5065}" presName="aSpace2" presStyleCnt="0"/>
      <dgm:spPr/>
    </dgm:pt>
    <dgm:pt modelId="{1B687A90-CFD7-4346-88A1-E55DA9AAB14D}" type="pres">
      <dgm:prSet presAssocID="{72C6927D-25A1-4E62-B529-21C21907926C}" presName="childNode" presStyleLbl="node1" presStyleIdx="2" presStyleCnt="7">
        <dgm:presLayoutVars>
          <dgm:bulletEnabled val="1"/>
        </dgm:presLayoutVars>
      </dgm:prSet>
      <dgm:spPr/>
    </dgm:pt>
    <dgm:pt modelId="{1375B2F8-F4ED-42E9-AA61-26ACB40E5638}" type="pres">
      <dgm:prSet presAssocID="{D31E13F4-DDE7-42F2-9061-C85A38DCA666}" presName="aSpace" presStyleCnt="0"/>
      <dgm:spPr/>
    </dgm:pt>
    <dgm:pt modelId="{D97E440D-7E42-4DF7-9CEE-018B9971C561}" type="pres">
      <dgm:prSet presAssocID="{541F2D8F-A1CE-4774-8D4C-BC29BE8B9291}" presName="compNode" presStyleCnt="0"/>
      <dgm:spPr/>
    </dgm:pt>
    <dgm:pt modelId="{D1B5F430-40EE-4D95-A93F-A6B850B3CC86}" type="pres">
      <dgm:prSet presAssocID="{541F2D8F-A1CE-4774-8D4C-BC29BE8B9291}" presName="aNode" presStyleLbl="bgShp" presStyleIdx="1" presStyleCnt="4"/>
      <dgm:spPr/>
    </dgm:pt>
    <dgm:pt modelId="{41576BFE-94F1-4EEF-A3A2-12338F6098CC}" type="pres">
      <dgm:prSet presAssocID="{541F2D8F-A1CE-4774-8D4C-BC29BE8B9291}" presName="textNode" presStyleLbl="bgShp" presStyleIdx="1" presStyleCnt="4"/>
      <dgm:spPr/>
    </dgm:pt>
    <dgm:pt modelId="{3A363ADC-F122-4BE1-B633-EFE351B81594}" type="pres">
      <dgm:prSet presAssocID="{541F2D8F-A1CE-4774-8D4C-BC29BE8B9291}" presName="compChildNode" presStyleCnt="0"/>
      <dgm:spPr/>
    </dgm:pt>
    <dgm:pt modelId="{03F181C9-4F3C-4282-8792-86959628579E}" type="pres">
      <dgm:prSet presAssocID="{541F2D8F-A1CE-4774-8D4C-BC29BE8B9291}" presName="theInnerList" presStyleCnt="0"/>
      <dgm:spPr/>
    </dgm:pt>
    <dgm:pt modelId="{0D902260-DDFA-426C-BD91-363BAFE2A846}" type="pres">
      <dgm:prSet presAssocID="{51CA70BD-1FA0-428D-AB5F-BBD6914F76AC}" presName="childNode" presStyleLbl="node1" presStyleIdx="3" presStyleCnt="7">
        <dgm:presLayoutVars>
          <dgm:bulletEnabled val="1"/>
        </dgm:presLayoutVars>
      </dgm:prSet>
      <dgm:spPr/>
    </dgm:pt>
    <dgm:pt modelId="{321B7398-9582-4745-878F-0886F4B00B50}" type="pres">
      <dgm:prSet presAssocID="{51CA70BD-1FA0-428D-AB5F-BBD6914F76AC}" presName="aSpace2" presStyleCnt="0"/>
      <dgm:spPr/>
    </dgm:pt>
    <dgm:pt modelId="{21C11232-8A31-458D-BFA6-5555A0BC8971}" type="pres">
      <dgm:prSet presAssocID="{1C741025-67C0-4CB5-88AE-99E087584BFE}" presName="childNode" presStyleLbl="node1" presStyleIdx="4" presStyleCnt="7">
        <dgm:presLayoutVars>
          <dgm:bulletEnabled val="1"/>
        </dgm:presLayoutVars>
      </dgm:prSet>
      <dgm:spPr/>
    </dgm:pt>
    <dgm:pt modelId="{FE786DFC-53BF-4283-A197-2D106FD7B7F5}" type="pres">
      <dgm:prSet presAssocID="{541F2D8F-A1CE-4774-8D4C-BC29BE8B9291}" presName="aSpace" presStyleCnt="0"/>
      <dgm:spPr/>
    </dgm:pt>
    <dgm:pt modelId="{86967F44-F579-40E5-B069-705AF801BB8F}" type="pres">
      <dgm:prSet presAssocID="{A8166030-D3C7-4F4B-B29E-BA3D4A1CD336}" presName="compNode" presStyleCnt="0"/>
      <dgm:spPr/>
    </dgm:pt>
    <dgm:pt modelId="{BB05446B-59F9-4C72-A352-934124A7F0F0}" type="pres">
      <dgm:prSet presAssocID="{A8166030-D3C7-4F4B-B29E-BA3D4A1CD336}" presName="aNode" presStyleLbl="bgShp" presStyleIdx="2" presStyleCnt="4"/>
      <dgm:spPr/>
    </dgm:pt>
    <dgm:pt modelId="{2B8C11F6-2E6B-47AA-B419-FC34F35F769F}" type="pres">
      <dgm:prSet presAssocID="{A8166030-D3C7-4F4B-B29E-BA3D4A1CD336}" presName="textNode" presStyleLbl="bgShp" presStyleIdx="2" presStyleCnt="4"/>
      <dgm:spPr/>
    </dgm:pt>
    <dgm:pt modelId="{F1087A3E-1725-477C-B82E-5D950173B8E1}" type="pres">
      <dgm:prSet presAssocID="{A8166030-D3C7-4F4B-B29E-BA3D4A1CD336}" presName="compChildNode" presStyleCnt="0"/>
      <dgm:spPr/>
    </dgm:pt>
    <dgm:pt modelId="{F5B0F621-970D-4140-81A6-700B0C43AF56}" type="pres">
      <dgm:prSet presAssocID="{A8166030-D3C7-4F4B-B29E-BA3D4A1CD336}" presName="theInnerList" presStyleCnt="0"/>
      <dgm:spPr/>
    </dgm:pt>
    <dgm:pt modelId="{4062D259-56BA-40D7-ADB9-F2E2AA718F86}" type="pres">
      <dgm:prSet presAssocID="{73B5C440-6F2C-4EAB-83C5-CF93F46A152B}" presName="childNode" presStyleLbl="node1" presStyleIdx="5" presStyleCnt="7">
        <dgm:presLayoutVars>
          <dgm:bulletEnabled val="1"/>
        </dgm:presLayoutVars>
      </dgm:prSet>
      <dgm:spPr/>
    </dgm:pt>
    <dgm:pt modelId="{248B1E34-752E-4F2C-86CD-B21B8DD23DB3}" type="pres">
      <dgm:prSet presAssocID="{73B5C440-6F2C-4EAB-83C5-CF93F46A152B}" presName="aSpace2" presStyleCnt="0"/>
      <dgm:spPr/>
    </dgm:pt>
    <dgm:pt modelId="{AFBDB421-BF4E-4ACE-9A0A-14AF3C6A9315}" type="pres">
      <dgm:prSet presAssocID="{538884CC-A536-4FB1-A0F7-BC933F49A146}" presName="childNode" presStyleLbl="node1" presStyleIdx="6" presStyleCnt="7">
        <dgm:presLayoutVars>
          <dgm:bulletEnabled val="1"/>
        </dgm:presLayoutVars>
      </dgm:prSet>
      <dgm:spPr/>
    </dgm:pt>
    <dgm:pt modelId="{83E59D9A-76A0-42CC-9EC0-F6729967E84A}" type="pres">
      <dgm:prSet presAssocID="{A8166030-D3C7-4F4B-B29E-BA3D4A1CD336}" presName="aSpace" presStyleCnt="0"/>
      <dgm:spPr/>
    </dgm:pt>
    <dgm:pt modelId="{8DC5FDA3-E865-49B6-93F6-1E7FA3E61BE7}" type="pres">
      <dgm:prSet presAssocID="{EEDD56AF-06C7-46D3-A489-487EBDD1DD11}" presName="compNode" presStyleCnt="0"/>
      <dgm:spPr/>
    </dgm:pt>
    <dgm:pt modelId="{CFA31E61-61AA-4DAF-9556-40710FF9241B}" type="pres">
      <dgm:prSet presAssocID="{EEDD56AF-06C7-46D3-A489-487EBDD1DD11}" presName="aNode" presStyleLbl="bgShp" presStyleIdx="3" presStyleCnt="4"/>
      <dgm:spPr/>
    </dgm:pt>
    <dgm:pt modelId="{FC1AD4A3-637A-4010-A300-B7DB72DC678F}" type="pres">
      <dgm:prSet presAssocID="{EEDD56AF-06C7-46D3-A489-487EBDD1DD11}" presName="textNode" presStyleLbl="bgShp" presStyleIdx="3" presStyleCnt="4"/>
      <dgm:spPr/>
    </dgm:pt>
    <dgm:pt modelId="{C0A09133-4472-4889-A72F-91C7403B5D4F}" type="pres">
      <dgm:prSet presAssocID="{EEDD56AF-06C7-46D3-A489-487EBDD1DD11}" presName="compChildNode" presStyleCnt="0"/>
      <dgm:spPr/>
    </dgm:pt>
    <dgm:pt modelId="{FBCE418F-08AC-43F4-83A3-07E61845C1F7}" type="pres">
      <dgm:prSet presAssocID="{EEDD56AF-06C7-46D3-A489-487EBDD1DD11}" presName="theInnerList" presStyleCnt="0"/>
      <dgm:spPr/>
    </dgm:pt>
  </dgm:ptLst>
  <dgm:cxnLst>
    <dgm:cxn modelId="{47CB8301-2AD2-4EC7-A67D-2EF0694BC15A}" type="presOf" srcId="{382C67AA-9CE2-48DE-A7F5-0F6E3AED5065}" destId="{1535C94B-A2CA-4C6F-B063-0B9A43D18318}" srcOrd="0" destOrd="0" presId="urn:microsoft.com/office/officeart/2005/8/layout/lProcess2"/>
    <dgm:cxn modelId="{90F5DB01-B921-452C-8A21-1BAD9622C4D4}" type="presOf" srcId="{72C6927D-25A1-4E62-B529-21C21907926C}" destId="{1B687A90-CFD7-4346-88A1-E55DA9AAB14D}" srcOrd="0" destOrd="0" presId="urn:microsoft.com/office/officeart/2005/8/layout/lProcess2"/>
    <dgm:cxn modelId="{26D80E15-F2DA-4D95-8818-A0F7BA4BC40E}" type="presOf" srcId="{538884CC-A536-4FB1-A0F7-BC933F49A146}" destId="{AFBDB421-BF4E-4ACE-9A0A-14AF3C6A9315}" srcOrd="0" destOrd="0" presId="urn:microsoft.com/office/officeart/2005/8/layout/lProcess2"/>
    <dgm:cxn modelId="{0D4BD316-6A63-4F17-AF31-5507DA0EF4D8}" srcId="{541F2D8F-A1CE-4774-8D4C-BC29BE8B9291}" destId="{1C741025-67C0-4CB5-88AE-99E087584BFE}" srcOrd="1" destOrd="0" parTransId="{500F3040-7A93-4500-8E46-B5AE6B11FBAA}" sibTransId="{9A67F9CC-0B34-423E-ACB8-F6ADACB0BFC9}"/>
    <dgm:cxn modelId="{0699ED33-456A-4BF5-817B-D135C5B8D184}" type="presOf" srcId="{EEDD56AF-06C7-46D3-A489-487EBDD1DD11}" destId="{CFA31E61-61AA-4DAF-9556-40710FF9241B}" srcOrd="0" destOrd="0" presId="urn:microsoft.com/office/officeart/2005/8/layout/lProcess2"/>
    <dgm:cxn modelId="{56DEC13B-460F-4A69-81C8-5D375E7B6F3A}" type="presOf" srcId="{541F2D8F-A1CE-4774-8D4C-BC29BE8B9291}" destId="{41576BFE-94F1-4EEF-A3A2-12338F6098CC}" srcOrd="1" destOrd="0" presId="urn:microsoft.com/office/officeart/2005/8/layout/lProcess2"/>
    <dgm:cxn modelId="{28AED43C-93DA-446F-B882-96FBA621A255}" type="presOf" srcId="{5818FA51-7474-41D1-9A8C-17CBE0331BE4}" destId="{3E136838-46DF-4420-9084-4F4906C1A848}" srcOrd="0" destOrd="0" presId="urn:microsoft.com/office/officeart/2005/8/layout/lProcess2"/>
    <dgm:cxn modelId="{176E474B-7A7E-4858-8B6E-76086DD06A94}" type="presOf" srcId="{51CA70BD-1FA0-428D-AB5F-BBD6914F76AC}" destId="{0D902260-DDFA-426C-BD91-363BAFE2A846}" srcOrd="0" destOrd="0" presId="urn:microsoft.com/office/officeart/2005/8/layout/lProcess2"/>
    <dgm:cxn modelId="{B7D8806B-8DD6-459F-8907-3879B619CD41}" srcId="{541F2D8F-A1CE-4774-8D4C-BC29BE8B9291}" destId="{51CA70BD-1FA0-428D-AB5F-BBD6914F76AC}" srcOrd="0" destOrd="0" parTransId="{AA3E617F-B4D4-4976-B689-DFD7DDF2E468}" sibTransId="{AAA84D41-A352-4288-A525-801CB6BA73DF}"/>
    <dgm:cxn modelId="{8A22646E-782C-4981-A4A6-A2E12C104C56}" srcId="{5818FA51-7474-41D1-9A8C-17CBE0331BE4}" destId="{541F2D8F-A1CE-4774-8D4C-BC29BE8B9291}" srcOrd="1" destOrd="0" parTransId="{F46C353E-69C8-439C-81C2-5B7B3CCB3616}" sibTransId="{F41F42EC-C8D1-4B90-9310-5280FDC77A61}"/>
    <dgm:cxn modelId="{94D61F71-7FAB-4513-AFD3-6484CDDA66C6}" srcId="{5818FA51-7474-41D1-9A8C-17CBE0331BE4}" destId="{EEDD56AF-06C7-46D3-A489-487EBDD1DD11}" srcOrd="3" destOrd="0" parTransId="{3691740E-F795-46E7-A287-2CAFB63B754D}" sibTransId="{25EA7B64-697D-4D0D-BD97-23404323476F}"/>
    <dgm:cxn modelId="{8618EE73-8F3A-4372-B090-E729DE4AD4B1}" srcId="{A8166030-D3C7-4F4B-B29E-BA3D4A1CD336}" destId="{538884CC-A536-4FB1-A0F7-BC933F49A146}" srcOrd="1" destOrd="0" parTransId="{8A9A6EF6-37B7-4092-8885-2FA67C6492E9}" sibTransId="{9D2DE87A-51D9-4011-B3E9-7CA987A25726}"/>
    <dgm:cxn modelId="{95E12B74-B73A-4DEB-886A-C2E43A530CAC}" srcId="{D31E13F4-DDE7-42F2-9061-C85A38DCA666}" destId="{72C6927D-25A1-4E62-B529-21C21907926C}" srcOrd="2" destOrd="0" parTransId="{89FB2F7F-5F39-4089-B07C-713F7E3F63FE}" sibTransId="{1A9177B7-B888-4034-BAAF-FB904C548D5E}"/>
    <dgm:cxn modelId="{7D111F56-2F10-42F3-B685-87295FE86DBE}" srcId="{D31E13F4-DDE7-42F2-9061-C85A38DCA666}" destId="{4430DA1E-0DF1-43B4-B4F8-8BBC55535485}" srcOrd="0" destOrd="0" parTransId="{13B344C1-1CB8-45D3-80F4-0ECF02B86B8D}" sibTransId="{FD8EDF77-0CD5-4922-B730-6CE0D20C53D2}"/>
    <dgm:cxn modelId="{5A49647C-8AB3-4411-B478-B5A39113BE8E}" type="presOf" srcId="{541F2D8F-A1CE-4774-8D4C-BC29BE8B9291}" destId="{D1B5F430-40EE-4D95-A93F-A6B850B3CC86}" srcOrd="0" destOrd="0" presId="urn:microsoft.com/office/officeart/2005/8/layout/lProcess2"/>
    <dgm:cxn modelId="{03CC698E-44D3-44C8-B913-1E5C4D342D03}" type="presOf" srcId="{A8166030-D3C7-4F4B-B29E-BA3D4A1CD336}" destId="{2B8C11F6-2E6B-47AA-B419-FC34F35F769F}" srcOrd="1" destOrd="0" presId="urn:microsoft.com/office/officeart/2005/8/layout/lProcess2"/>
    <dgm:cxn modelId="{6F226694-853E-4C8F-8D78-238DD951AD0E}" srcId="{D31E13F4-DDE7-42F2-9061-C85A38DCA666}" destId="{382C67AA-9CE2-48DE-A7F5-0F6E3AED5065}" srcOrd="1" destOrd="0" parTransId="{CCB89D56-443C-4092-BA60-4A17EAFE2DE3}" sibTransId="{0F6BB633-DE7D-4261-B2CC-01870EA31805}"/>
    <dgm:cxn modelId="{D6C921A7-B9E7-412A-8DD8-AF6B886CDA02}" srcId="{5818FA51-7474-41D1-9A8C-17CBE0331BE4}" destId="{A8166030-D3C7-4F4B-B29E-BA3D4A1CD336}" srcOrd="2" destOrd="0" parTransId="{1070F8E8-E276-4A86-89FD-E6F34F17D9B3}" sibTransId="{E0C7B41F-DB94-4939-8A52-91DE7AE32757}"/>
    <dgm:cxn modelId="{9A4DA7C1-836A-4C3C-9424-B438435E606D}" srcId="{5818FA51-7474-41D1-9A8C-17CBE0331BE4}" destId="{D31E13F4-DDE7-42F2-9061-C85A38DCA666}" srcOrd="0" destOrd="0" parTransId="{BB7AAF9C-59E0-4604-ABA6-B05FB8ACB17C}" sibTransId="{90BA94B0-2B9F-4799-AB24-FC944065DD1D}"/>
    <dgm:cxn modelId="{6D4290C7-DBED-48F9-9CE1-BADEC405AAF8}" type="presOf" srcId="{1C741025-67C0-4CB5-88AE-99E087584BFE}" destId="{21C11232-8A31-458D-BFA6-5555A0BC8971}" srcOrd="0" destOrd="0" presId="urn:microsoft.com/office/officeart/2005/8/layout/lProcess2"/>
    <dgm:cxn modelId="{1A4D71D1-30B7-4968-90B8-7B0FA43BE3EE}" type="presOf" srcId="{EEDD56AF-06C7-46D3-A489-487EBDD1DD11}" destId="{FC1AD4A3-637A-4010-A300-B7DB72DC678F}" srcOrd="1" destOrd="0" presId="urn:microsoft.com/office/officeart/2005/8/layout/lProcess2"/>
    <dgm:cxn modelId="{26F5B1D4-18A6-4036-915F-B8520C3CA473}" type="presOf" srcId="{73B5C440-6F2C-4EAB-83C5-CF93F46A152B}" destId="{4062D259-56BA-40D7-ADB9-F2E2AA718F86}" srcOrd="0" destOrd="0" presId="urn:microsoft.com/office/officeart/2005/8/layout/lProcess2"/>
    <dgm:cxn modelId="{E8D0BDE9-0744-448A-B670-85B82F914A49}" srcId="{A8166030-D3C7-4F4B-B29E-BA3D4A1CD336}" destId="{73B5C440-6F2C-4EAB-83C5-CF93F46A152B}" srcOrd="0" destOrd="0" parTransId="{111C11DD-8853-48FC-A78A-68C165EB2660}" sibTransId="{2082D15C-CBAF-48AC-9B46-C869DEF268EF}"/>
    <dgm:cxn modelId="{BA4A1EEB-2C62-48D3-9826-06A08215DADC}" type="presOf" srcId="{4430DA1E-0DF1-43B4-B4F8-8BBC55535485}" destId="{E6387676-DC6F-45A9-89F9-5E93E616432C}" srcOrd="0" destOrd="0" presId="urn:microsoft.com/office/officeart/2005/8/layout/lProcess2"/>
    <dgm:cxn modelId="{66F261F7-D498-48A0-947B-C1085413537B}" type="presOf" srcId="{D31E13F4-DDE7-42F2-9061-C85A38DCA666}" destId="{3F86793F-F3BE-4084-A7DE-B04227CF7D17}" srcOrd="1" destOrd="0" presId="urn:microsoft.com/office/officeart/2005/8/layout/lProcess2"/>
    <dgm:cxn modelId="{005529FE-21AB-4C09-99E9-00B80CEFD757}" type="presOf" srcId="{D31E13F4-DDE7-42F2-9061-C85A38DCA666}" destId="{53107359-113A-4A4C-9E01-3BD624E1774D}" srcOrd="0" destOrd="0" presId="urn:microsoft.com/office/officeart/2005/8/layout/lProcess2"/>
    <dgm:cxn modelId="{2E3EDBFF-836A-4DCF-82BA-48ABA75CB644}" type="presOf" srcId="{A8166030-D3C7-4F4B-B29E-BA3D4A1CD336}" destId="{BB05446B-59F9-4C72-A352-934124A7F0F0}" srcOrd="0" destOrd="0" presId="urn:microsoft.com/office/officeart/2005/8/layout/lProcess2"/>
    <dgm:cxn modelId="{CF502579-2C87-42C5-BC68-B5F5BF26E752}" type="presParOf" srcId="{3E136838-46DF-4420-9084-4F4906C1A848}" destId="{519CF63F-D77E-4262-9B2A-54603531E4BE}" srcOrd="0" destOrd="0" presId="urn:microsoft.com/office/officeart/2005/8/layout/lProcess2"/>
    <dgm:cxn modelId="{7307798A-D433-447A-9C81-7D1FE40C6339}" type="presParOf" srcId="{519CF63F-D77E-4262-9B2A-54603531E4BE}" destId="{53107359-113A-4A4C-9E01-3BD624E1774D}" srcOrd="0" destOrd="0" presId="urn:microsoft.com/office/officeart/2005/8/layout/lProcess2"/>
    <dgm:cxn modelId="{CB9B3CDA-A63C-44B8-92A7-548F1CD384A5}" type="presParOf" srcId="{519CF63F-D77E-4262-9B2A-54603531E4BE}" destId="{3F86793F-F3BE-4084-A7DE-B04227CF7D17}" srcOrd="1" destOrd="0" presId="urn:microsoft.com/office/officeart/2005/8/layout/lProcess2"/>
    <dgm:cxn modelId="{EBC0074A-8CE2-4AD7-A0D7-97080D2AE949}" type="presParOf" srcId="{519CF63F-D77E-4262-9B2A-54603531E4BE}" destId="{E1D784E4-B7F0-426E-B8FA-B4232226D211}" srcOrd="2" destOrd="0" presId="urn:microsoft.com/office/officeart/2005/8/layout/lProcess2"/>
    <dgm:cxn modelId="{50F44902-A6A8-4D7F-A6D7-9330F837B2D0}" type="presParOf" srcId="{E1D784E4-B7F0-426E-B8FA-B4232226D211}" destId="{9B92E06A-55EB-4261-832C-A7C8434072A0}" srcOrd="0" destOrd="0" presId="urn:microsoft.com/office/officeart/2005/8/layout/lProcess2"/>
    <dgm:cxn modelId="{9F0F44A4-B4A0-440F-8055-2C875B6347DB}" type="presParOf" srcId="{9B92E06A-55EB-4261-832C-A7C8434072A0}" destId="{E6387676-DC6F-45A9-89F9-5E93E616432C}" srcOrd="0" destOrd="0" presId="urn:microsoft.com/office/officeart/2005/8/layout/lProcess2"/>
    <dgm:cxn modelId="{166420CD-4359-4CDA-A37B-2F3DCE3853B1}" type="presParOf" srcId="{9B92E06A-55EB-4261-832C-A7C8434072A0}" destId="{FD80FB4D-600E-4A17-92DA-96459C3FE6BD}" srcOrd="1" destOrd="0" presId="urn:microsoft.com/office/officeart/2005/8/layout/lProcess2"/>
    <dgm:cxn modelId="{CD9D0738-8DF2-4ECA-B2BB-CB704A65789A}" type="presParOf" srcId="{9B92E06A-55EB-4261-832C-A7C8434072A0}" destId="{1535C94B-A2CA-4C6F-B063-0B9A43D18318}" srcOrd="2" destOrd="0" presId="urn:microsoft.com/office/officeart/2005/8/layout/lProcess2"/>
    <dgm:cxn modelId="{3D93BC9F-8E03-4406-B797-72154277D894}" type="presParOf" srcId="{9B92E06A-55EB-4261-832C-A7C8434072A0}" destId="{155EA6E1-A395-4E65-96E0-4FC659734334}" srcOrd="3" destOrd="0" presId="urn:microsoft.com/office/officeart/2005/8/layout/lProcess2"/>
    <dgm:cxn modelId="{16516671-6264-495A-B5CC-FE249C652DCB}" type="presParOf" srcId="{9B92E06A-55EB-4261-832C-A7C8434072A0}" destId="{1B687A90-CFD7-4346-88A1-E55DA9AAB14D}" srcOrd="4" destOrd="0" presId="urn:microsoft.com/office/officeart/2005/8/layout/lProcess2"/>
    <dgm:cxn modelId="{EC18A8F2-5926-48B3-AB66-2D14BD19289B}" type="presParOf" srcId="{3E136838-46DF-4420-9084-4F4906C1A848}" destId="{1375B2F8-F4ED-42E9-AA61-26ACB40E5638}" srcOrd="1" destOrd="0" presId="urn:microsoft.com/office/officeart/2005/8/layout/lProcess2"/>
    <dgm:cxn modelId="{D30ABCA3-88BE-48AB-8498-3EFB9C9512ED}" type="presParOf" srcId="{3E136838-46DF-4420-9084-4F4906C1A848}" destId="{D97E440D-7E42-4DF7-9CEE-018B9971C561}" srcOrd="2" destOrd="0" presId="urn:microsoft.com/office/officeart/2005/8/layout/lProcess2"/>
    <dgm:cxn modelId="{4C9BB3F5-D4E5-4F08-ACF1-AF916EACA55B}" type="presParOf" srcId="{D97E440D-7E42-4DF7-9CEE-018B9971C561}" destId="{D1B5F430-40EE-4D95-A93F-A6B850B3CC86}" srcOrd="0" destOrd="0" presId="urn:microsoft.com/office/officeart/2005/8/layout/lProcess2"/>
    <dgm:cxn modelId="{FB5771EE-353E-4ABB-96EB-E3B135B8B4B5}" type="presParOf" srcId="{D97E440D-7E42-4DF7-9CEE-018B9971C561}" destId="{41576BFE-94F1-4EEF-A3A2-12338F6098CC}" srcOrd="1" destOrd="0" presId="urn:microsoft.com/office/officeart/2005/8/layout/lProcess2"/>
    <dgm:cxn modelId="{F430E185-712A-4CE0-88F3-1F654825C06C}" type="presParOf" srcId="{D97E440D-7E42-4DF7-9CEE-018B9971C561}" destId="{3A363ADC-F122-4BE1-B633-EFE351B81594}" srcOrd="2" destOrd="0" presId="urn:microsoft.com/office/officeart/2005/8/layout/lProcess2"/>
    <dgm:cxn modelId="{402CD257-412C-44FC-8869-18F2D369A5EC}" type="presParOf" srcId="{3A363ADC-F122-4BE1-B633-EFE351B81594}" destId="{03F181C9-4F3C-4282-8792-86959628579E}" srcOrd="0" destOrd="0" presId="urn:microsoft.com/office/officeart/2005/8/layout/lProcess2"/>
    <dgm:cxn modelId="{D2430D69-050A-4CFF-A3BC-A296CC36F30D}" type="presParOf" srcId="{03F181C9-4F3C-4282-8792-86959628579E}" destId="{0D902260-DDFA-426C-BD91-363BAFE2A846}" srcOrd="0" destOrd="0" presId="urn:microsoft.com/office/officeart/2005/8/layout/lProcess2"/>
    <dgm:cxn modelId="{13A13783-7976-43CD-BDB6-78F52E2BDBF2}" type="presParOf" srcId="{03F181C9-4F3C-4282-8792-86959628579E}" destId="{321B7398-9582-4745-878F-0886F4B00B50}" srcOrd="1" destOrd="0" presId="urn:microsoft.com/office/officeart/2005/8/layout/lProcess2"/>
    <dgm:cxn modelId="{B38F0894-8A37-45C3-A46D-C2CF2F669EAD}" type="presParOf" srcId="{03F181C9-4F3C-4282-8792-86959628579E}" destId="{21C11232-8A31-458D-BFA6-5555A0BC8971}" srcOrd="2" destOrd="0" presId="urn:microsoft.com/office/officeart/2005/8/layout/lProcess2"/>
    <dgm:cxn modelId="{4FC31CFA-03F7-4D40-8002-21ADA111F143}" type="presParOf" srcId="{3E136838-46DF-4420-9084-4F4906C1A848}" destId="{FE786DFC-53BF-4283-A197-2D106FD7B7F5}" srcOrd="3" destOrd="0" presId="urn:microsoft.com/office/officeart/2005/8/layout/lProcess2"/>
    <dgm:cxn modelId="{7A8AEEAA-B5B2-4BB5-9345-600701A49FC5}" type="presParOf" srcId="{3E136838-46DF-4420-9084-4F4906C1A848}" destId="{86967F44-F579-40E5-B069-705AF801BB8F}" srcOrd="4" destOrd="0" presId="urn:microsoft.com/office/officeart/2005/8/layout/lProcess2"/>
    <dgm:cxn modelId="{62F80A8D-AEBF-4019-B95D-B9DFF9C1E787}" type="presParOf" srcId="{86967F44-F579-40E5-B069-705AF801BB8F}" destId="{BB05446B-59F9-4C72-A352-934124A7F0F0}" srcOrd="0" destOrd="0" presId="urn:microsoft.com/office/officeart/2005/8/layout/lProcess2"/>
    <dgm:cxn modelId="{FCBF3796-33D5-42F3-B17F-E479C8B94E13}" type="presParOf" srcId="{86967F44-F579-40E5-B069-705AF801BB8F}" destId="{2B8C11F6-2E6B-47AA-B419-FC34F35F769F}" srcOrd="1" destOrd="0" presId="urn:microsoft.com/office/officeart/2005/8/layout/lProcess2"/>
    <dgm:cxn modelId="{16A8A6B5-6B0A-4164-BF77-840916BB31EC}" type="presParOf" srcId="{86967F44-F579-40E5-B069-705AF801BB8F}" destId="{F1087A3E-1725-477C-B82E-5D950173B8E1}" srcOrd="2" destOrd="0" presId="urn:microsoft.com/office/officeart/2005/8/layout/lProcess2"/>
    <dgm:cxn modelId="{B9BDDD50-563B-4803-AD87-769112EE5E24}" type="presParOf" srcId="{F1087A3E-1725-477C-B82E-5D950173B8E1}" destId="{F5B0F621-970D-4140-81A6-700B0C43AF56}" srcOrd="0" destOrd="0" presId="urn:microsoft.com/office/officeart/2005/8/layout/lProcess2"/>
    <dgm:cxn modelId="{154298F6-3C9B-4C6B-B8A1-F6C505107E52}" type="presParOf" srcId="{F5B0F621-970D-4140-81A6-700B0C43AF56}" destId="{4062D259-56BA-40D7-ADB9-F2E2AA718F86}" srcOrd="0" destOrd="0" presId="urn:microsoft.com/office/officeart/2005/8/layout/lProcess2"/>
    <dgm:cxn modelId="{825887D2-5215-4B0B-9D74-08D01BEEF704}" type="presParOf" srcId="{F5B0F621-970D-4140-81A6-700B0C43AF56}" destId="{248B1E34-752E-4F2C-86CD-B21B8DD23DB3}" srcOrd="1" destOrd="0" presId="urn:microsoft.com/office/officeart/2005/8/layout/lProcess2"/>
    <dgm:cxn modelId="{D8D4FDDA-88F3-4E40-8FDE-0FB2C832EFB6}" type="presParOf" srcId="{F5B0F621-970D-4140-81A6-700B0C43AF56}" destId="{AFBDB421-BF4E-4ACE-9A0A-14AF3C6A9315}" srcOrd="2" destOrd="0" presId="urn:microsoft.com/office/officeart/2005/8/layout/lProcess2"/>
    <dgm:cxn modelId="{2F39870C-63AA-41F4-9D04-D6B6EED9ECD1}" type="presParOf" srcId="{3E136838-46DF-4420-9084-4F4906C1A848}" destId="{83E59D9A-76A0-42CC-9EC0-F6729967E84A}" srcOrd="5" destOrd="0" presId="urn:microsoft.com/office/officeart/2005/8/layout/lProcess2"/>
    <dgm:cxn modelId="{3390572C-FF6A-4336-8FD7-9FF99D13BB0F}" type="presParOf" srcId="{3E136838-46DF-4420-9084-4F4906C1A848}" destId="{8DC5FDA3-E865-49B6-93F6-1E7FA3E61BE7}" srcOrd="6" destOrd="0" presId="urn:microsoft.com/office/officeart/2005/8/layout/lProcess2"/>
    <dgm:cxn modelId="{7AA1DB9C-6DEA-472D-9C81-41590CFC5539}" type="presParOf" srcId="{8DC5FDA3-E865-49B6-93F6-1E7FA3E61BE7}" destId="{CFA31E61-61AA-4DAF-9556-40710FF9241B}" srcOrd="0" destOrd="0" presId="urn:microsoft.com/office/officeart/2005/8/layout/lProcess2"/>
    <dgm:cxn modelId="{BE5DECCE-D521-4B0A-8BFC-4EA79D97D54F}" type="presParOf" srcId="{8DC5FDA3-E865-49B6-93F6-1E7FA3E61BE7}" destId="{FC1AD4A3-637A-4010-A300-B7DB72DC678F}" srcOrd="1" destOrd="0" presId="urn:microsoft.com/office/officeart/2005/8/layout/lProcess2"/>
    <dgm:cxn modelId="{47EC8AD8-5BFA-4795-A44B-A8BC8315DA44}" type="presParOf" srcId="{8DC5FDA3-E865-49B6-93F6-1E7FA3E61BE7}" destId="{C0A09133-4472-4889-A72F-91C7403B5D4F}" srcOrd="2" destOrd="0" presId="urn:microsoft.com/office/officeart/2005/8/layout/lProcess2"/>
    <dgm:cxn modelId="{6BBE8F31-B641-431C-B54E-9116825622B7}" type="presParOf" srcId="{C0A09133-4472-4889-A72F-91C7403B5D4F}" destId="{FBCE418F-08AC-43F4-83A3-07E61845C1F7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107359-113A-4A4C-9E01-3BD624E1774D}">
      <dsp:nvSpPr>
        <dsp:cNvPr id="0" name=""/>
        <dsp:cNvSpPr/>
      </dsp:nvSpPr>
      <dsp:spPr>
        <a:xfrm>
          <a:off x="1984" y="0"/>
          <a:ext cx="1946895" cy="44958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Analyzing regional impact of national or international  shock/policies</a:t>
          </a:r>
          <a:endParaRPr lang="en-US" sz="1900" kern="1200" dirty="0"/>
        </a:p>
      </dsp:txBody>
      <dsp:txXfrm>
        <a:off x="1984" y="0"/>
        <a:ext cx="1946895" cy="1348740"/>
      </dsp:txXfrm>
    </dsp:sp>
    <dsp:sp modelId="{E6387676-DC6F-45A9-89F9-5E93E616432C}">
      <dsp:nvSpPr>
        <dsp:cNvPr id="0" name=""/>
        <dsp:cNvSpPr/>
      </dsp:nvSpPr>
      <dsp:spPr>
        <a:xfrm>
          <a:off x="196673" y="1349124"/>
          <a:ext cx="1557516" cy="8832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International oil price shocks</a:t>
          </a:r>
          <a:endParaRPr lang="en-US" sz="1800" kern="1200" dirty="0"/>
        </a:p>
      </dsp:txBody>
      <dsp:txXfrm>
        <a:off x="222542" y="1374993"/>
        <a:ext cx="1505778" cy="831506"/>
      </dsp:txXfrm>
    </dsp:sp>
    <dsp:sp modelId="{1535C94B-A2CA-4C6F-B063-0B9A43D18318}">
      <dsp:nvSpPr>
        <dsp:cNvPr id="0" name=""/>
        <dsp:cNvSpPr/>
      </dsp:nvSpPr>
      <dsp:spPr>
        <a:xfrm>
          <a:off x="196673" y="2368252"/>
          <a:ext cx="1557516" cy="8832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Import Tariff </a:t>
          </a:r>
          <a:endParaRPr lang="en-US" sz="1800" kern="1200" dirty="0"/>
        </a:p>
      </dsp:txBody>
      <dsp:txXfrm>
        <a:off x="222542" y="2394121"/>
        <a:ext cx="1505778" cy="831506"/>
      </dsp:txXfrm>
    </dsp:sp>
    <dsp:sp modelId="{1B687A90-CFD7-4346-88A1-E55DA9AAB14D}">
      <dsp:nvSpPr>
        <dsp:cNvPr id="0" name=""/>
        <dsp:cNvSpPr/>
      </dsp:nvSpPr>
      <dsp:spPr>
        <a:xfrm>
          <a:off x="196673" y="3387381"/>
          <a:ext cx="1557516" cy="8832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Nation-wide indirect taxes</a:t>
          </a:r>
          <a:endParaRPr lang="en-US" sz="1800" kern="1200" dirty="0"/>
        </a:p>
      </dsp:txBody>
      <dsp:txXfrm>
        <a:off x="222542" y="3413250"/>
        <a:ext cx="1505778" cy="831506"/>
      </dsp:txXfrm>
    </dsp:sp>
    <dsp:sp modelId="{D1B5F430-40EE-4D95-A93F-A6B850B3CC86}">
      <dsp:nvSpPr>
        <dsp:cNvPr id="0" name=""/>
        <dsp:cNvSpPr/>
      </dsp:nvSpPr>
      <dsp:spPr>
        <a:xfrm>
          <a:off x="2094896" y="0"/>
          <a:ext cx="1946895" cy="44958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Analyzing nation-wide impact of region-specific shocks</a:t>
          </a:r>
          <a:endParaRPr lang="en-US" sz="1900" kern="1200" dirty="0"/>
        </a:p>
      </dsp:txBody>
      <dsp:txXfrm>
        <a:off x="2094896" y="0"/>
        <a:ext cx="1946895" cy="1348740"/>
      </dsp:txXfrm>
    </dsp:sp>
    <dsp:sp modelId="{0D902260-DDFA-426C-BD91-363BAFE2A846}">
      <dsp:nvSpPr>
        <dsp:cNvPr id="0" name=""/>
        <dsp:cNvSpPr/>
      </dsp:nvSpPr>
      <dsp:spPr>
        <a:xfrm>
          <a:off x="2289585" y="1350057"/>
          <a:ext cx="1557516" cy="13555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Regional policies (regional taxes)</a:t>
          </a:r>
          <a:endParaRPr lang="en-US" sz="1800" kern="1200" dirty="0"/>
        </a:p>
      </dsp:txBody>
      <dsp:txXfrm>
        <a:off x="2329288" y="1389760"/>
        <a:ext cx="1478110" cy="1276139"/>
      </dsp:txXfrm>
    </dsp:sp>
    <dsp:sp modelId="{21C11232-8A31-458D-BFA6-5555A0BC8971}">
      <dsp:nvSpPr>
        <dsp:cNvPr id="0" name=""/>
        <dsp:cNvSpPr/>
      </dsp:nvSpPr>
      <dsp:spPr>
        <a:xfrm>
          <a:off x="2289585" y="2914147"/>
          <a:ext cx="1557516" cy="13555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Regional specific productivity shocks (draught)</a:t>
          </a:r>
          <a:endParaRPr lang="en-US" sz="1800" kern="1200" dirty="0"/>
        </a:p>
      </dsp:txBody>
      <dsp:txXfrm>
        <a:off x="2329288" y="2953850"/>
        <a:ext cx="1478110" cy="1276139"/>
      </dsp:txXfrm>
    </dsp:sp>
    <dsp:sp modelId="{BB05446B-59F9-4C72-A352-934124A7F0F0}">
      <dsp:nvSpPr>
        <dsp:cNvPr id="0" name=""/>
        <dsp:cNvSpPr/>
      </dsp:nvSpPr>
      <dsp:spPr>
        <a:xfrm>
          <a:off x="4187808" y="0"/>
          <a:ext cx="1946895" cy="44958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Analyzing impact of improving connectivity</a:t>
          </a:r>
          <a:endParaRPr lang="en-US" sz="1900" kern="1200" dirty="0"/>
        </a:p>
      </dsp:txBody>
      <dsp:txXfrm>
        <a:off x="4187808" y="0"/>
        <a:ext cx="1946895" cy="1348740"/>
      </dsp:txXfrm>
    </dsp:sp>
    <dsp:sp modelId="{4062D259-56BA-40D7-ADB9-F2E2AA718F86}">
      <dsp:nvSpPr>
        <dsp:cNvPr id="0" name=""/>
        <dsp:cNvSpPr/>
      </dsp:nvSpPr>
      <dsp:spPr>
        <a:xfrm>
          <a:off x="4382498" y="1350057"/>
          <a:ext cx="1557516" cy="13555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Efficiency in transport services</a:t>
          </a:r>
          <a:endParaRPr lang="en-US" sz="1800" kern="1200" dirty="0"/>
        </a:p>
      </dsp:txBody>
      <dsp:txXfrm>
        <a:off x="4422201" y="1389760"/>
        <a:ext cx="1478110" cy="1276139"/>
      </dsp:txXfrm>
    </dsp:sp>
    <dsp:sp modelId="{AFBDB421-BF4E-4ACE-9A0A-14AF3C6A9315}">
      <dsp:nvSpPr>
        <dsp:cNvPr id="0" name=""/>
        <dsp:cNvSpPr/>
      </dsp:nvSpPr>
      <dsp:spPr>
        <a:xfrm>
          <a:off x="4382498" y="2914147"/>
          <a:ext cx="1557516" cy="13555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Specific source-destination transport efficiency</a:t>
          </a:r>
          <a:endParaRPr lang="en-US" sz="1800" kern="1200" dirty="0"/>
        </a:p>
      </dsp:txBody>
      <dsp:txXfrm>
        <a:off x="4422201" y="2953850"/>
        <a:ext cx="1478110" cy="1276139"/>
      </dsp:txXfrm>
    </dsp:sp>
    <dsp:sp modelId="{CFA31E61-61AA-4DAF-9556-40710FF9241B}">
      <dsp:nvSpPr>
        <dsp:cNvPr id="0" name=""/>
        <dsp:cNvSpPr/>
      </dsp:nvSpPr>
      <dsp:spPr>
        <a:xfrm>
          <a:off x="6280720" y="0"/>
          <a:ext cx="1946895" cy="449580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Other areas</a:t>
          </a:r>
          <a:endParaRPr lang="en-US" sz="1900" kern="1200" dirty="0"/>
        </a:p>
      </dsp:txBody>
      <dsp:txXfrm>
        <a:off x="6280720" y="0"/>
        <a:ext cx="1946895" cy="13487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898D8-8152-45D0-B8A6-048071190B6C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32E19-99E0-4E34-8CCA-E4896506EC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1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38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93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85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46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58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0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87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50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56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9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00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19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99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931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54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64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5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095619-1384-484D-A4CB-3D07E9873D78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E6000BA-6633-4607-AF8E-E3183C0100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835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5638800"/>
            <a:ext cx="9144000" cy="1219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772400" cy="1456267"/>
          </a:xfrm>
        </p:spPr>
        <p:txBody>
          <a:bodyPr/>
          <a:lstStyle/>
          <a:p>
            <a:r>
              <a:rPr lang="en-US" dirty="0"/>
              <a:t>IndoTERM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066799"/>
            <a:ext cx="8001000" cy="4191000"/>
          </a:xfrm>
        </p:spPr>
        <p:txBody>
          <a:bodyPr>
            <a:normAutofit/>
          </a:bodyPr>
          <a:lstStyle/>
          <a:p>
            <a:r>
              <a:rPr lang="en-US" dirty="0"/>
              <a:t>A family of Australian TERM </a:t>
            </a:r>
            <a:r>
              <a:rPr lang="en-US" u="sng" dirty="0"/>
              <a:t>T</a:t>
            </a:r>
            <a:r>
              <a:rPr lang="en-US" dirty="0"/>
              <a:t>he </a:t>
            </a:r>
            <a:r>
              <a:rPr lang="en-US" u="sng" dirty="0" err="1"/>
              <a:t>E</a:t>
            </a:r>
            <a:r>
              <a:rPr lang="en-US" dirty="0" err="1"/>
              <a:t>nermous</a:t>
            </a:r>
            <a:r>
              <a:rPr lang="en-US" dirty="0"/>
              <a:t> </a:t>
            </a:r>
            <a:r>
              <a:rPr lang="en-US" u="sng" dirty="0"/>
              <a:t>R</a:t>
            </a:r>
            <a:r>
              <a:rPr lang="en-US" dirty="0"/>
              <a:t>egional </a:t>
            </a:r>
            <a:r>
              <a:rPr lang="en-US" u="sng" dirty="0"/>
              <a:t>M</a:t>
            </a:r>
            <a:r>
              <a:rPr lang="en-US" dirty="0"/>
              <a:t>odel Developed by </a:t>
            </a:r>
            <a:r>
              <a:rPr lang="en-US" dirty="0" err="1"/>
              <a:t>CoPS</a:t>
            </a:r>
            <a:r>
              <a:rPr lang="en-US" dirty="0"/>
              <a:t> (Centre of Policy Studies), Victoria University (formerly: </a:t>
            </a:r>
            <a:r>
              <a:rPr lang="en-US" dirty="0" err="1"/>
              <a:t>Monash</a:t>
            </a:r>
            <a:r>
              <a:rPr lang="en-US" dirty="0"/>
              <a:t> University)</a:t>
            </a:r>
          </a:p>
          <a:p>
            <a:r>
              <a:rPr lang="en-US" dirty="0"/>
              <a:t>Applied in:</a:t>
            </a:r>
          </a:p>
          <a:p>
            <a:pPr lvl="1"/>
            <a:r>
              <a:rPr lang="it-IT" dirty="0"/>
              <a:t>Australia, Brazil, Finland, China, South Africa, Indonesia</a:t>
            </a:r>
          </a:p>
          <a:p>
            <a:r>
              <a:rPr lang="it-IT" dirty="0"/>
              <a:t>In Indonesia</a:t>
            </a:r>
          </a:p>
          <a:p>
            <a:pPr lvl="1"/>
            <a:r>
              <a:rPr lang="it-IT" dirty="0"/>
              <a:t>Emerald (Pambudi)</a:t>
            </a:r>
          </a:p>
          <a:p>
            <a:pPr lvl="1"/>
            <a:r>
              <a:rPr lang="it-IT" dirty="0"/>
              <a:t>IndoTERM v.1 (CEDS UNPAD, CoPS, 2006)</a:t>
            </a:r>
          </a:p>
          <a:p>
            <a:pPr lvl="1"/>
            <a:r>
              <a:rPr lang="it-IT" dirty="0"/>
              <a:t>IndoTERM v.2 (ADB, CoPS, CEDS UNPAD, 2012)</a:t>
            </a:r>
          </a:p>
          <a:p>
            <a:pPr lvl="1"/>
            <a:r>
              <a:rPr lang="it-IT" dirty="0"/>
              <a:t>IndoTERM v.3 - Dynamic (CoPS, CEDS UNPAD,  BAPPENAS,  AusAID, 2013-2014)</a:t>
            </a:r>
          </a:p>
          <a:p>
            <a:pPr lvl="1"/>
            <a:r>
              <a:rPr lang="it-IT" dirty="0"/>
              <a:t>IndoTERM v.4 – 2010 data (CoPS, CEDS UNPAD, BAPPENAS, ADB)</a:t>
            </a:r>
          </a:p>
          <a:p>
            <a:r>
              <a:rPr lang="it-IT" dirty="0"/>
              <a:t>A result of years of collaboration among these institutions: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6019800"/>
            <a:ext cx="1785769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43800" y="6096000"/>
            <a:ext cx="137160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38600" y="6096000"/>
            <a:ext cx="142875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800" y="5867400"/>
            <a:ext cx="1228725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33600" y="6126688"/>
            <a:ext cx="1219200" cy="431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1996624" y="5791200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CoPS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788448"/>
      </p:ext>
    </p:extLst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t="21073"/>
          <a:stretch>
            <a:fillRect/>
          </a:stretch>
        </p:blipFill>
        <p:spPr bwMode="auto">
          <a:xfrm>
            <a:off x="5105400" y="2195599"/>
            <a:ext cx="3733800" cy="44183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7" name="Title 26"/>
          <p:cNvSpPr>
            <a:spLocks noGrp="1"/>
          </p:cNvSpPr>
          <p:nvPr>
            <p:ph type="title"/>
          </p:nvPr>
        </p:nvSpPr>
        <p:spPr>
          <a:xfrm>
            <a:off x="457200" y="752879"/>
            <a:ext cx="8382000" cy="1410097"/>
          </a:xfrm>
        </p:spPr>
        <p:txBody>
          <a:bodyPr>
            <a:normAutofit/>
          </a:bodyPr>
          <a:lstStyle/>
          <a:p>
            <a:r>
              <a:rPr lang="en-US" sz="4000" dirty="0"/>
              <a:t>A single-region economy (closed)</a:t>
            </a:r>
          </a:p>
        </p:txBody>
      </p:sp>
      <p:grpSp>
        <p:nvGrpSpPr>
          <p:cNvPr id="2" name="Group 18"/>
          <p:cNvGrpSpPr/>
          <p:nvPr/>
        </p:nvGrpSpPr>
        <p:grpSpPr>
          <a:xfrm>
            <a:off x="762000" y="2857247"/>
            <a:ext cx="3238753" cy="3238753"/>
            <a:chOff x="5320351" y="2514600"/>
            <a:chExt cx="3048000" cy="3048000"/>
          </a:xfrm>
          <a:noFill/>
        </p:grpSpPr>
        <p:sp>
          <p:nvSpPr>
            <p:cNvPr id="77" name="Rectangle 76"/>
            <p:cNvSpPr/>
            <p:nvPr/>
          </p:nvSpPr>
          <p:spPr>
            <a:xfrm>
              <a:off x="5320351" y="2514600"/>
              <a:ext cx="3048000" cy="3048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00"/>
                </a:solidFill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7696200" y="2514600"/>
              <a:ext cx="672151" cy="3048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dirty="0">
                  <a:solidFill>
                    <a:srgbClr val="FFFF00"/>
                  </a:solidFill>
                </a:rPr>
                <a:t>DOMESTIC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5320351" y="2514600"/>
              <a:ext cx="228600" cy="3048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dirty="0">
                  <a:solidFill>
                    <a:srgbClr val="FFFF00"/>
                  </a:solidFill>
                </a:rPr>
                <a:t>PRODUCT MARKET</a:t>
              </a:r>
            </a:p>
          </p:txBody>
        </p:sp>
        <p:cxnSp>
          <p:nvCxnSpPr>
            <p:cNvPr id="87" name="Straight Arrow Connector 86"/>
            <p:cNvCxnSpPr>
              <a:stCxn id="89" idx="0"/>
              <a:endCxn id="88" idx="2"/>
            </p:cNvCxnSpPr>
            <p:nvPr/>
          </p:nvCxnSpPr>
          <p:spPr>
            <a:xfrm rot="5400000" flipH="1" flipV="1">
              <a:off x="6501791" y="3756660"/>
              <a:ext cx="259080" cy="1588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/>
            <p:cNvSpPr/>
            <p:nvPr/>
          </p:nvSpPr>
          <p:spPr>
            <a:xfrm>
              <a:off x="6029351" y="2804160"/>
              <a:ext cx="1203960" cy="822960"/>
            </a:xfrm>
            <a:prstGeom prst="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rgbClr val="FFFF00"/>
                  </a:solidFill>
                </a:rPr>
                <a:t>PRODUCTION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029351" y="3886200"/>
              <a:ext cx="1203960" cy="289560"/>
            </a:xfrm>
            <a:prstGeom prst="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0000"/>
                </a:lnSpc>
              </a:pPr>
              <a:r>
                <a:rPr lang="en-US" sz="1100" dirty="0">
                  <a:solidFill>
                    <a:srgbClr val="FFFF00"/>
                  </a:solidFill>
                </a:rPr>
                <a:t>FACTOR MARKET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6029351" y="4404360"/>
              <a:ext cx="1203960" cy="289560"/>
            </a:xfrm>
            <a:prstGeom prst="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rgbClr val="FFFF00"/>
                  </a:solidFill>
                </a:rPr>
                <a:t>HOUSEHOLDS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029351" y="4937760"/>
              <a:ext cx="1203960" cy="396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rgbClr val="FFFF00"/>
                  </a:solidFill>
                </a:rPr>
                <a:t>OTHER INSTITUTIONS</a:t>
              </a:r>
            </a:p>
          </p:txBody>
        </p:sp>
        <p:cxnSp>
          <p:nvCxnSpPr>
            <p:cNvPr id="92" name="Straight Arrow Connector 91"/>
            <p:cNvCxnSpPr/>
            <p:nvPr/>
          </p:nvCxnSpPr>
          <p:spPr>
            <a:xfrm rot="10800000">
              <a:off x="5562599" y="3200400"/>
              <a:ext cx="470848" cy="1588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/>
            <p:cNvSpPr txBox="1"/>
            <p:nvPr/>
          </p:nvSpPr>
          <p:spPr>
            <a:xfrm>
              <a:off x="5562599" y="5203587"/>
              <a:ext cx="335278" cy="281721"/>
            </a:xfrm>
            <a:prstGeom prst="rect">
              <a:avLst/>
            </a:prstGeom>
            <a:grpFill/>
            <a:ln w="952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R1</a:t>
              </a:r>
            </a:p>
          </p:txBody>
        </p:sp>
        <p:cxnSp>
          <p:nvCxnSpPr>
            <p:cNvPr id="94" name="Elbow Connector 49"/>
            <p:cNvCxnSpPr>
              <a:stCxn id="86" idx="1"/>
            </p:cNvCxnSpPr>
            <p:nvPr/>
          </p:nvCxnSpPr>
          <p:spPr>
            <a:xfrm rot="10800000" flipH="1" flipV="1">
              <a:off x="5320351" y="4038599"/>
              <a:ext cx="3048000" cy="606425"/>
            </a:xfrm>
            <a:prstGeom prst="bentConnector5">
              <a:avLst>
                <a:gd name="adj1" fmla="val -7500"/>
                <a:gd name="adj2" fmla="val 289005"/>
                <a:gd name="adj3" fmla="val 107500"/>
              </a:avLst>
            </a:prstGeom>
            <a:grpFill/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 rot="10800000">
              <a:off x="7211703" y="3200401"/>
              <a:ext cx="470848" cy="1588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 rot="10800000">
              <a:off x="7225352" y="4570411"/>
              <a:ext cx="470848" cy="1588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 rot="10800000">
              <a:off x="7225352" y="5125419"/>
              <a:ext cx="470848" cy="1588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stCxn id="90" idx="0"/>
              <a:endCxn id="89" idx="2"/>
            </p:cNvCxnSpPr>
            <p:nvPr/>
          </p:nvCxnSpPr>
          <p:spPr>
            <a:xfrm rot="5400000" flipH="1" flipV="1">
              <a:off x="6517031" y="4290060"/>
              <a:ext cx="228600" cy="1588"/>
            </a:xfrm>
            <a:prstGeom prst="straightConnector1">
              <a:avLst/>
            </a:prstGeom>
            <a:grpFill/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Elbow Connector 100"/>
            <p:cNvCxnSpPr>
              <a:stCxn id="91" idx="1"/>
              <a:endCxn id="89" idx="1"/>
            </p:cNvCxnSpPr>
            <p:nvPr/>
          </p:nvCxnSpPr>
          <p:spPr>
            <a:xfrm rot="10800000">
              <a:off x="6029351" y="4030980"/>
              <a:ext cx="1588" cy="1104900"/>
            </a:xfrm>
            <a:prstGeom prst="bentConnector3">
              <a:avLst>
                <a:gd name="adj1" fmla="val 14395466"/>
              </a:avLst>
            </a:prstGeom>
            <a:grpFill/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8430424"/>
      </p:ext>
    </p:ext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5"/>
          <p:cNvPicPr>
            <a:picLocks noChangeAspect="1" noChangeArrowheads="1"/>
          </p:cNvPicPr>
          <p:nvPr/>
        </p:nvPicPr>
        <p:blipFill>
          <a:blip r:embed="rId2"/>
          <a:srcRect l="7734" t="19488" b="7689"/>
          <a:stretch>
            <a:fillRect/>
          </a:stretch>
        </p:blipFill>
        <p:spPr bwMode="auto">
          <a:xfrm>
            <a:off x="4572000" y="1510864"/>
            <a:ext cx="4261129" cy="5042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itle 2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 single-region economy (open)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79373" y="2181746"/>
            <a:ext cx="3339664" cy="3744119"/>
            <a:chOff x="5270936" y="1753949"/>
            <a:chExt cx="3339664" cy="3744119"/>
          </a:xfrm>
        </p:grpSpPr>
        <p:grpSp>
          <p:nvGrpSpPr>
            <p:cNvPr id="19" name="Group 18"/>
            <p:cNvGrpSpPr/>
            <p:nvPr/>
          </p:nvGrpSpPr>
          <p:grpSpPr>
            <a:xfrm>
              <a:off x="5562600" y="2439749"/>
              <a:ext cx="3048000" cy="3058319"/>
              <a:chOff x="5320351" y="2514600"/>
              <a:chExt cx="3048000" cy="3058319"/>
            </a:xfrm>
            <a:noFill/>
          </p:grpSpPr>
          <p:sp>
            <p:nvSpPr>
              <p:cNvPr id="77" name="Rectangle 76"/>
              <p:cNvSpPr/>
              <p:nvPr/>
            </p:nvSpPr>
            <p:spPr>
              <a:xfrm>
                <a:off x="5320351" y="2514600"/>
                <a:ext cx="3048000" cy="3048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7696200" y="2514600"/>
                <a:ext cx="672151" cy="3048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400" dirty="0">
                    <a:solidFill>
                      <a:srgbClr val="FFFF00"/>
                    </a:solidFill>
                  </a:rPr>
                  <a:t>DOMESTIC</a:t>
                </a:r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5320351" y="2514600"/>
                <a:ext cx="228600" cy="3048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400" dirty="0">
                    <a:solidFill>
                      <a:srgbClr val="FFFF00"/>
                    </a:solidFill>
                  </a:rPr>
                  <a:t>PRODUCT MARKET</a:t>
                </a:r>
              </a:p>
            </p:txBody>
          </p:sp>
          <p:cxnSp>
            <p:nvCxnSpPr>
              <p:cNvPr id="87" name="Straight Arrow Connector 86"/>
              <p:cNvCxnSpPr>
                <a:stCxn id="89" idx="0"/>
                <a:endCxn id="88" idx="2"/>
              </p:cNvCxnSpPr>
              <p:nvPr/>
            </p:nvCxnSpPr>
            <p:spPr>
              <a:xfrm rot="5400000" flipH="1" flipV="1">
                <a:off x="6501791" y="3756660"/>
                <a:ext cx="259080" cy="1588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Rectangle 87"/>
              <p:cNvSpPr/>
              <p:nvPr/>
            </p:nvSpPr>
            <p:spPr>
              <a:xfrm>
                <a:off x="6029351" y="2804160"/>
                <a:ext cx="1203960" cy="82296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rgbClr val="FFFF00"/>
                    </a:solidFill>
                  </a:rPr>
                  <a:t>PRODUCTION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6029351" y="3886200"/>
                <a:ext cx="1203960" cy="28956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lang="en-US" sz="1100" dirty="0">
                    <a:solidFill>
                      <a:srgbClr val="FFFF00"/>
                    </a:solidFill>
                  </a:rPr>
                  <a:t>FACTOR MARKET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6029351" y="4404360"/>
                <a:ext cx="1203960" cy="28956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rgbClr val="FFFF00"/>
                    </a:solidFill>
                  </a:rPr>
                  <a:t>HOUSEHOLDS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6029351" y="4937760"/>
                <a:ext cx="1203960" cy="39624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rgbClr val="FFFF00"/>
                    </a:solidFill>
                  </a:rPr>
                  <a:t>OTHER INSTITUTIONS</a:t>
                </a:r>
              </a:p>
            </p:txBody>
          </p:sp>
          <p:cxnSp>
            <p:nvCxnSpPr>
              <p:cNvPr id="92" name="Straight Arrow Connector 91"/>
              <p:cNvCxnSpPr/>
              <p:nvPr/>
            </p:nvCxnSpPr>
            <p:spPr>
              <a:xfrm rot="10800000">
                <a:off x="5562599" y="3200400"/>
                <a:ext cx="470848" cy="1588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TextBox 92"/>
              <p:cNvSpPr txBox="1"/>
              <p:nvPr/>
            </p:nvSpPr>
            <p:spPr>
              <a:xfrm>
                <a:off x="5562599" y="5203587"/>
                <a:ext cx="439544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FF00"/>
                    </a:solidFill>
                  </a:rPr>
                  <a:t>R1</a:t>
                </a:r>
              </a:p>
            </p:txBody>
          </p:sp>
          <p:cxnSp>
            <p:nvCxnSpPr>
              <p:cNvPr id="94" name="Elbow Connector 49"/>
              <p:cNvCxnSpPr>
                <a:stCxn id="86" idx="1"/>
              </p:cNvCxnSpPr>
              <p:nvPr/>
            </p:nvCxnSpPr>
            <p:spPr>
              <a:xfrm rot="10800000" flipH="1" flipV="1">
                <a:off x="5320351" y="4038599"/>
                <a:ext cx="3048000" cy="606425"/>
              </a:xfrm>
              <a:prstGeom prst="bentConnector5">
                <a:avLst>
                  <a:gd name="adj1" fmla="val -7500"/>
                  <a:gd name="adj2" fmla="val 289005"/>
                  <a:gd name="adj3" fmla="val 107500"/>
                </a:avLst>
              </a:prstGeom>
              <a:grpFill/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/>
              <p:cNvCxnSpPr/>
              <p:nvPr/>
            </p:nvCxnSpPr>
            <p:spPr>
              <a:xfrm rot="10800000">
                <a:off x="7211703" y="3200401"/>
                <a:ext cx="470848" cy="1588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/>
              <p:cNvCxnSpPr/>
              <p:nvPr/>
            </p:nvCxnSpPr>
            <p:spPr>
              <a:xfrm rot="10800000">
                <a:off x="7225352" y="4570411"/>
                <a:ext cx="470848" cy="1588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/>
              <p:cNvCxnSpPr/>
              <p:nvPr/>
            </p:nvCxnSpPr>
            <p:spPr>
              <a:xfrm rot="10800000">
                <a:off x="7225352" y="5125419"/>
                <a:ext cx="470848" cy="1588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/>
              <p:cNvCxnSpPr>
                <a:stCxn id="90" idx="0"/>
                <a:endCxn id="89" idx="2"/>
              </p:cNvCxnSpPr>
              <p:nvPr/>
            </p:nvCxnSpPr>
            <p:spPr>
              <a:xfrm rot="5400000" flipH="1" flipV="1">
                <a:off x="6517031" y="4290060"/>
                <a:ext cx="228600" cy="1588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Elbow Connector 100"/>
              <p:cNvCxnSpPr>
                <a:stCxn id="91" idx="1"/>
                <a:endCxn id="89" idx="1"/>
              </p:cNvCxnSpPr>
              <p:nvPr/>
            </p:nvCxnSpPr>
            <p:spPr>
              <a:xfrm rot="10800000">
                <a:off x="6029351" y="4030980"/>
                <a:ext cx="1588" cy="1104900"/>
              </a:xfrm>
              <a:prstGeom prst="bentConnector3">
                <a:avLst>
                  <a:gd name="adj1" fmla="val 14395466"/>
                </a:avLst>
              </a:prstGeom>
              <a:grpFill/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Rectangle 25"/>
            <p:cNvSpPr/>
            <p:nvPr/>
          </p:nvSpPr>
          <p:spPr>
            <a:xfrm>
              <a:off x="5270936" y="1753949"/>
              <a:ext cx="747897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rgbClr val="FFFF00"/>
                  </a:solidFill>
                </a:rPr>
                <a:t>EXPORT</a:t>
              </a:r>
              <a:endParaRPr lang="en-US" dirty="0">
                <a:solidFill>
                  <a:srgbClr val="FFFF00"/>
                </a:solidFill>
              </a:endParaRP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H="1" flipV="1">
              <a:off x="5676902" y="2030948"/>
              <a:ext cx="1" cy="40880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>
              <a:off x="7874021" y="1753949"/>
              <a:ext cx="720647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rgbClr val="FFFF00"/>
                  </a:solidFill>
                </a:rPr>
                <a:t>IMPORT</a:t>
              </a:r>
              <a:endParaRPr lang="en-US" dirty="0">
                <a:solidFill>
                  <a:srgbClr val="FFFF00"/>
                </a:solidFill>
              </a:endParaRPr>
            </a:p>
          </p:txBody>
        </p:sp>
        <p:cxnSp>
          <p:nvCxnSpPr>
            <p:cNvPr id="32" name="Straight Arrow Connector 31"/>
            <p:cNvCxnSpPr>
              <a:stCxn id="30" idx="2"/>
            </p:cNvCxnSpPr>
            <p:nvPr/>
          </p:nvCxnSpPr>
          <p:spPr>
            <a:xfrm flipH="1">
              <a:off x="8234344" y="2030948"/>
              <a:ext cx="1" cy="4088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5390577"/>
      </p:ext>
    </p:ext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26"/>
          <p:cNvSpPr txBox="1">
            <a:spLocks/>
          </p:cNvSpPr>
          <p:nvPr/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solidFill>
                    <a:schemeClr val="tx1"/>
                  </a:solidFill>
                </a:ln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+mj-lt"/>
                <a:ea typeface="+mj-ea"/>
                <a:cs typeface="+mj-cs"/>
              </a:rPr>
              <a:t>A multi-regions</a:t>
            </a:r>
            <a:r>
              <a:rPr kumimoji="0" lang="id-ID" sz="4800" b="1" i="0" u="none" strike="noStrike" kern="1200" cap="none" spc="0" normalizeH="0" noProof="0" dirty="0">
                <a:ln>
                  <a:solidFill>
                    <a:schemeClr val="tx1"/>
                  </a:solidFill>
                </a:ln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800" b="1" i="0" u="none" strike="noStrike" kern="1200" cap="none" spc="0" normalizeH="0" baseline="0" noProof="0" dirty="0">
                <a:ln>
                  <a:solidFill>
                    <a:schemeClr val="tx1"/>
                  </a:solidFill>
                </a:ln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+mj-lt"/>
                <a:ea typeface="+mj-ea"/>
                <a:cs typeface="+mj-cs"/>
              </a:rPr>
              <a:t>economy</a:t>
            </a:r>
          </a:p>
        </p:txBody>
      </p:sp>
      <p:sp>
        <p:nvSpPr>
          <p:cNvPr id="2" name="Rectangle 1"/>
          <p:cNvSpPr/>
          <p:nvPr/>
        </p:nvSpPr>
        <p:spPr>
          <a:xfrm>
            <a:off x="1143000" y="1828802"/>
            <a:ext cx="3048000" cy="3048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33800" y="4188859"/>
            <a:ext cx="457200" cy="6858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IMP</a:t>
            </a:r>
          </a:p>
        </p:txBody>
      </p:sp>
      <p:sp>
        <p:nvSpPr>
          <p:cNvPr id="4" name="Rectangle 3"/>
          <p:cNvSpPr/>
          <p:nvPr/>
        </p:nvSpPr>
        <p:spPr>
          <a:xfrm>
            <a:off x="3962400" y="1828802"/>
            <a:ext cx="228600" cy="47244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R2</a:t>
            </a:r>
          </a:p>
        </p:txBody>
      </p:sp>
      <p:sp>
        <p:nvSpPr>
          <p:cNvPr id="5" name="Rectangle 4"/>
          <p:cNvSpPr/>
          <p:nvPr/>
        </p:nvSpPr>
        <p:spPr>
          <a:xfrm>
            <a:off x="3733800" y="1828802"/>
            <a:ext cx="228600" cy="23622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DOMESTIC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2400" y="2305687"/>
            <a:ext cx="228600" cy="47244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R5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2400" y="2778127"/>
            <a:ext cx="228600" cy="47244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R4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2400" y="3250567"/>
            <a:ext cx="228600" cy="47244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R3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2400" y="3723007"/>
            <a:ext cx="228600" cy="47244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R1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5200" y="1828802"/>
            <a:ext cx="228600" cy="3048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COMPOSITE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1828802"/>
            <a:ext cx="228600" cy="3048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PRODUCT MARKET</a:t>
            </a:r>
          </a:p>
        </p:txBody>
      </p:sp>
      <p:cxnSp>
        <p:nvCxnSpPr>
          <p:cNvPr id="16" name="Straight Arrow Connector 15"/>
          <p:cNvCxnSpPr>
            <a:stCxn id="13" idx="0"/>
            <a:endCxn id="11" idx="2"/>
          </p:cNvCxnSpPr>
          <p:nvPr/>
        </p:nvCxnSpPr>
        <p:spPr>
          <a:xfrm rot="5400000" flipH="1" flipV="1">
            <a:off x="2324440" y="3070862"/>
            <a:ext cx="25908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876800" y="1838327"/>
            <a:ext cx="3048000" cy="3048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876800" y="4200527"/>
            <a:ext cx="457200" cy="6858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IMP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6800" y="1838327"/>
            <a:ext cx="228600" cy="47244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R1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05400" y="1838327"/>
            <a:ext cx="228600" cy="23622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DOMESTIC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800" y="2310767"/>
            <a:ext cx="228600" cy="47244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R5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76800" y="3255647"/>
            <a:ext cx="228600" cy="47244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R3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76800" y="3728087"/>
            <a:ext cx="228600" cy="47244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R2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34000" y="1838327"/>
            <a:ext cx="228600" cy="3048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COMPOSITE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19800" y="2066927"/>
            <a:ext cx="1203960" cy="8229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FF00"/>
                </a:solidFill>
              </a:rPr>
              <a:t>PRODUCTION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96200" y="1838327"/>
            <a:ext cx="228600" cy="3048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PRODUCT MARKET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19800" y="3148967"/>
            <a:ext cx="1203960" cy="2895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100" dirty="0">
                <a:solidFill>
                  <a:srgbClr val="FFFF00"/>
                </a:solidFill>
              </a:rPr>
              <a:t>FACTOR MARKET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19800" y="3667127"/>
            <a:ext cx="1203960" cy="2895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FF00"/>
                </a:solidFill>
              </a:rPr>
              <a:t>HOUSEHOLDS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19800" y="4200527"/>
            <a:ext cx="1203960" cy="39624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FF00"/>
                </a:solidFill>
              </a:rPr>
              <a:t>OTHER INSTITUTIONS</a:t>
            </a:r>
          </a:p>
        </p:txBody>
      </p:sp>
      <p:cxnSp>
        <p:nvCxnSpPr>
          <p:cNvPr id="34" name="Straight Arrow Connector 33"/>
          <p:cNvCxnSpPr>
            <a:stCxn id="31" idx="0"/>
            <a:endCxn id="29" idx="2"/>
          </p:cNvCxnSpPr>
          <p:nvPr/>
        </p:nvCxnSpPr>
        <p:spPr>
          <a:xfrm rot="5400000" flipH="1" flipV="1">
            <a:off x="6492240" y="3019427"/>
            <a:ext cx="25908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562600" y="2524127"/>
            <a:ext cx="4572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562600" y="3817939"/>
            <a:ext cx="4572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562600" y="4368167"/>
            <a:ext cx="4572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223760" y="2522539"/>
            <a:ext cx="47244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852000" y="2118362"/>
            <a:ext cx="1203960" cy="8229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FF00"/>
                </a:solidFill>
              </a:rPr>
              <a:t>PRODUCTION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52000" y="3200402"/>
            <a:ext cx="1203960" cy="2895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100" dirty="0">
                <a:solidFill>
                  <a:srgbClr val="FFFF00"/>
                </a:solidFill>
              </a:rPr>
              <a:t>FACTOR 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52000" y="3718562"/>
            <a:ext cx="1203960" cy="2895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FF00"/>
                </a:solidFill>
              </a:rPr>
              <a:t>HOUSEHOLDS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52000" y="4251962"/>
            <a:ext cx="1203960" cy="39624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FF00"/>
                </a:solidFill>
              </a:rPr>
              <a:t>OTHER INSTITUTIONS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rot="10800000">
            <a:off x="1385248" y="2514602"/>
            <a:ext cx="47084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385248" y="4517789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R1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505327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R2</a:t>
            </a:r>
          </a:p>
        </p:txBody>
      </p:sp>
      <p:cxnSp>
        <p:nvCxnSpPr>
          <p:cNvPr id="42" name="Shape 41"/>
          <p:cNvCxnSpPr>
            <a:stCxn id="30" idx="3"/>
            <a:endCxn id="27" idx="1"/>
          </p:cNvCxnSpPr>
          <p:nvPr/>
        </p:nvCxnSpPr>
        <p:spPr>
          <a:xfrm flipH="1">
            <a:off x="4876800" y="3362327"/>
            <a:ext cx="3048000" cy="601980"/>
          </a:xfrm>
          <a:prstGeom prst="bentConnector5">
            <a:avLst>
              <a:gd name="adj1" fmla="val -7500"/>
              <a:gd name="adj2" fmla="val 291139"/>
              <a:gd name="adj3" fmla="val 1075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876800" y="2783207"/>
            <a:ext cx="228600" cy="47244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R4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24994" y="5257800"/>
            <a:ext cx="2743200" cy="45720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REST OF THE WORLD</a:t>
            </a:r>
          </a:p>
        </p:txBody>
      </p:sp>
      <p:cxnSp>
        <p:nvCxnSpPr>
          <p:cNvPr id="50" name="Elbow Connector 49"/>
          <p:cNvCxnSpPr>
            <a:stCxn id="12" idx="1"/>
            <a:endCxn id="9" idx="3"/>
          </p:cNvCxnSpPr>
          <p:nvPr/>
        </p:nvCxnSpPr>
        <p:spPr>
          <a:xfrm rot="10800000" flipH="1" flipV="1">
            <a:off x="1143000" y="3352801"/>
            <a:ext cx="3048000" cy="606425"/>
          </a:xfrm>
          <a:prstGeom prst="bentConnector5">
            <a:avLst>
              <a:gd name="adj1" fmla="val -7500"/>
              <a:gd name="adj2" fmla="val 289005"/>
              <a:gd name="adj3" fmla="val 1075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rot="10800000">
            <a:off x="3034352" y="2514603"/>
            <a:ext cx="47084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rot="10800000">
            <a:off x="3048001" y="3884613"/>
            <a:ext cx="47084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>
            <a:off x="3048001" y="4439621"/>
            <a:ext cx="47084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angle 150"/>
          <p:cNvSpPr/>
          <p:nvPr/>
        </p:nvSpPr>
        <p:spPr>
          <a:xfrm>
            <a:off x="3124200" y="5257800"/>
            <a:ext cx="13716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4495800" y="5257801"/>
            <a:ext cx="13716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cxnSp>
        <p:nvCxnSpPr>
          <p:cNvPr id="159" name="Elbow Connector 50"/>
          <p:cNvCxnSpPr>
            <a:stCxn id="12" idx="2"/>
            <a:endCxn id="151" idx="1"/>
          </p:cNvCxnSpPr>
          <p:nvPr/>
        </p:nvCxnSpPr>
        <p:spPr>
          <a:xfrm rot="16200000" flipH="1">
            <a:off x="1885951" y="4248151"/>
            <a:ext cx="609598" cy="186690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50"/>
          <p:cNvCxnSpPr>
            <a:stCxn id="30" idx="2"/>
            <a:endCxn id="152" idx="3"/>
          </p:cNvCxnSpPr>
          <p:nvPr/>
        </p:nvCxnSpPr>
        <p:spPr>
          <a:xfrm rot="5400000">
            <a:off x="6538913" y="4214814"/>
            <a:ext cx="600074" cy="194310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12" idx="0"/>
          </p:cNvCxnSpPr>
          <p:nvPr/>
        </p:nvCxnSpPr>
        <p:spPr>
          <a:xfrm rot="16200000" flipV="1">
            <a:off x="1104900" y="1676401"/>
            <a:ext cx="30480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1257299" y="1524001"/>
            <a:ext cx="2933701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4191000" y="1525589"/>
            <a:ext cx="685800" cy="5413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30" idx="0"/>
          </p:cNvCxnSpPr>
          <p:nvPr/>
        </p:nvCxnSpPr>
        <p:spPr>
          <a:xfrm rot="5400000" flipH="1" flipV="1">
            <a:off x="7653337" y="1681164"/>
            <a:ext cx="31432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rot="10800000">
            <a:off x="4876801" y="1524001"/>
            <a:ext cx="2933701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4" idx="3"/>
          </p:cNvCxnSpPr>
          <p:nvPr/>
        </p:nvCxnSpPr>
        <p:spPr>
          <a:xfrm rot="10800000" flipV="1">
            <a:off x="4191000" y="1525588"/>
            <a:ext cx="685800" cy="5394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14" idx="0"/>
            <a:endCxn id="13" idx="2"/>
          </p:cNvCxnSpPr>
          <p:nvPr/>
        </p:nvCxnSpPr>
        <p:spPr>
          <a:xfrm rot="5400000" flipH="1" flipV="1">
            <a:off x="2339680" y="3604262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>
            <a:stCxn id="15" idx="1"/>
            <a:endCxn id="13" idx="1"/>
          </p:cNvCxnSpPr>
          <p:nvPr/>
        </p:nvCxnSpPr>
        <p:spPr>
          <a:xfrm rot="10800000">
            <a:off x="1852000" y="3345182"/>
            <a:ext cx="1588" cy="1104900"/>
          </a:xfrm>
          <a:prstGeom prst="bentConnector3">
            <a:avLst>
              <a:gd name="adj1" fmla="val 14395466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32" idx="0"/>
            <a:endCxn id="31" idx="2"/>
          </p:cNvCxnSpPr>
          <p:nvPr/>
        </p:nvCxnSpPr>
        <p:spPr>
          <a:xfrm rot="5400000" flipH="1" flipV="1">
            <a:off x="6507480" y="3552827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/>
          <p:cNvCxnSpPr>
            <a:stCxn id="33" idx="3"/>
            <a:endCxn id="31" idx="3"/>
          </p:cNvCxnSpPr>
          <p:nvPr/>
        </p:nvCxnSpPr>
        <p:spPr>
          <a:xfrm flipV="1">
            <a:off x="7223760" y="3293747"/>
            <a:ext cx="1588" cy="1104900"/>
          </a:xfrm>
          <a:prstGeom prst="bentConnector3">
            <a:avLst>
              <a:gd name="adj1" fmla="val 14395466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endCxn id="3" idx="2"/>
          </p:cNvCxnSpPr>
          <p:nvPr/>
        </p:nvCxnSpPr>
        <p:spPr>
          <a:xfrm rot="5400000" flipH="1" flipV="1">
            <a:off x="3770830" y="5066230"/>
            <a:ext cx="383141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rot="5400000" flipH="1" flipV="1">
            <a:off x="4881503" y="5067577"/>
            <a:ext cx="383141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440572"/>
      </p:ext>
    </p:extLst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2800" dirty="0"/>
              <a:t>Top-Down vs bottom up regional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43480" y="1676400"/>
            <a:ext cx="3540603" cy="576262"/>
          </a:xfrm>
        </p:spPr>
        <p:txBody>
          <a:bodyPr/>
          <a:lstStyle/>
          <a:p>
            <a:r>
              <a:rPr lang="id-ID" dirty="0"/>
              <a:t>Top-down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328334"/>
            <a:ext cx="3813048" cy="2920998"/>
          </a:xfrm>
        </p:spPr>
        <p:txBody>
          <a:bodyPr>
            <a:noAutofit/>
          </a:bodyPr>
          <a:lstStyle/>
          <a:p>
            <a:r>
              <a:rPr lang="id-ID" dirty="0"/>
              <a:t>A model of national economy. Sub-national economy (aggregate) variables are weighted average national economy variables.</a:t>
            </a:r>
          </a:p>
          <a:p>
            <a:r>
              <a:rPr lang="id-ID" dirty="0"/>
              <a:t>No regional market equillibrium, price is equal nation-wide</a:t>
            </a:r>
          </a:p>
          <a:p>
            <a:endParaRPr lang="id-ID" dirty="0"/>
          </a:p>
          <a:p>
            <a:r>
              <a:rPr lang="id-ID" dirty="0"/>
              <a:t>No region specific shock </a:t>
            </a:r>
          </a:p>
          <a:p>
            <a:r>
              <a:rPr lang="id-ID" dirty="0"/>
              <a:t>Smaller size</a:t>
            </a:r>
          </a:p>
          <a:p>
            <a:r>
              <a:rPr lang="id-ID" dirty="0"/>
              <a:t>Example: INDORANI, WAYANG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711120" y="1676400"/>
            <a:ext cx="3518480" cy="576262"/>
          </a:xfrm>
        </p:spPr>
        <p:txBody>
          <a:bodyPr/>
          <a:lstStyle/>
          <a:p>
            <a:r>
              <a:rPr lang="id-ID" dirty="0"/>
              <a:t>Bottom-up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416552" y="2328334"/>
            <a:ext cx="3813048" cy="2920998"/>
          </a:xfrm>
        </p:spPr>
        <p:txBody>
          <a:bodyPr>
            <a:noAutofit/>
          </a:bodyPr>
          <a:lstStyle/>
          <a:p>
            <a:r>
              <a:rPr lang="id-ID" dirty="0"/>
              <a:t>A model of sub-national economy linked together through trade (of commodities and factors)</a:t>
            </a:r>
          </a:p>
          <a:p>
            <a:endParaRPr lang="id-ID" dirty="0"/>
          </a:p>
          <a:p>
            <a:r>
              <a:rPr lang="id-ID" dirty="0"/>
              <a:t>Region and commodity specifci market equilibrium,  price varies by region</a:t>
            </a:r>
          </a:p>
          <a:p>
            <a:r>
              <a:rPr lang="id-ID" dirty="0"/>
              <a:t>Region specific shocks</a:t>
            </a:r>
          </a:p>
          <a:p>
            <a:r>
              <a:rPr lang="id-ID" dirty="0"/>
              <a:t>Large size</a:t>
            </a:r>
          </a:p>
          <a:p>
            <a:r>
              <a:rPr lang="id-ID" dirty="0"/>
              <a:t>Example: IndoTERM, IRSA-INDONESIA 5</a:t>
            </a:r>
          </a:p>
        </p:txBody>
      </p:sp>
    </p:spTree>
    <p:extLst>
      <p:ext uri="{BB962C8B-B14F-4D97-AF65-F5344CB8AC3E}">
        <p14:creationId xmlns:p14="http://schemas.microsoft.com/office/powerpoint/2010/main" val="2807270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IndoTERM</a:t>
            </a:r>
            <a:r>
              <a:rPr lang="en-US" dirty="0"/>
              <a:t>: economy-wide</a:t>
            </a:r>
            <a:r>
              <a:rPr lang="id-ID" dirty="0"/>
              <a:t> IMPACT</a:t>
            </a:r>
            <a:endParaRPr lang="en-US" dirty="0"/>
          </a:p>
        </p:txBody>
      </p:sp>
      <p:grpSp>
        <p:nvGrpSpPr>
          <p:cNvPr id="68" name="Group 67"/>
          <p:cNvGrpSpPr/>
          <p:nvPr/>
        </p:nvGrpSpPr>
        <p:grpSpPr>
          <a:xfrm>
            <a:off x="1905000" y="2286000"/>
            <a:ext cx="5394020" cy="3505200"/>
            <a:chOff x="685800" y="2209800"/>
            <a:chExt cx="6097588" cy="3962400"/>
          </a:xfrm>
        </p:grpSpPr>
        <p:sp>
          <p:nvSpPr>
            <p:cNvPr id="6" name="Rounded Rectangle 5"/>
            <p:cNvSpPr/>
            <p:nvPr/>
          </p:nvSpPr>
          <p:spPr>
            <a:xfrm>
              <a:off x="1676400" y="3810000"/>
              <a:ext cx="2133600" cy="1219200"/>
            </a:xfrm>
            <a:prstGeom prst="roundRect">
              <a:avLst/>
            </a:prstGeom>
            <a:effectLst>
              <a:glow rad="2286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Sumber</a:t>
              </a:r>
              <a:r>
                <a:rPr lang="en-US" dirty="0"/>
                <a:t> shock</a:t>
              </a:r>
            </a:p>
            <a:p>
              <a:pPr algn="ctr"/>
              <a:r>
                <a:rPr lang="en-US" dirty="0" err="1"/>
                <a:t>Provinsi</a:t>
              </a:r>
              <a:r>
                <a:rPr lang="en-US" dirty="0"/>
                <a:t> </a:t>
              </a:r>
              <a:r>
                <a:rPr lang="en-US" dirty="0" err="1"/>
                <a:t>tertentu</a:t>
              </a:r>
              <a:endParaRPr lang="en-US" dirty="0"/>
            </a:p>
            <a:p>
              <a:pPr algn="ctr"/>
              <a:r>
                <a:rPr lang="en-US" dirty="0" err="1"/>
                <a:t>Sektor</a:t>
              </a:r>
              <a:r>
                <a:rPr lang="en-US" dirty="0"/>
                <a:t> </a:t>
              </a:r>
              <a:r>
                <a:rPr lang="en-US" dirty="0" err="1"/>
                <a:t>tertentu</a:t>
              </a:r>
              <a:endParaRPr lang="en-US" dirty="0"/>
            </a:p>
          </p:txBody>
        </p:sp>
        <p:cxnSp>
          <p:nvCxnSpPr>
            <p:cNvPr id="12" name="Shape 11"/>
            <p:cNvCxnSpPr>
              <a:stCxn id="6" idx="0"/>
              <a:endCxn id="6" idx="1"/>
            </p:cNvCxnSpPr>
            <p:nvPr/>
          </p:nvCxnSpPr>
          <p:spPr>
            <a:xfrm rot="16200000" flipH="1" flipV="1">
              <a:off x="1905000" y="3581400"/>
              <a:ext cx="609600" cy="1066800"/>
            </a:xfrm>
            <a:prstGeom prst="curvedConnector4">
              <a:avLst>
                <a:gd name="adj1" fmla="val -228880"/>
                <a:gd name="adj2" fmla="val 217488"/>
              </a:avLst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/>
            <p:cNvSpPr/>
            <p:nvPr/>
          </p:nvSpPr>
          <p:spPr>
            <a:xfrm>
              <a:off x="4648200" y="2209800"/>
              <a:ext cx="2133600" cy="1219200"/>
            </a:xfrm>
            <a:prstGeom prst="round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Provinsi</a:t>
              </a:r>
              <a:r>
                <a:rPr lang="en-US" dirty="0"/>
                <a:t> lain</a:t>
              </a:r>
            </a:p>
            <a:p>
              <a:pPr algn="ctr"/>
              <a:r>
                <a:rPr lang="en-US" dirty="0" err="1"/>
                <a:t>Sektor</a:t>
              </a:r>
              <a:r>
                <a:rPr lang="en-US" dirty="0"/>
                <a:t> </a:t>
              </a:r>
              <a:r>
                <a:rPr lang="en-US" dirty="0" err="1"/>
                <a:t>tertentu</a:t>
              </a:r>
              <a:endParaRPr lang="en-US" dirty="0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648200" y="4953000"/>
              <a:ext cx="2133600" cy="1219200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Provinsi</a:t>
              </a:r>
              <a:r>
                <a:rPr lang="en-US" dirty="0"/>
                <a:t> lain</a:t>
              </a:r>
            </a:p>
            <a:p>
              <a:pPr algn="ctr"/>
              <a:r>
                <a:rPr lang="en-US" dirty="0" err="1"/>
                <a:t>Sektor</a:t>
              </a:r>
              <a:r>
                <a:rPr lang="en-US" dirty="0"/>
                <a:t> </a:t>
              </a:r>
              <a:r>
                <a:rPr lang="en-US" dirty="0" err="1"/>
                <a:t>lainnya</a:t>
              </a:r>
              <a:endParaRPr lang="en-US" dirty="0"/>
            </a:p>
          </p:txBody>
        </p:sp>
        <p:cxnSp>
          <p:nvCxnSpPr>
            <p:cNvPr id="31" name="Curved Connector 30"/>
            <p:cNvCxnSpPr>
              <a:stCxn id="6" idx="0"/>
              <a:endCxn id="17" idx="0"/>
            </p:cNvCxnSpPr>
            <p:nvPr/>
          </p:nvCxnSpPr>
          <p:spPr>
            <a:xfrm rot="5400000" flipH="1" flipV="1">
              <a:off x="3429000" y="1524000"/>
              <a:ext cx="1600200" cy="2971800"/>
            </a:xfrm>
            <a:prstGeom prst="curvedConnector3">
              <a:avLst>
                <a:gd name="adj1" fmla="val 129064"/>
              </a:avLst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35"/>
            <p:cNvCxnSpPr>
              <a:stCxn id="6" idx="2"/>
              <a:endCxn id="18" idx="2"/>
            </p:cNvCxnSpPr>
            <p:nvPr/>
          </p:nvCxnSpPr>
          <p:spPr>
            <a:xfrm rot="16200000" flipH="1">
              <a:off x="3657600" y="4114800"/>
              <a:ext cx="1143000" cy="2971800"/>
            </a:xfrm>
            <a:prstGeom prst="curvedConnector3">
              <a:avLst>
                <a:gd name="adj1" fmla="val 133793"/>
              </a:avLst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hape 46"/>
            <p:cNvCxnSpPr>
              <a:stCxn id="17" idx="2"/>
              <a:endCxn id="6" idx="3"/>
            </p:cNvCxnSpPr>
            <p:nvPr/>
          </p:nvCxnSpPr>
          <p:spPr>
            <a:xfrm rot="5400000">
              <a:off x="4267200" y="2971800"/>
              <a:ext cx="990600" cy="1905000"/>
            </a:xfrm>
            <a:prstGeom prst="curvedConnector2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hape 48"/>
            <p:cNvCxnSpPr>
              <a:stCxn id="18" idx="0"/>
              <a:endCxn id="6" idx="3"/>
            </p:cNvCxnSpPr>
            <p:nvPr/>
          </p:nvCxnSpPr>
          <p:spPr>
            <a:xfrm rot="16200000" flipV="1">
              <a:off x="4495800" y="3733800"/>
              <a:ext cx="533400" cy="1905000"/>
            </a:xfrm>
            <a:prstGeom prst="curvedConnector2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urved Connector 56"/>
            <p:cNvCxnSpPr>
              <a:stCxn id="17" idx="3"/>
              <a:endCxn id="18" idx="3"/>
            </p:cNvCxnSpPr>
            <p:nvPr/>
          </p:nvCxnSpPr>
          <p:spPr>
            <a:xfrm>
              <a:off x="6781800" y="2819400"/>
              <a:ext cx="1588" cy="2743200"/>
            </a:xfrm>
            <a:prstGeom prst="curvedConnector3">
              <a:avLst>
                <a:gd name="adj1" fmla="val 81905252"/>
              </a:avLst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685800" y="2743200"/>
              <a:ext cx="7761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direct</a:t>
              </a:r>
            </a:p>
            <a:p>
              <a:r>
                <a:rPr lang="en-US" dirty="0"/>
                <a:t>effect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927834" y="4126468"/>
              <a:ext cx="1091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feedback</a:t>
              </a:r>
            </a:p>
          </p:txBody>
        </p:sp>
      </p:grpSp>
      <p:sp>
        <p:nvSpPr>
          <p:cNvPr id="69" name="Rounded Rectangle 68"/>
          <p:cNvSpPr/>
          <p:nvPr/>
        </p:nvSpPr>
        <p:spPr>
          <a:xfrm>
            <a:off x="685800" y="1676400"/>
            <a:ext cx="8153400" cy="4876800"/>
          </a:xfrm>
          <a:prstGeom prst="roundRect">
            <a:avLst>
              <a:gd name="adj" fmla="val 9232"/>
            </a:avLst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990600" y="6031468"/>
            <a:ext cx="198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aggregate impact</a:t>
            </a:r>
          </a:p>
        </p:txBody>
      </p:sp>
    </p:spTree>
    <p:extLst>
      <p:ext uri="{BB962C8B-B14F-4D97-AF65-F5344CB8AC3E}">
        <p14:creationId xmlns:p14="http://schemas.microsoft.com/office/powerpoint/2010/main" val="3717455593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IndoTERM can be used for variety of purposes</a:t>
            </a:r>
          </a:p>
        </p:txBody>
      </p:sp>
      <p:graphicFrame>
        <p:nvGraphicFramePr>
          <p:cNvPr id="4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8126229"/>
              </p:ext>
            </p:extLst>
          </p:nvPr>
        </p:nvGraphicFramePr>
        <p:xfrm>
          <a:off x="533400" y="1828800"/>
          <a:ext cx="82296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2506</TotalTime>
  <Words>363</Words>
  <Application>Microsoft Office PowerPoint</Application>
  <PresentationFormat>On-screen Show (4:3)</PresentationFormat>
  <Paragraphs>99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Celestial</vt:lpstr>
      <vt:lpstr>IndoTERM</vt:lpstr>
      <vt:lpstr>A single-region economy (closed)</vt:lpstr>
      <vt:lpstr>A single-region economy (open)</vt:lpstr>
      <vt:lpstr>PowerPoint Presentation</vt:lpstr>
      <vt:lpstr>Top-Down vs bottom up regional model</vt:lpstr>
      <vt:lpstr>IndoTERM: economy-wide IMPACT</vt:lpstr>
      <vt:lpstr>IndoTERM can be used for variety of purposes</vt:lpstr>
    </vt:vector>
  </TitlesOfParts>
  <Company>Universitas Padjadjaran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AAY</dc:creator>
  <cp:lastModifiedBy>Arief Yusuf</cp:lastModifiedBy>
  <cp:revision>139</cp:revision>
  <dcterms:created xsi:type="dcterms:W3CDTF">2014-12-10T08:15:02Z</dcterms:created>
  <dcterms:modified xsi:type="dcterms:W3CDTF">2020-03-09T23:10:48Z</dcterms:modified>
</cp:coreProperties>
</file>