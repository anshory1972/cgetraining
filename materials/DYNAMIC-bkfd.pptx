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charts/chart2.xml" ContentType="application/vnd.openxmlformats-officedocument.drawingml.chart+xml"/>
  <Override PartName="/ppt/theme/themeOverride2.xml" ContentType="application/vnd.openxmlformats-officedocument.themeOverride+xml"/>
  <Override PartName="/ppt/drawings/drawing1.xml" ContentType="application/vnd.openxmlformats-officedocument.drawingml.chartshapes+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handoutMasterIdLst>
    <p:handoutMasterId r:id="rId32"/>
  </p:handoutMasterIdLst>
  <p:sldIdLst>
    <p:sldId id="281" r:id="rId2"/>
    <p:sldId id="282" r:id="rId3"/>
    <p:sldId id="283" r:id="rId4"/>
    <p:sldId id="284" r:id="rId5"/>
    <p:sldId id="285" r:id="rId6"/>
    <p:sldId id="286" r:id="rId7"/>
    <p:sldId id="287" r:id="rId8"/>
    <p:sldId id="288" r:id="rId9"/>
    <p:sldId id="289" r:id="rId10"/>
    <p:sldId id="256" r:id="rId11"/>
    <p:sldId id="257" r:id="rId12"/>
    <p:sldId id="258" r:id="rId13"/>
    <p:sldId id="264" r:id="rId14"/>
    <p:sldId id="265" r:id="rId15"/>
    <p:sldId id="266" r:id="rId16"/>
    <p:sldId id="267" r:id="rId17"/>
    <p:sldId id="261" r:id="rId18"/>
    <p:sldId id="269" r:id="rId19"/>
    <p:sldId id="270" r:id="rId20"/>
    <p:sldId id="259" r:id="rId21"/>
    <p:sldId id="260" r:id="rId22"/>
    <p:sldId id="268" r:id="rId23"/>
    <p:sldId id="273" r:id="rId24"/>
    <p:sldId id="274" r:id="rId25"/>
    <p:sldId id="276" r:id="rId26"/>
    <p:sldId id="277" r:id="rId27"/>
    <p:sldId id="278" r:id="rId28"/>
    <p:sldId id="279" r:id="rId29"/>
    <p:sldId id="280" r:id="rId30"/>
  </p:sldIdLst>
  <p:sldSz cx="9144000" cy="6858000" type="screen4x3"/>
  <p:notesSz cx="7099300" cy="10234613"/>
  <p:defaultTextStyle>
    <a:defPPr>
      <a:defRPr lang="en-US"/>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0" d="100"/>
          <a:sy n="60" d="100"/>
        </p:scale>
        <p:origin x="1388" y="36"/>
      </p:cViewPr>
      <p:guideLst>
        <p:guide orient="horz" pos="2160"/>
        <p:guide pos="2880"/>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2" Type="http://schemas.openxmlformats.org/officeDocument/2006/relationships/oleObject" Target="file:///C:\CoPS\Projects\Indonesia\12.IndoTERM%20course%20design\2.Powerpoint\ForePol.xlsx" TargetMode="External"/><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3" Type="http://schemas.openxmlformats.org/officeDocument/2006/relationships/chartUserShapes" Target="../drawings/drawing1.xml"/><Relationship Id="rId2" Type="http://schemas.openxmlformats.org/officeDocument/2006/relationships/oleObject" Target="file:///C:\CoPS\Projects\Indonesia\12.IndoTERM%20course%20design\2.Powerpoint\ForePol.xlsx" TargetMode="External"/><Relationship Id="rId1" Type="http://schemas.openxmlformats.org/officeDocument/2006/relationships/themeOverride" Target="../theme/themeOverrid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a:pPr>
            <a:r>
              <a:rPr lang="en-AU"/>
              <a:t>GDP, real</a:t>
            </a:r>
            <a:r>
              <a:rPr lang="en-AU" baseline="0"/>
              <a:t> wage and population growth</a:t>
            </a:r>
          </a:p>
          <a:p>
            <a:pPr>
              <a:defRPr/>
            </a:pPr>
            <a:r>
              <a:rPr lang="en-AU" sz="1200" b="0" baseline="0"/>
              <a:t>(% cumulative change)</a:t>
            </a:r>
            <a:endParaRPr lang="en-AU" sz="1200" b="0"/>
          </a:p>
        </c:rich>
      </c:tx>
      <c:overlay val="0"/>
    </c:title>
    <c:autoTitleDeleted val="0"/>
    <c:plotArea>
      <c:layout/>
      <c:lineChart>
        <c:grouping val="standard"/>
        <c:varyColors val="0"/>
        <c:ser>
          <c:idx val="0"/>
          <c:order val="0"/>
          <c:tx>
            <c:strRef>
              <c:f>Sheet1!$A$7</c:f>
              <c:strCache>
                <c:ptCount val="1"/>
                <c:pt idx="0">
                  <c:v>GDP</c:v>
                </c:pt>
              </c:strCache>
            </c:strRef>
          </c:tx>
          <c:marker>
            <c:symbol val="square"/>
            <c:size val="5"/>
          </c:marker>
          <c:cat>
            <c:numRef>
              <c:f>Sheet1!$B$6:$Z$6</c:f>
              <c:numCache>
                <c:formatCode>General</c:formatCode>
                <c:ptCount val="25"/>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pt idx="13">
                  <c:v>2019</c:v>
                </c:pt>
                <c:pt idx="14">
                  <c:v>2020</c:v>
                </c:pt>
                <c:pt idx="15">
                  <c:v>2021</c:v>
                </c:pt>
                <c:pt idx="16">
                  <c:v>2022</c:v>
                </c:pt>
                <c:pt idx="17">
                  <c:v>2023</c:v>
                </c:pt>
                <c:pt idx="18">
                  <c:v>2024</c:v>
                </c:pt>
                <c:pt idx="19">
                  <c:v>2025</c:v>
                </c:pt>
                <c:pt idx="20">
                  <c:v>2026</c:v>
                </c:pt>
                <c:pt idx="21">
                  <c:v>2027</c:v>
                </c:pt>
                <c:pt idx="22">
                  <c:v>2028</c:v>
                </c:pt>
                <c:pt idx="23">
                  <c:v>2029</c:v>
                </c:pt>
                <c:pt idx="24">
                  <c:v>2030</c:v>
                </c:pt>
              </c:numCache>
            </c:numRef>
          </c:cat>
          <c:val>
            <c:numRef>
              <c:f>Sheet1!$B$7:$Z$7</c:f>
              <c:numCache>
                <c:formatCode>General</c:formatCode>
                <c:ptCount val="25"/>
                <c:pt idx="0">
                  <c:v>5.5009519999999998</c:v>
                </c:pt>
                <c:pt idx="1">
                  <c:v>12.19501</c:v>
                </c:pt>
                <c:pt idx="2">
                  <c:v>18.942083</c:v>
                </c:pt>
                <c:pt idx="3">
                  <c:v>24.447762999999998</c:v>
                </c:pt>
                <c:pt idx="4">
                  <c:v>32.157749000000003</c:v>
                </c:pt>
                <c:pt idx="5">
                  <c:v>40.691147000000001</c:v>
                </c:pt>
                <c:pt idx="6">
                  <c:v>49.538296000000003</c:v>
                </c:pt>
                <c:pt idx="7">
                  <c:v>59.405605000000001</c:v>
                </c:pt>
                <c:pt idx="8">
                  <c:v>69.239738000000003</c:v>
                </c:pt>
                <c:pt idx="9">
                  <c:v>79.372230999999999</c:v>
                </c:pt>
                <c:pt idx="10">
                  <c:v>89.531143</c:v>
                </c:pt>
                <c:pt idx="11">
                  <c:v>99.902321000000001</c:v>
                </c:pt>
                <c:pt idx="12">
                  <c:v>110.636932</c:v>
                </c:pt>
                <c:pt idx="13">
                  <c:v>121.856819</c:v>
                </c:pt>
                <c:pt idx="14">
                  <c:v>133.64117400000001</c:v>
                </c:pt>
                <c:pt idx="15">
                  <c:v>146.047729</c:v>
                </c:pt>
                <c:pt idx="16">
                  <c:v>159.12352000000001</c:v>
                </c:pt>
                <c:pt idx="17">
                  <c:v>172.907318</c:v>
                </c:pt>
                <c:pt idx="18">
                  <c:v>187.43156400000001</c:v>
                </c:pt>
                <c:pt idx="19">
                  <c:v>202.72474700000001</c:v>
                </c:pt>
                <c:pt idx="20">
                  <c:v>218.81352200000001</c:v>
                </c:pt>
                <c:pt idx="21">
                  <c:v>235.724121</c:v>
                </c:pt>
                <c:pt idx="22">
                  <c:v>253.48318499999999</c:v>
                </c:pt>
                <c:pt idx="23">
                  <c:v>272.11828600000001</c:v>
                </c:pt>
                <c:pt idx="24">
                  <c:v>291.658142</c:v>
                </c:pt>
              </c:numCache>
            </c:numRef>
          </c:val>
          <c:smooth val="0"/>
          <c:extLst>
            <c:ext xmlns:c16="http://schemas.microsoft.com/office/drawing/2014/chart" uri="{C3380CC4-5D6E-409C-BE32-E72D297353CC}">
              <c16:uniqueId val="{00000000-1E50-45FA-B0A9-C628342BE008}"/>
            </c:ext>
          </c:extLst>
        </c:ser>
        <c:ser>
          <c:idx val="1"/>
          <c:order val="1"/>
          <c:tx>
            <c:strRef>
              <c:f>Sheet1!$A$8</c:f>
              <c:strCache>
                <c:ptCount val="1"/>
                <c:pt idx="0">
                  <c:v>Real wage</c:v>
                </c:pt>
              </c:strCache>
            </c:strRef>
          </c:tx>
          <c:spPr>
            <a:ln>
              <a:prstDash val="dash"/>
            </a:ln>
          </c:spPr>
          <c:marker>
            <c:symbol val="none"/>
          </c:marker>
          <c:cat>
            <c:numRef>
              <c:f>Sheet1!$B$6:$Z$6</c:f>
              <c:numCache>
                <c:formatCode>General</c:formatCode>
                <c:ptCount val="25"/>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pt idx="13">
                  <c:v>2019</c:v>
                </c:pt>
                <c:pt idx="14">
                  <c:v>2020</c:v>
                </c:pt>
                <c:pt idx="15">
                  <c:v>2021</c:v>
                </c:pt>
                <c:pt idx="16">
                  <c:v>2022</c:v>
                </c:pt>
                <c:pt idx="17">
                  <c:v>2023</c:v>
                </c:pt>
                <c:pt idx="18">
                  <c:v>2024</c:v>
                </c:pt>
                <c:pt idx="19">
                  <c:v>2025</c:v>
                </c:pt>
                <c:pt idx="20">
                  <c:v>2026</c:v>
                </c:pt>
                <c:pt idx="21">
                  <c:v>2027</c:v>
                </c:pt>
                <c:pt idx="22">
                  <c:v>2028</c:v>
                </c:pt>
                <c:pt idx="23">
                  <c:v>2029</c:v>
                </c:pt>
                <c:pt idx="24">
                  <c:v>2030</c:v>
                </c:pt>
              </c:numCache>
            </c:numRef>
          </c:cat>
          <c:val>
            <c:numRef>
              <c:f>Sheet1!$B$8:$Z$8</c:f>
              <c:numCache>
                <c:formatCode>General</c:formatCode>
                <c:ptCount val="25"/>
                <c:pt idx="0">
                  <c:v>3.931997</c:v>
                </c:pt>
                <c:pt idx="1">
                  <c:v>5.135758</c:v>
                </c:pt>
                <c:pt idx="2">
                  <c:v>11.159273000000001</c:v>
                </c:pt>
                <c:pt idx="3">
                  <c:v>10.260809</c:v>
                </c:pt>
                <c:pt idx="4">
                  <c:v>14.617528999999999</c:v>
                </c:pt>
                <c:pt idx="5">
                  <c:v>22.309443000000002</c:v>
                </c:pt>
                <c:pt idx="6">
                  <c:v>26.472722999999998</c:v>
                </c:pt>
                <c:pt idx="7">
                  <c:v>29.187743999999999</c:v>
                </c:pt>
                <c:pt idx="8">
                  <c:v>31.989882000000001</c:v>
                </c:pt>
                <c:pt idx="9">
                  <c:v>35.716361999999997</c:v>
                </c:pt>
                <c:pt idx="10">
                  <c:v>39.818275</c:v>
                </c:pt>
                <c:pt idx="11">
                  <c:v>43.991748999999999</c:v>
                </c:pt>
                <c:pt idx="12">
                  <c:v>48.114040000000003</c:v>
                </c:pt>
                <c:pt idx="13">
                  <c:v>52.171607999999999</c:v>
                </c:pt>
                <c:pt idx="14">
                  <c:v>56.187862000000003</c:v>
                </c:pt>
                <c:pt idx="15">
                  <c:v>60.194256000000003</c:v>
                </c:pt>
                <c:pt idx="16">
                  <c:v>64.221244999999996</c:v>
                </c:pt>
                <c:pt idx="17">
                  <c:v>68.294044</c:v>
                </c:pt>
                <c:pt idx="18">
                  <c:v>72.430908000000002</c:v>
                </c:pt>
                <c:pt idx="19">
                  <c:v>76.643265</c:v>
                </c:pt>
                <c:pt idx="20">
                  <c:v>80.936913000000004</c:v>
                </c:pt>
                <c:pt idx="21">
                  <c:v>85.313453999999993</c:v>
                </c:pt>
                <c:pt idx="22">
                  <c:v>89.771606000000006</c:v>
                </c:pt>
                <c:pt idx="23">
                  <c:v>94.308211999999997</c:v>
                </c:pt>
                <c:pt idx="24">
                  <c:v>98.918968000000007</c:v>
                </c:pt>
              </c:numCache>
            </c:numRef>
          </c:val>
          <c:smooth val="0"/>
          <c:extLst>
            <c:ext xmlns:c16="http://schemas.microsoft.com/office/drawing/2014/chart" uri="{C3380CC4-5D6E-409C-BE32-E72D297353CC}">
              <c16:uniqueId val="{00000001-1E50-45FA-B0A9-C628342BE008}"/>
            </c:ext>
          </c:extLst>
        </c:ser>
        <c:ser>
          <c:idx val="2"/>
          <c:order val="2"/>
          <c:tx>
            <c:strRef>
              <c:f>Sheet1!$A$9</c:f>
              <c:strCache>
                <c:ptCount val="1"/>
                <c:pt idx="0">
                  <c:v>Population</c:v>
                </c:pt>
              </c:strCache>
            </c:strRef>
          </c:tx>
          <c:marker>
            <c:symbol val="star"/>
            <c:size val="5"/>
            <c:spPr>
              <a:noFill/>
            </c:spPr>
          </c:marker>
          <c:cat>
            <c:numRef>
              <c:f>Sheet1!$B$6:$Z$6</c:f>
              <c:numCache>
                <c:formatCode>General</c:formatCode>
                <c:ptCount val="25"/>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pt idx="13">
                  <c:v>2019</c:v>
                </c:pt>
                <c:pt idx="14">
                  <c:v>2020</c:v>
                </c:pt>
                <c:pt idx="15">
                  <c:v>2021</c:v>
                </c:pt>
                <c:pt idx="16">
                  <c:v>2022</c:v>
                </c:pt>
                <c:pt idx="17">
                  <c:v>2023</c:v>
                </c:pt>
                <c:pt idx="18">
                  <c:v>2024</c:v>
                </c:pt>
                <c:pt idx="19">
                  <c:v>2025</c:v>
                </c:pt>
                <c:pt idx="20">
                  <c:v>2026</c:v>
                </c:pt>
                <c:pt idx="21">
                  <c:v>2027</c:v>
                </c:pt>
                <c:pt idx="22">
                  <c:v>2028</c:v>
                </c:pt>
                <c:pt idx="23">
                  <c:v>2029</c:v>
                </c:pt>
                <c:pt idx="24">
                  <c:v>2030</c:v>
                </c:pt>
              </c:numCache>
            </c:numRef>
          </c:cat>
          <c:val>
            <c:numRef>
              <c:f>Sheet1!$B$9:$Z$9</c:f>
              <c:numCache>
                <c:formatCode>General</c:formatCode>
                <c:ptCount val="25"/>
                <c:pt idx="0">
                  <c:v>1.5</c:v>
                </c:pt>
                <c:pt idx="1">
                  <c:v>3.0225</c:v>
                </c:pt>
                <c:pt idx="2">
                  <c:v>4.5678380000000001</c:v>
                </c:pt>
                <c:pt idx="3">
                  <c:v>6.136355</c:v>
                </c:pt>
                <c:pt idx="4">
                  <c:v>7.7284009999999999</c:v>
                </c:pt>
                <c:pt idx="5">
                  <c:v>9.3443269999999998</c:v>
                </c:pt>
                <c:pt idx="6">
                  <c:v>10.984491999999999</c:v>
                </c:pt>
                <c:pt idx="7">
                  <c:v>12.64926</c:v>
                </c:pt>
                <c:pt idx="8">
                  <c:v>14.338998999999999</c:v>
                </c:pt>
                <c:pt idx="9">
                  <c:v>16.054082999999999</c:v>
                </c:pt>
                <c:pt idx="10">
                  <c:v>17.794892999999998</c:v>
                </c:pt>
                <c:pt idx="11">
                  <c:v>19.561817000000001</c:v>
                </c:pt>
                <c:pt idx="12">
                  <c:v>21.355243999999999</c:v>
                </c:pt>
                <c:pt idx="13">
                  <c:v>23.175571000000001</c:v>
                </c:pt>
                <c:pt idx="14">
                  <c:v>25.023205000000001</c:v>
                </c:pt>
                <c:pt idx="15">
                  <c:v>26.898551999999999</c:v>
                </c:pt>
                <c:pt idx="16">
                  <c:v>28.802030999999999</c:v>
                </c:pt>
                <c:pt idx="17">
                  <c:v>30.734059999999999</c:v>
                </c:pt>
                <c:pt idx="18">
                  <c:v>32.695072000000003</c:v>
                </c:pt>
                <c:pt idx="19">
                  <c:v>34.685496999999998</c:v>
                </c:pt>
                <c:pt idx="20">
                  <c:v>36.705779999999997</c:v>
                </c:pt>
                <c:pt idx="21">
                  <c:v>38.756366999999997</c:v>
                </c:pt>
                <c:pt idx="22">
                  <c:v>40.837710999999999</c:v>
                </c:pt>
                <c:pt idx="23">
                  <c:v>42.950274999999998</c:v>
                </c:pt>
                <c:pt idx="24">
                  <c:v>45.094527999999997</c:v>
                </c:pt>
              </c:numCache>
            </c:numRef>
          </c:val>
          <c:smooth val="0"/>
          <c:extLst>
            <c:ext xmlns:c16="http://schemas.microsoft.com/office/drawing/2014/chart" uri="{C3380CC4-5D6E-409C-BE32-E72D297353CC}">
              <c16:uniqueId val="{00000002-1E50-45FA-B0A9-C628342BE008}"/>
            </c:ext>
          </c:extLst>
        </c:ser>
        <c:dLbls>
          <c:showLegendKey val="0"/>
          <c:showVal val="0"/>
          <c:showCatName val="0"/>
          <c:showSerName val="0"/>
          <c:showPercent val="0"/>
          <c:showBubbleSize val="0"/>
        </c:dLbls>
        <c:marker val="1"/>
        <c:smooth val="0"/>
        <c:axId val="204340608"/>
        <c:axId val="204342784"/>
      </c:lineChart>
      <c:catAx>
        <c:axId val="204340608"/>
        <c:scaling>
          <c:orientation val="minMax"/>
        </c:scaling>
        <c:delete val="0"/>
        <c:axPos val="b"/>
        <c:numFmt formatCode="General" sourceLinked="1"/>
        <c:majorTickMark val="out"/>
        <c:minorTickMark val="none"/>
        <c:tickLblPos val="nextTo"/>
        <c:txPr>
          <a:bodyPr rot="0" vert="eaVert"/>
          <a:lstStyle/>
          <a:p>
            <a:pPr>
              <a:defRPr/>
            </a:pPr>
            <a:endParaRPr lang="en-US"/>
          </a:p>
        </c:txPr>
        <c:crossAx val="204342784"/>
        <c:crosses val="autoZero"/>
        <c:auto val="1"/>
        <c:lblAlgn val="ctr"/>
        <c:lblOffset val="100"/>
        <c:noMultiLvlLbl val="0"/>
      </c:catAx>
      <c:valAx>
        <c:axId val="204342784"/>
        <c:scaling>
          <c:orientation val="minMax"/>
          <c:max val="300"/>
        </c:scaling>
        <c:delete val="0"/>
        <c:axPos val="l"/>
        <c:majorGridlines/>
        <c:numFmt formatCode="General" sourceLinked="1"/>
        <c:majorTickMark val="out"/>
        <c:minorTickMark val="none"/>
        <c:tickLblPos val="nextTo"/>
        <c:crossAx val="204340608"/>
        <c:crosses val="autoZero"/>
        <c:crossBetween val="between"/>
      </c:valAx>
    </c:plotArea>
    <c:legend>
      <c:legendPos val="b"/>
      <c:overlay val="0"/>
    </c:legend>
    <c:plotVisOnly val="1"/>
    <c:dispBlanksAs val="gap"/>
    <c:showDLblsOverMax val="0"/>
  </c:chart>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a:pPr>
            <a:r>
              <a:rPr lang="en-AU"/>
              <a:t>Sector growth</a:t>
            </a:r>
          </a:p>
          <a:p>
            <a:pPr>
              <a:defRPr/>
            </a:pPr>
            <a:r>
              <a:rPr lang="en-AU" sz="1200" b="0"/>
              <a:t>(% cumulative change</a:t>
            </a:r>
            <a:r>
              <a:rPr lang="en-AU" sz="1200" b="0" baseline="0"/>
              <a:t>)</a:t>
            </a:r>
            <a:endParaRPr lang="en-AU" sz="1200" b="0"/>
          </a:p>
        </c:rich>
      </c:tx>
      <c:overlay val="0"/>
    </c:title>
    <c:autoTitleDeleted val="0"/>
    <c:plotArea>
      <c:layout/>
      <c:lineChart>
        <c:grouping val="standard"/>
        <c:varyColors val="0"/>
        <c:ser>
          <c:idx val="0"/>
          <c:order val="0"/>
          <c:tx>
            <c:strRef>
              <c:f>'Sector growth'!$A$131</c:f>
              <c:strCache>
                <c:ptCount val="1"/>
                <c:pt idx="0">
                  <c:v>OilGas</c:v>
                </c:pt>
              </c:strCache>
            </c:strRef>
          </c:tx>
          <c:marker>
            <c:symbol val="none"/>
          </c:marker>
          <c:cat>
            <c:numRef>
              <c:f>'Sector growth'!$B$130:$Z$130</c:f>
              <c:numCache>
                <c:formatCode>General</c:formatCode>
                <c:ptCount val="25"/>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pt idx="13">
                  <c:v>2019</c:v>
                </c:pt>
                <c:pt idx="14">
                  <c:v>2020</c:v>
                </c:pt>
                <c:pt idx="15">
                  <c:v>2021</c:v>
                </c:pt>
                <c:pt idx="16">
                  <c:v>2022</c:v>
                </c:pt>
                <c:pt idx="17">
                  <c:v>2023</c:v>
                </c:pt>
                <c:pt idx="18">
                  <c:v>2024</c:v>
                </c:pt>
                <c:pt idx="19">
                  <c:v>2025</c:v>
                </c:pt>
                <c:pt idx="20">
                  <c:v>2026</c:v>
                </c:pt>
                <c:pt idx="21">
                  <c:v>2027</c:v>
                </c:pt>
                <c:pt idx="22">
                  <c:v>2028</c:v>
                </c:pt>
                <c:pt idx="23">
                  <c:v>2029</c:v>
                </c:pt>
                <c:pt idx="24">
                  <c:v>2030</c:v>
                </c:pt>
              </c:numCache>
            </c:numRef>
          </c:cat>
          <c:val>
            <c:numRef>
              <c:f>'Sector growth'!$B$131:$Z$131</c:f>
              <c:numCache>
                <c:formatCode>General</c:formatCode>
                <c:ptCount val="25"/>
                <c:pt idx="0">
                  <c:v>3.6547939999999999</c:v>
                </c:pt>
                <c:pt idx="1">
                  <c:v>5.135046</c:v>
                </c:pt>
                <c:pt idx="2">
                  <c:v>5.7609640000000004</c:v>
                </c:pt>
                <c:pt idx="3">
                  <c:v>4.7831989999999998</c:v>
                </c:pt>
                <c:pt idx="4">
                  <c:v>4.5137419999999997</c:v>
                </c:pt>
                <c:pt idx="5">
                  <c:v>5.3235460000000003</c:v>
                </c:pt>
                <c:pt idx="6">
                  <c:v>6.3228400000000002</c:v>
                </c:pt>
                <c:pt idx="7">
                  <c:v>7.0156499999999999</c:v>
                </c:pt>
                <c:pt idx="8">
                  <c:v>7.3768089999999997</c:v>
                </c:pt>
                <c:pt idx="9">
                  <c:v>7.3305769999999999</c:v>
                </c:pt>
                <c:pt idx="10">
                  <c:v>7.3456539999999997</c:v>
                </c:pt>
                <c:pt idx="11">
                  <c:v>7.4699770000000001</c:v>
                </c:pt>
                <c:pt idx="12">
                  <c:v>7.6659009999999999</c:v>
                </c:pt>
                <c:pt idx="13">
                  <c:v>7.8949280000000002</c:v>
                </c:pt>
                <c:pt idx="14">
                  <c:v>8.1418540000000004</c:v>
                </c:pt>
                <c:pt idx="15">
                  <c:v>8.4048339999999993</c:v>
                </c:pt>
                <c:pt idx="16">
                  <c:v>8.6839080000000006</c:v>
                </c:pt>
                <c:pt idx="17">
                  <c:v>8.9773180000000004</c:v>
                </c:pt>
                <c:pt idx="18">
                  <c:v>9.2816650000000003</c:v>
                </c:pt>
                <c:pt idx="19">
                  <c:v>9.5929179999999992</c:v>
                </c:pt>
                <c:pt idx="20">
                  <c:v>9.9073689999999992</c:v>
                </c:pt>
                <c:pt idx="21">
                  <c:v>10.222096000000001</c:v>
                </c:pt>
                <c:pt idx="22">
                  <c:v>10.534991</c:v>
                </c:pt>
                <c:pt idx="23">
                  <c:v>10.844579</c:v>
                </c:pt>
                <c:pt idx="24">
                  <c:v>11.149832999999999</c:v>
                </c:pt>
              </c:numCache>
            </c:numRef>
          </c:val>
          <c:smooth val="0"/>
          <c:extLst>
            <c:ext xmlns:c16="http://schemas.microsoft.com/office/drawing/2014/chart" uri="{C3380CC4-5D6E-409C-BE32-E72D297353CC}">
              <c16:uniqueId val="{00000000-66AB-4629-A3B9-EDF9E4D39F10}"/>
            </c:ext>
          </c:extLst>
        </c:ser>
        <c:ser>
          <c:idx val="1"/>
          <c:order val="1"/>
          <c:tx>
            <c:strRef>
              <c:f>'Sector growth'!$A$132</c:f>
              <c:strCache>
                <c:ptCount val="1"/>
                <c:pt idx="0">
                  <c:v>Coal</c:v>
                </c:pt>
              </c:strCache>
            </c:strRef>
          </c:tx>
          <c:spPr>
            <a:ln>
              <a:solidFill>
                <a:schemeClr val="accent6">
                  <a:lumMod val="75000"/>
                </a:schemeClr>
              </a:solidFill>
              <a:prstDash val="dash"/>
            </a:ln>
          </c:spPr>
          <c:marker>
            <c:symbol val="triangle"/>
            <c:size val="5"/>
            <c:spPr>
              <a:solidFill>
                <a:schemeClr val="accent6">
                  <a:lumMod val="75000"/>
                </a:schemeClr>
              </a:solidFill>
              <a:ln>
                <a:solidFill>
                  <a:schemeClr val="accent6">
                    <a:lumMod val="75000"/>
                  </a:schemeClr>
                </a:solidFill>
              </a:ln>
            </c:spPr>
          </c:marker>
          <c:cat>
            <c:numRef>
              <c:f>'Sector growth'!$B$130:$Z$130</c:f>
              <c:numCache>
                <c:formatCode>General</c:formatCode>
                <c:ptCount val="25"/>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pt idx="13">
                  <c:v>2019</c:v>
                </c:pt>
                <c:pt idx="14">
                  <c:v>2020</c:v>
                </c:pt>
                <c:pt idx="15">
                  <c:v>2021</c:v>
                </c:pt>
                <c:pt idx="16">
                  <c:v>2022</c:v>
                </c:pt>
                <c:pt idx="17">
                  <c:v>2023</c:v>
                </c:pt>
                <c:pt idx="18">
                  <c:v>2024</c:v>
                </c:pt>
                <c:pt idx="19">
                  <c:v>2025</c:v>
                </c:pt>
                <c:pt idx="20">
                  <c:v>2026</c:v>
                </c:pt>
                <c:pt idx="21">
                  <c:v>2027</c:v>
                </c:pt>
                <c:pt idx="22">
                  <c:v>2028</c:v>
                </c:pt>
                <c:pt idx="23">
                  <c:v>2029</c:v>
                </c:pt>
                <c:pt idx="24">
                  <c:v>2030</c:v>
                </c:pt>
              </c:numCache>
            </c:numRef>
          </c:cat>
          <c:val>
            <c:numRef>
              <c:f>'Sector growth'!$B$132:$Z$132</c:f>
              <c:numCache>
                <c:formatCode>General</c:formatCode>
                <c:ptCount val="25"/>
                <c:pt idx="0">
                  <c:v>4.5693489999999999</c:v>
                </c:pt>
                <c:pt idx="1">
                  <c:v>7.9609100000000002</c:v>
                </c:pt>
                <c:pt idx="2">
                  <c:v>10.91351</c:v>
                </c:pt>
                <c:pt idx="3">
                  <c:v>12.476353</c:v>
                </c:pt>
                <c:pt idx="4">
                  <c:v>14.580874</c:v>
                </c:pt>
                <c:pt idx="5">
                  <c:v>18.072206000000001</c:v>
                </c:pt>
                <c:pt idx="6">
                  <c:v>21.973146</c:v>
                </c:pt>
                <c:pt idx="7">
                  <c:v>25.557392</c:v>
                </c:pt>
                <c:pt idx="8">
                  <c:v>28.823851000000001</c:v>
                </c:pt>
                <c:pt idx="9">
                  <c:v>31.573298999999999</c:v>
                </c:pt>
                <c:pt idx="10">
                  <c:v>34.483097000000001</c:v>
                </c:pt>
                <c:pt idx="11">
                  <c:v>37.559921000000003</c:v>
                </c:pt>
                <c:pt idx="12">
                  <c:v>40.739567000000001</c:v>
                </c:pt>
                <c:pt idx="13">
                  <c:v>44.000320000000002</c:v>
                </c:pt>
                <c:pt idx="14">
                  <c:v>47.354736000000003</c:v>
                </c:pt>
                <c:pt idx="15">
                  <c:v>50.816752999999999</c:v>
                </c:pt>
                <c:pt idx="16">
                  <c:v>54.388351</c:v>
                </c:pt>
                <c:pt idx="17">
                  <c:v>58.062362999999998</c:v>
                </c:pt>
                <c:pt idx="18">
                  <c:v>61.828575000000001</c:v>
                </c:pt>
                <c:pt idx="19">
                  <c:v>65.677695999999997</c:v>
                </c:pt>
                <c:pt idx="20">
                  <c:v>69.603095999999994</c:v>
                </c:pt>
                <c:pt idx="21">
                  <c:v>73.600989999999996</c:v>
                </c:pt>
                <c:pt idx="22">
                  <c:v>77.669853000000003</c:v>
                </c:pt>
                <c:pt idx="23">
                  <c:v>81.809676999999994</c:v>
                </c:pt>
                <c:pt idx="24">
                  <c:v>86.021355</c:v>
                </c:pt>
              </c:numCache>
            </c:numRef>
          </c:val>
          <c:smooth val="0"/>
          <c:extLst>
            <c:ext xmlns:c16="http://schemas.microsoft.com/office/drawing/2014/chart" uri="{C3380CC4-5D6E-409C-BE32-E72D297353CC}">
              <c16:uniqueId val="{00000001-66AB-4629-A3B9-EDF9E4D39F10}"/>
            </c:ext>
          </c:extLst>
        </c:ser>
        <c:ser>
          <c:idx val="7"/>
          <c:order val="2"/>
          <c:tx>
            <c:strRef>
              <c:f>'Sector growth'!$A$138</c:f>
              <c:strCache>
                <c:ptCount val="1"/>
                <c:pt idx="0">
                  <c:v>Chemicals</c:v>
                </c:pt>
              </c:strCache>
            </c:strRef>
          </c:tx>
          <c:marker>
            <c:symbol val="star"/>
            <c:size val="5"/>
          </c:marker>
          <c:cat>
            <c:numRef>
              <c:f>'Sector growth'!$B$130:$Z$130</c:f>
              <c:numCache>
                <c:formatCode>General</c:formatCode>
                <c:ptCount val="25"/>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pt idx="13">
                  <c:v>2019</c:v>
                </c:pt>
                <c:pt idx="14">
                  <c:v>2020</c:v>
                </c:pt>
                <c:pt idx="15">
                  <c:v>2021</c:v>
                </c:pt>
                <c:pt idx="16">
                  <c:v>2022</c:v>
                </c:pt>
                <c:pt idx="17">
                  <c:v>2023</c:v>
                </c:pt>
                <c:pt idx="18">
                  <c:v>2024</c:v>
                </c:pt>
                <c:pt idx="19">
                  <c:v>2025</c:v>
                </c:pt>
                <c:pt idx="20">
                  <c:v>2026</c:v>
                </c:pt>
                <c:pt idx="21">
                  <c:v>2027</c:v>
                </c:pt>
                <c:pt idx="22">
                  <c:v>2028</c:v>
                </c:pt>
                <c:pt idx="23">
                  <c:v>2029</c:v>
                </c:pt>
                <c:pt idx="24">
                  <c:v>2030</c:v>
                </c:pt>
              </c:numCache>
            </c:numRef>
          </c:cat>
          <c:val>
            <c:numRef>
              <c:f>'Sector growth'!$B$138:$Z$138</c:f>
              <c:numCache>
                <c:formatCode>General</c:formatCode>
                <c:ptCount val="25"/>
                <c:pt idx="0">
                  <c:v>6.916461</c:v>
                </c:pt>
                <c:pt idx="1">
                  <c:v>14.461164</c:v>
                </c:pt>
                <c:pt idx="2">
                  <c:v>20.259504</c:v>
                </c:pt>
                <c:pt idx="3">
                  <c:v>25.467566999999999</c:v>
                </c:pt>
                <c:pt idx="4">
                  <c:v>33.674809000000003</c:v>
                </c:pt>
                <c:pt idx="5">
                  <c:v>42.723269999999999</c:v>
                </c:pt>
                <c:pt idx="6">
                  <c:v>51.503452000000003</c:v>
                </c:pt>
                <c:pt idx="7">
                  <c:v>62.649428999999998</c:v>
                </c:pt>
                <c:pt idx="8">
                  <c:v>74.168953000000002</c:v>
                </c:pt>
                <c:pt idx="9">
                  <c:v>84.743415999999996</c:v>
                </c:pt>
                <c:pt idx="10">
                  <c:v>95.124900999999994</c:v>
                </c:pt>
                <c:pt idx="11">
                  <c:v>105.700943</c:v>
                </c:pt>
                <c:pt idx="12">
                  <c:v>116.660904</c:v>
                </c:pt>
                <c:pt idx="13">
                  <c:v>128.124786</c:v>
                </c:pt>
                <c:pt idx="14">
                  <c:v>140.16394</c:v>
                </c:pt>
                <c:pt idx="15">
                  <c:v>152.837692</c:v>
                </c:pt>
                <c:pt idx="16">
                  <c:v>166.198151</c:v>
                </c:pt>
                <c:pt idx="17">
                  <c:v>180.28857400000001</c:v>
                </c:pt>
                <c:pt idx="18">
                  <c:v>195.14450099999999</c:v>
                </c:pt>
                <c:pt idx="19">
                  <c:v>210.795593</c:v>
                </c:pt>
                <c:pt idx="20">
                  <c:v>227.26791399999999</c:v>
                </c:pt>
                <c:pt idx="21">
                  <c:v>244.58606</c:v>
                </c:pt>
                <c:pt idx="22">
                  <c:v>262.77462800000001</c:v>
                </c:pt>
                <c:pt idx="23">
                  <c:v>281.85897799999998</c:v>
                </c:pt>
                <c:pt idx="24">
                  <c:v>301.86556999999999</c:v>
                </c:pt>
              </c:numCache>
            </c:numRef>
          </c:val>
          <c:smooth val="0"/>
          <c:extLst>
            <c:ext xmlns:c16="http://schemas.microsoft.com/office/drawing/2014/chart" uri="{C3380CC4-5D6E-409C-BE32-E72D297353CC}">
              <c16:uniqueId val="{00000002-66AB-4629-A3B9-EDF9E4D39F10}"/>
            </c:ext>
          </c:extLst>
        </c:ser>
        <c:ser>
          <c:idx val="10"/>
          <c:order val="3"/>
          <c:tx>
            <c:strRef>
              <c:f>'Sector growth'!$A$141</c:f>
              <c:strCache>
                <c:ptCount val="1"/>
                <c:pt idx="0">
                  <c:v>Textiles</c:v>
                </c:pt>
              </c:strCache>
            </c:strRef>
          </c:tx>
          <c:spPr>
            <a:ln>
              <a:solidFill>
                <a:schemeClr val="accent4">
                  <a:lumMod val="75000"/>
                </a:schemeClr>
              </a:solidFill>
              <a:prstDash val="dash"/>
            </a:ln>
          </c:spPr>
          <c:marker>
            <c:symbol val="none"/>
          </c:marker>
          <c:cat>
            <c:numRef>
              <c:f>'Sector growth'!$B$130:$Z$130</c:f>
              <c:numCache>
                <c:formatCode>General</c:formatCode>
                <c:ptCount val="25"/>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pt idx="13">
                  <c:v>2019</c:v>
                </c:pt>
                <c:pt idx="14">
                  <c:v>2020</c:v>
                </c:pt>
                <c:pt idx="15">
                  <c:v>2021</c:v>
                </c:pt>
                <c:pt idx="16">
                  <c:v>2022</c:v>
                </c:pt>
                <c:pt idx="17">
                  <c:v>2023</c:v>
                </c:pt>
                <c:pt idx="18">
                  <c:v>2024</c:v>
                </c:pt>
                <c:pt idx="19">
                  <c:v>2025</c:v>
                </c:pt>
                <c:pt idx="20">
                  <c:v>2026</c:v>
                </c:pt>
                <c:pt idx="21">
                  <c:v>2027</c:v>
                </c:pt>
                <c:pt idx="22">
                  <c:v>2028</c:v>
                </c:pt>
                <c:pt idx="23">
                  <c:v>2029</c:v>
                </c:pt>
                <c:pt idx="24">
                  <c:v>2030</c:v>
                </c:pt>
              </c:numCache>
            </c:numRef>
          </c:cat>
          <c:val>
            <c:numRef>
              <c:f>'Sector growth'!$B$141:$Z$141</c:f>
              <c:numCache>
                <c:formatCode>General</c:formatCode>
                <c:ptCount val="25"/>
                <c:pt idx="0">
                  <c:v>7.2722920000000002</c:v>
                </c:pt>
                <c:pt idx="1">
                  <c:v>15.226407</c:v>
                </c:pt>
                <c:pt idx="2">
                  <c:v>22.522776</c:v>
                </c:pt>
                <c:pt idx="3">
                  <c:v>25.707177999999999</c:v>
                </c:pt>
                <c:pt idx="4">
                  <c:v>36.021853999999998</c:v>
                </c:pt>
                <c:pt idx="5">
                  <c:v>47.432563999999999</c:v>
                </c:pt>
                <c:pt idx="6">
                  <c:v>57.675327000000003</c:v>
                </c:pt>
                <c:pt idx="7">
                  <c:v>71.440658999999997</c:v>
                </c:pt>
                <c:pt idx="8">
                  <c:v>85.644919999999999</c:v>
                </c:pt>
                <c:pt idx="9">
                  <c:v>99.231621000000004</c:v>
                </c:pt>
                <c:pt idx="10">
                  <c:v>112.780388</c:v>
                </c:pt>
                <c:pt idx="11">
                  <c:v>126.786018</c:v>
                </c:pt>
                <c:pt idx="12">
                  <c:v>141.56806900000001</c:v>
                </c:pt>
                <c:pt idx="13">
                  <c:v>157.270309</c:v>
                </c:pt>
                <c:pt idx="14">
                  <c:v>174.04702800000001</c:v>
                </c:pt>
                <c:pt idx="15">
                  <c:v>192.08268699999999</c:v>
                </c:pt>
                <c:pt idx="16">
                  <c:v>211.56578099999999</c:v>
                </c:pt>
                <c:pt idx="17">
                  <c:v>232.68203700000001</c:v>
                </c:pt>
                <c:pt idx="18">
                  <c:v>255.61431899999999</c:v>
                </c:pt>
                <c:pt idx="19">
                  <c:v>280.54101600000001</c:v>
                </c:pt>
                <c:pt idx="20">
                  <c:v>307.63677999999999</c:v>
                </c:pt>
                <c:pt idx="21">
                  <c:v>337.07547</c:v>
                </c:pt>
                <c:pt idx="22">
                  <c:v>369.03350799999998</c:v>
                </c:pt>
                <c:pt idx="23">
                  <c:v>403.69287100000003</c:v>
                </c:pt>
                <c:pt idx="24">
                  <c:v>441.24392699999999</c:v>
                </c:pt>
              </c:numCache>
            </c:numRef>
          </c:val>
          <c:smooth val="0"/>
          <c:extLst>
            <c:ext xmlns:c16="http://schemas.microsoft.com/office/drawing/2014/chart" uri="{C3380CC4-5D6E-409C-BE32-E72D297353CC}">
              <c16:uniqueId val="{00000003-66AB-4629-A3B9-EDF9E4D39F10}"/>
            </c:ext>
          </c:extLst>
        </c:ser>
        <c:ser>
          <c:idx val="12"/>
          <c:order val="4"/>
          <c:tx>
            <c:strRef>
              <c:f>'Sector growth'!$A$143</c:f>
              <c:strCache>
                <c:ptCount val="1"/>
                <c:pt idx="0">
                  <c:v>Shoes</c:v>
                </c:pt>
              </c:strCache>
            </c:strRef>
          </c:tx>
          <c:spPr>
            <a:ln>
              <a:solidFill>
                <a:schemeClr val="accent1">
                  <a:lumMod val="75000"/>
                </a:schemeClr>
              </a:solidFill>
            </a:ln>
          </c:spPr>
          <c:marker>
            <c:symbol val="diamond"/>
            <c:size val="5"/>
            <c:spPr>
              <a:solidFill>
                <a:schemeClr val="accent1">
                  <a:lumMod val="75000"/>
                </a:schemeClr>
              </a:solidFill>
              <a:ln>
                <a:solidFill>
                  <a:schemeClr val="accent1">
                    <a:lumMod val="75000"/>
                  </a:schemeClr>
                </a:solidFill>
              </a:ln>
            </c:spPr>
          </c:marker>
          <c:cat>
            <c:numRef>
              <c:f>'Sector growth'!$B$130:$Z$130</c:f>
              <c:numCache>
                <c:formatCode>General</c:formatCode>
                <c:ptCount val="25"/>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pt idx="13">
                  <c:v>2019</c:v>
                </c:pt>
                <c:pt idx="14">
                  <c:v>2020</c:v>
                </c:pt>
                <c:pt idx="15">
                  <c:v>2021</c:v>
                </c:pt>
                <c:pt idx="16">
                  <c:v>2022</c:v>
                </c:pt>
                <c:pt idx="17">
                  <c:v>2023</c:v>
                </c:pt>
                <c:pt idx="18">
                  <c:v>2024</c:v>
                </c:pt>
                <c:pt idx="19">
                  <c:v>2025</c:v>
                </c:pt>
                <c:pt idx="20">
                  <c:v>2026</c:v>
                </c:pt>
                <c:pt idx="21">
                  <c:v>2027</c:v>
                </c:pt>
                <c:pt idx="22">
                  <c:v>2028</c:v>
                </c:pt>
                <c:pt idx="23">
                  <c:v>2029</c:v>
                </c:pt>
                <c:pt idx="24">
                  <c:v>2030</c:v>
                </c:pt>
              </c:numCache>
            </c:numRef>
          </c:cat>
          <c:val>
            <c:numRef>
              <c:f>'Sector growth'!$B$143:$Z$143</c:f>
              <c:numCache>
                <c:formatCode>General</c:formatCode>
                <c:ptCount val="25"/>
                <c:pt idx="0">
                  <c:v>9.1924849999999996</c:v>
                </c:pt>
                <c:pt idx="1">
                  <c:v>19.611550999999999</c:v>
                </c:pt>
                <c:pt idx="2">
                  <c:v>26.501801</c:v>
                </c:pt>
                <c:pt idx="3">
                  <c:v>32.357005999999998</c:v>
                </c:pt>
                <c:pt idx="4">
                  <c:v>47.590846999999997</c:v>
                </c:pt>
                <c:pt idx="5">
                  <c:v>62.948956000000003</c:v>
                </c:pt>
                <c:pt idx="6">
                  <c:v>77.270432</c:v>
                </c:pt>
                <c:pt idx="7">
                  <c:v>96.082481000000001</c:v>
                </c:pt>
                <c:pt idx="8">
                  <c:v>116.687393</c:v>
                </c:pt>
                <c:pt idx="9">
                  <c:v>138.494812</c:v>
                </c:pt>
                <c:pt idx="10">
                  <c:v>160.46820099999999</c:v>
                </c:pt>
                <c:pt idx="11">
                  <c:v>183.429596</c:v>
                </c:pt>
                <c:pt idx="12">
                  <c:v>207.98024000000001</c:v>
                </c:pt>
                <c:pt idx="13">
                  <c:v>234.44313</c:v>
                </c:pt>
                <c:pt idx="14">
                  <c:v>263.11645499999997</c:v>
                </c:pt>
                <c:pt idx="15">
                  <c:v>294.31784099999999</c:v>
                </c:pt>
                <c:pt idx="16">
                  <c:v>328.35571299999998</c:v>
                </c:pt>
                <c:pt idx="17">
                  <c:v>365.52685500000001</c:v>
                </c:pt>
                <c:pt idx="18">
                  <c:v>406.121735</c:v>
                </c:pt>
                <c:pt idx="19">
                  <c:v>450.42297400000001</c:v>
                </c:pt>
                <c:pt idx="20">
                  <c:v>498.70517000000001</c:v>
                </c:pt>
                <c:pt idx="21">
                  <c:v>551.23791500000004</c:v>
                </c:pt>
                <c:pt idx="22">
                  <c:v>608.28900099999998</c:v>
                </c:pt>
                <c:pt idx="23">
                  <c:v>670.12567100000001</c:v>
                </c:pt>
                <c:pt idx="24">
                  <c:v>737.01434300000005</c:v>
                </c:pt>
              </c:numCache>
            </c:numRef>
          </c:val>
          <c:smooth val="0"/>
          <c:extLst>
            <c:ext xmlns:c16="http://schemas.microsoft.com/office/drawing/2014/chart" uri="{C3380CC4-5D6E-409C-BE32-E72D297353CC}">
              <c16:uniqueId val="{00000004-66AB-4629-A3B9-EDF9E4D39F10}"/>
            </c:ext>
          </c:extLst>
        </c:ser>
        <c:ser>
          <c:idx val="13"/>
          <c:order val="5"/>
          <c:tx>
            <c:strRef>
              <c:f>'Sector growth'!$A$144</c:f>
              <c:strCache>
                <c:ptCount val="1"/>
                <c:pt idx="0">
                  <c:v>OilPalm</c:v>
                </c:pt>
              </c:strCache>
            </c:strRef>
          </c:tx>
          <c:spPr>
            <a:ln>
              <a:solidFill>
                <a:schemeClr val="accent2">
                  <a:lumMod val="60000"/>
                  <a:lumOff val="40000"/>
                </a:schemeClr>
              </a:solidFill>
            </a:ln>
          </c:spPr>
          <c:marker>
            <c:symbol val="triangle"/>
            <c:size val="5"/>
            <c:spPr>
              <a:solidFill>
                <a:schemeClr val="accent2">
                  <a:lumMod val="60000"/>
                  <a:lumOff val="40000"/>
                </a:schemeClr>
              </a:solidFill>
              <a:ln>
                <a:solidFill>
                  <a:schemeClr val="accent2">
                    <a:lumMod val="60000"/>
                    <a:lumOff val="40000"/>
                  </a:schemeClr>
                </a:solidFill>
              </a:ln>
            </c:spPr>
          </c:marker>
          <c:cat>
            <c:numRef>
              <c:f>'Sector growth'!$B$130:$Z$130</c:f>
              <c:numCache>
                <c:formatCode>General</c:formatCode>
                <c:ptCount val="25"/>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pt idx="13">
                  <c:v>2019</c:v>
                </c:pt>
                <c:pt idx="14">
                  <c:v>2020</c:v>
                </c:pt>
                <c:pt idx="15">
                  <c:v>2021</c:v>
                </c:pt>
                <c:pt idx="16">
                  <c:v>2022</c:v>
                </c:pt>
                <c:pt idx="17">
                  <c:v>2023</c:v>
                </c:pt>
                <c:pt idx="18">
                  <c:v>2024</c:v>
                </c:pt>
                <c:pt idx="19">
                  <c:v>2025</c:v>
                </c:pt>
                <c:pt idx="20">
                  <c:v>2026</c:v>
                </c:pt>
                <c:pt idx="21">
                  <c:v>2027</c:v>
                </c:pt>
                <c:pt idx="22">
                  <c:v>2028</c:v>
                </c:pt>
                <c:pt idx="23">
                  <c:v>2029</c:v>
                </c:pt>
                <c:pt idx="24">
                  <c:v>2030</c:v>
                </c:pt>
              </c:numCache>
            </c:numRef>
          </c:cat>
          <c:val>
            <c:numRef>
              <c:f>'Sector growth'!$B$144:$Z$144</c:f>
              <c:numCache>
                <c:formatCode>General</c:formatCode>
                <c:ptCount val="25"/>
                <c:pt idx="0">
                  <c:v>9.1989769999999993</c:v>
                </c:pt>
                <c:pt idx="1">
                  <c:v>21.868731</c:v>
                </c:pt>
                <c:pt idx="2">
                  <c:v>33.255401999999997</c:v>
                </c:pt>
                <c:pt idx="3">
                  <c:v>43.125171999999999</c:v>
                </c:pt>
                <c:pt idx="4">
                  <c:v>60.313178999999998</c:v>
                </c:pt>
                <c:pt idx="5">
                  <c:v>80.879065999999995</c:v>
                </c:pt>
                <c:pt idx="6">
                  <c:v>102.6371</c:v>
                </c:pt>
                <c:pt idx="7">
                  <c:v>125.772987</c:v>
                </c:pt>
                <c:pt idx="8">
                  <c:v>148.184372</c:v>
                </c:pt>
                <c:pt idx="9">
                  <c:v>171.53132600000001</c:v>
                </c:pt>
                <c:pt idx="10">
                  <c:v>197.16717499999999</c:v>
                </c:pt>
                <c:pt idx="11">
                  <c:v>224.81970200000001</c:v>
                </c:pt>
                <c:pt idx="12">
                  <c:v>255.06332399999999</c:v>
                </c:pt>
                <c:pt idx="13">
                  <c:v>288.19003300000003</c:v>
                </c:pt>
                <c:pt idx="14">
                  <c:v>324.03024299999998</c:v>
                </c:pt>
                <c:pt idx="15">
                  <c:v>362.57928500000003</c:v>
                </c:pt>
                <c:pt idx="16">
                  <c:v>403.827698</c:v>
                </c:pt>
                <c:pt idx="17">
                  <c:v>447.71475199999998</c:v>
                </c:pt>
                <c:pt idx="18">
                  <c:v>494.21148699999998</c:v>
                </c:pt>
                <c:pt idx="19">
                  <c:v>543.31042500000001</c:v>
                </c:pt>
                <c:pt idx="20">
                  <c:v>595.03173800000002</c:v>
                </c:pt>
                <c:pt idx="21">
                  <c:v>649.43658400000004</c:v>
                </c:pt>
                <c:pt idx="22">
                  <c:v>706.62457300000005</c:v>
                </c:pt>
                <c:pt idx="23">
                  <c:v>766.730591</c:v>
                </c:pt>
                <c:pt idx="24">
                  <c:v>829.92089799999997</c:v>
                </c:pt>
              </c:numCache>
            </c:numRef>
          </c:val>
          <c:smooth val="0"/>
          <c:extLst>
            <c:ext xmlns:c16="http://schemas.microsoft.com/office/drawing/2014/chart" uri="{C3380CC4-5D6E-409C-BE32-E72D297353CC}">
              <c16:uniqueId val="{00000005-66AB-4629-A3B9-EDF9E4D39F10}"/>
            </c:ext>
          </c:extLst>
        </c:ser>
        <c:ser>
          <c:idx val="14"/>
          <c:order val="6"/>
          <c:tx>
            <c:strRef>
              <c:f>'Sector growth'!$A$145</c:f>
              <c:strCache>
                <c:ptCount val="1"/>
                <c:pt idx="0">
                  <c:v>EdibleOil</c:v>
                </c:pt>
              </c:strCache>
            </c:strRef>
          </c:tx>
          <c:spPr>
            <a:ln>
              <a:solidFill>
                <a:schemeClr val="accent3">
                  <a:lumMod val="75000"/>
                </a:schemeClr>
              </a:solidFill>
            </a:ln>
          </c:spPr>
          <c:marker>
            <c:symbol val="square"/>
            <c:size val="5"/>
            <c:spPr>
              <a:solidFill>
                <a:schemeClr val="accent3">
                  <a:lumMod val="75000"/>
                </a:schemeClr>
              </a:solidFill>
              <a:ln>
                <a:solidFill>
                  <a:schemeClr val="accent3">
                    <a:lumMod val="75000"/>
                  </a:schemeClr>
                </a:solidFill>
              </a:ln>
            </c:spPr>
          </c:marker>
          <c:cat>
            <c:numRef>
              <c:f>'Sector growth'!$B$130:$Z$130</c:f>
              <c:numCache>
                <c:formatCode>General</c:formatCode>
                <c:ptCount val="25"/>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pt idx="13">
                  <c:v>2019</c:v>
                </c:pt>
                <c:pt idx="14">
                  <c:v>2020</c:v>
                </c:pt>
                <c:pt idx="15">
                  <c:v>2021</c:v>
                </c:pt>
                <c:pt idx="16">
                  <c:v>2022</c:v>
                </c:pt>
                <c:pt idx="17">
                  <c:v>2023</c:v>
                </c:pt>
                <c:pt idx="18">
                  <c:v>2024</c:v>
                </c:pt>
                <c:pt idx="19">
                  <c:v>2025</c:v>
                </c:pt>
                <c:pt idx="20">
                  <c:v>2026</c:v>
                </c:pt>
                <c:pt idx="21">
                  <c:v>2027</c:v>
                </c:pt>
                <c:pt idx="22">
                  <c:v>2028</c:v>
                </c:pt>
                <c:pt idx="23">
                  <c:v>2029</c:v>
                </c:pt>
                <c:pt idx="24">
                  <c:v>2030</c:v>
                </c:pt>
              </c:numCache>
            </c:numRef>
          </c:cat>
          <c:val>
            <c:numRef>
              <c:f>'Sector growth'!$B$145:$Z$145</c:f>
              <c:numCache>
                <c:formatCode>General</c:formatCode>
                <c:ptCount val="25"/>
                <c:pt idx="0">
                  <c:v>9.4097159999999995</c:v>
                </c:pt>
                <c:pt idx="1">
                  <c:v>22.168576999999999</c:v>
                </c:pt>
                <c:pt idx="2">
                  <c:v>33.409866000000001</c:v>
                </c:pt>
                <c:pt idx="3">
                  <c:v>43.646168000000003</c:v>
                </c:pt>
                <c:pt idx="4">
                  <c:v>61.347805000000001</c:v>
                </c:pt>
                <c:pt idx="5">
                  <c:v>81.792625000000001</c:v>
                </c:pt>
                <c:pt idx="6">
                  <c:v>104.514999</c:v>
                </c:pt>
                <c:pt idx="7">
                  <c:v>129.118088</c:v>
                </c:pt>
                <c:pt idx="8">
                  <c:v>152.53005999999999</c:v>
                </c:pt>
                <c:pt idx="9">
                  <c:v>176.67051699999999</c:v>
                </c:pt>
                <c:pt idx="10">
                  <c:v>202.65278599999999</c:v>
                </c:pt>
                <c:pt idx="11">
                  <c:v>231.052368</c:v>
                </c:pt>
                <c:pt idx="12">
                  <c:v>262.45117199999999</c:v>
                </c:pt>
                <c:pt idx="13">
                  <c:v>297.05041499999999</c:v>
                </c:pt>
                <c:pt idx="14">
                  <c:v>334.778503</c:v>
                </c:pt>
                <c:pt idx="15">
                  <c:v>375.65637199999998</c:v>
                </c:pt>
                <c:pt idx="16">
                  <c:v>419.69693000000001</c:v>
                </c:pt>
                <c:pt idx="17">
                  <c:v>466.87512199999998</c:v>
                </c:pt>
                <c:pt idx="18">
                  <c:v>517.17425500000002</c:v>
                </c:pt>
                <c:pt idx="19">
                  <c:v>570.58734100000004</c:v>
                </c:pt>
                <c:pt idx="20">
                  <c:v>627.12896699999999</c:v>
                </c:pt>
                <c:pt idx="21">
                  <c:v>686.84985400000005</c:v>
                </c:pt>
                <c:pt idx="22">
                  <c:v>749.840149</c:v>
                </c:pt>
                <c:pt idx="23">
                  <c:v>816.22875999999997</c:v>
                </c:pt>
                <c:pt idx="24">
                  <c:v>886.18029799999999</c:v>
                </c:pt>
              </c:numCache>
            </c:numRef>
          </c:val>
          <c:smooth val="0"/>
          <c:extLst>
            <c:ext xmlns:c16="http://schemas.microsoft.com/office/drawing/2014/chart" uri="{C3380CC4-5D6E-409C-BE32-E72D297353CC}">
              <c16:uniqueId val="{00000006-66AB-4629-A3B9-EDF9E4D39F10}"/>
            </c:ext>
          </c:extLst>
        </c:ser>
        <c:dLbls>
          <c:showLegendKey val="0"/>
          <c:showVal val="0"/>
          <c:showCatName val="0"/>
          <c:showSerName val="0"/>
          <c:showPercent val="0"/>
          <c:showBubbleSize val="0"/>
        </c:dLbls>
        <c:smooth val="0"/>
        <c:axId val="204700288"/>
        <c:axId val="204702464"/>
      </c:lineChart>
      <c:catAx>
        <c:axId val="204700288"/>
        <c:scaling>
          <c:orientation val="minMax"/>
        </c:scaling>
        <c:delete val="0"/>
        <c:axPos val="b"/>
        <c:numFmt formatCode="General" sourceLinked="1"/>
        <c:majorTickMark val="out"/>
        <c:minorTickMark val="none"/>
        <c:tickLblPos val="nextTo"/>
        <c:txPr>
          <a:bodyPr rot="0" vert="eaVert"/>
          <a:lstStyle/>
          <a:p>
            <a:pPr>
              <a:defRPr/>
            </a:pPr>
            <a:endParaRPr lang="en-US"/>
          </a:p>
        </c:txPr>
        <c:crossAx val="204702464"/>
        <c:crosses val="autoZero"/>
        <c:auto val="1"/>
        <c:lblAlgn val="ctr"/>
        <c:lblOffset val="100"/>
        <c:noMultiLvlLbl val="0"/>
      </c:catAx>
      <c:valAx>
        <c:axId val="204702464"/>
        <c:scaling>
          <c:orientation val="minMax"/>
        </c:scaling>
        <c:delete val="0"/>
        <c:axPos val="l"/>
        <c:majorGridlines/>
        <c:numFmt formatCode="General" sourceLinked="1"/>
        <c:majorTickMark val="out"/>
        <c:minorTickMark val="none"/>
        <c:tickLblPos val="nextTo"/>
        <c:crossAx val="204700288"/>
        <c:crosses val="autoZero"/>
        <c:crossBetween val="between"/>
      </c:valAx>
    </c:plotArea>
    <c:legend>
      <c:legendPos val="b"/>
      <c:overlay val="0"/>
    </c:legend>
    <c:plotVisOnly val="1"/>
    <c:dispBlanksAs val="gap"/>
    <c:showDLblsOverMax val="0"/>
  </c:chart>
  <c:externalData r:id="rId2">
    <c:autoUpdate val="0"/>
  </c:externalData>
  <c:userShapes r:id="rId3"/>
</c:chartSpace>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drawing1.xml><?xml version="1.0" encoding="utf-8"?>
<c:userShapes xmlns:c="http://schemas.openxmlformats.org/drawingml/2006/chart">
  <cdr:relSizeAnchor xmlns:cdr="http://schemas.openxmlformats.org/drawingml/2006/chartDrawing">
    <cdr:from>
      <cdr:x>0.76326</cdr:x>
      <cdr:y>0.28768</cdr:y>
    </cdr:from>
    <cdr:to>
      <cdr:x>0.8679</cdr:x>
      <cdr:y>0.34806</cdr:y>
    </cdr:to>
    <cdr:sp macro="" textlink="">
      <cdr:nvSpPr>
        <cdr:cNvPr id="2" name="TextBox 15"/>
        <cdr:cNvSpPr txBox="1"/>
      </cdr:nvSpPr>
      <cdr:spPr>
        <a:xfrm xmlns:a="http://schemas.openxmlformats.org/drawingml/2006/main">
          <a:off x="5118100" y="1260475"/>
          <a:ext cx="701675" cy="264560"/>
        </a:xfrm>
        <a:prstGeom xmlns:a="http://schemas.openxmlformats.org/drawingml/2006/main" prst="rect">
          <a:avLst/>
        </a:prstGeom>
        <a:noFill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square" rtlCol="0"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r>
            <a:rPr lang="en-AU" sz="1100"/>
            <a:t>OilPalm</a:t>
          </a:r>
        </a:p>
      </cdr:txBody>
    </cdr:sp>
  </cdr:relSizeAnchor>
  <cdr:relSizeAnchor xmlns:cdr="http://schemas.openxmlformats.org/drawingml/2006/chartDrawing">
    <cdr:from>
      <cdr:x>0.70076</cdr:x>
      <cdr:y>0.36377</cdr:y>
    </cdr:from>
    <cdr:to>
      <cdr:x>0.79688</cdr:x>
      <cdr:y>0.42415</cdr:y>
    </cdr:to>
    <cdr:sp macro="" textlink="">
      <cdr:nvSpPr>
        <cdr:cNvPr id="3" name="TextBox 15"/>
        <cdr:cNvSpPr txBox="1"/>
      </cdr:nvSpPr>
      <cdr:spPr>
        <a:xfrm xmlns:a="http://schemas.openxmlformats.org/drawingml/2006/main">
          <a:off x="4699000" y="1593850"/>
          <a:ext cx="644525" cy="264560"/>
        </a:xfrm>
        <a:prstGeom xmlns:a="http://schemas.openxmlformats.org/drawingml/2006/main" prst="rect">
          <a:avLst/>
        </a:prstGeom>
        <a:noFill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square" rtlCol="0"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r>
            <a:rPr lang="en-AU" sz="1100"/>
            <a:t>Shoes</a:t>
          </a:r>
        </a:p>
      </cdr:txBody>
    </cdr:sp>
  </cdr:relSizeAnchor>
  <cdr:relSizeAnchor xmlns:cdr="http://schemas.openxmlformats.org/drawingml/2006/chartDrawing">
    <cdr:from>
      <cdr:x>0.76184</cdr:x>
      <cdr:y>0.40725</cdr:y>
    </cdr:from>
    <cdr:to>
      <cdr:x>0.80114</cdr:x>
      <cdr:y>0.49783</cdr:y>
    </cdr:to>
    <cdr:cxnSp macro="">
      <cdr:nvCxnSpPr>
        <cdr:cNvPr id="4" name="Straight Arrow Connector 3">
          <a:extLst xmlns:a="http://schemas.openxmlformats.org/drawingml/2006/main">
            <a:ext uri="{FF2B5EF4-FFF2-40B4-BE49-F238E27FC236}">
              <a16:creationId xmlns:a16="http://schemas.microsoft.com/office/drawing/2014/main" id="{0440F3A3-2964-434C-8739-A1DEC36F76DC}"/>
            </a:ext>
          </a:extLst>
        </cdr:cNvPr>
        <cdr:cNvCxnSpPr/>
      </cdr:nvCxnSpPr>
      <cdr:spPr>
        <a:xfrm xmlns:a="http://schemas.openxmlformats.org/drawingml/2006/main">
          <a:off x="5108575" y="1784350"/>
          <a:ext cx="263525" cy="396876"/>
        </a:xfrm>
        <a:prstGeom xmlns:a="http://schemas.openxmlformats.org/drawingml/2006/main" prst="straightConnector1">
          <a:avLst/>
        </a:prstGeom>
        <a:ln xmlns:a="http://schemas.openxmlformats.org/drawingml/2006/main">
          <a:solidFill>
            <a:schemeClr val="tx1"/>
          </a:solidFill>
          <a:tailEnd type="arrow"/>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0.82434</cdr:x>
      <cdr:y>0.50942</cdr:y>
    </cdr:from>
    <cdr:to>
      <cdr:x>0.92045</cdr:x>
      <cdr:y>0.5698</cdr:y>
    </cdr:to>
    <cdr:sp macro="" textlink="">
      <cdr:nvSpPr>
        <cdr:cNvPr id="8" name="TextBox 15"/>
        <cdr:cNvSpPr txBox="1"/>
      </cdr:nvSpPr>
      <cdr:spPr>
        <a:xfrm xmlns:a="http://schemas.openxmlformats.org/drawingml/2006/main">
          <a:off x="5527675" y="2232025"/>
          <a:ext cx="644525" cy="264560"/>
        </a:xfrm>
        <a:prstGeom xmlns:a="http://schemas.openxmlformats.org/drawingml/2006/main" prst="rect">
          <a:avLst/>
        </a:prstGeom>
        <a:noFill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square" rtlCol="0"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r>
            <a:rPr lang="en-AU" sz="1100"/>
            <a:t>Textiles</a:t>
          </a:r>
        </a:p>
      </cdr:txBody>
    </cdr:sp>
  </cdr:relSizeAnchor>
  <cdr:relSizeAnchor xmlns:cdr="http://schemas.openxmlformats.org/drawingml/2006/chartDrawing">
    <cdr:from>
      <cdr:x>0.87263</cdr:x>
      <cdr:y>0.57899</cdr:y>
    </cdr:from>
    <cdr:to>
      <cdr:x>0.99006</cdr:x>
      <cdr:y>0.63937</cdr:y>
    </cdr:to>
    <cdr:sp macro="" textlink="">
      <cdr:nvSpPr>
        <cdr:cNvPr id="9" name="TextBox 15"/>
        <cdr:cNvSpPr txBox="1"/>
      </cdr:nvSpPr>
      <cdr:spPr>
        <a:xfrm xmlns:a="http://schemas.openxmlformats.org/drawingml/2006/main">
          <a:off x="5851525" y="2536825"/>
          <a:ext cx="787400" cy="264560"/>
        </a:xfrm>
        <a:prstGeom xmlns:a="http://schemas.openxmlformats.org/drawingml/2006/main" prst="rect">
          <a:avLst/>
        </a:prstGeom>
        <a:noFill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square" rtlCol="0"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r>
            <a:rPr lang="en-AU" sz="1100"/>
            <a:t>Chemicals</a:t>
          </a:r>
        </a:p>
      </cdr:txBody>
    </cdr:sp>
  </cdr:relSizeAnchor>
  <cdr:relSizeAnchor xmlns:cdr="http://schemas.openxmlformats.org/drawingml/2006/chartDrawing">
    <cdr:from>
      <cdr:x>0.83854</cdr:x>
      <cdr:y>0.71159</cdr:y>
    </cdr:from>
    <cdr:to>
      <cdr:x>0.95597</cdr:x>
      <cdr:y>0.77198</cdr:y>
    </cdr:to>
    <cdr:sp macro="" textlink="">
      <cdr:nvSpPr>
        <cdr:cNvPr id="10" name="TextBox 15"/>
        <cdr:cNvSpPr txBox="1"/>
      </cdr:nvSpPr>
      <cdr:spPr>
        <a:xfrm xmlns:a="http://schemas.openxmlformats.org/drawingml/2006/main">
          <a:off x="5622925" y="3117850"/>
          <a:ext cx="787400" cy="264560"/>
        </a:xfrm>
        <a:prstGeom xmlns:a="http://schemas.openxmlformats.org/drawingml/2006/main" prst="rect">
          <a:avLst/>
        </a:prstGeom>
        <a:noFill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square" rtlCol="0"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r>
            <a:rPr lang="en-AU" sz="1100"/>
            <a:t>Chemicals</a:t>
          </a:r>
        </a:p>
      </cdr:txBody>
    </cdr:sp>
  </cdr:relSizeAnchor>
  <cdr:relSizeAnchor xmlns:cdr="http://schemas.openxmlformats.org/drawingml/2006/chartDrawing">
    <cdr:from>
      <cdr:x>0.72064</cdr:x>
      <cdr:y>0.70942</cdr:y>
    </cdr:from>
    <cdr:to>
      <cdr:x>0.80398</cdr:x>
      <cdr:y>0.7698</cdr:y>
    </cdr:to>
    <cdr:sp macro="" textlink="">
      <cdr:nvSpPr>
        <cdr:cNvPr id="11" name="TextBox 15"/>
        <cdr:cNvSpPr txBox="1"/>
      </cdr:nvSpPr>
      <cdr:spPr>
        <a:xfrm xmlns:a="http://schemas.openxmlformats.org/drawingml/2006/main">
          <a:off x="4832350" y="3108325"/>
          <a:ext cx="558800" cy="264560"/>
        </a:xfrm>
        <a:prstGeom xmlns:a="http://schemas.openxmlformats.org/drawingml/2006/main" prst="rect">
          <a:avLst/>
        </a:prstGeom>
        <a:noFill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square" rtlCol="0"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r>
            <a:rPr lang="en-AU" sz="1100"/>
            <a:t>OilGas</a:t>
          </a:r>
        </a:p>
      </cdr:txBody>
    </cdr:sp>
  </cdr:relSizeAnchor>
  <cdr:relSizeAnchor xmlns:cdr="http://schemas.openxmlformats.org/drawingml/2006/chartDrawing">
    <cdr:from>
      <cdr:x>0.75426</cdr:x>
      <cdr:y>0.76087</cdr:y>
    </cdr:from>
    <cdr:to>
      <cdr:x>0.75426</cdr:x>
      <cdr:y>0.81957</cdr:y>
    </cdr:to>
    <cdr:cxnSp macro="">
      <cdr:nvCxnSpPr>
        <cdr:cNvPr id="13" name="Straight Arrow Connector 12">
          <a:extLst xmlns:a="http://schemas.openxmlformats.org/drawingml/2006/main">
            <a:ext uri="{FF2B5EF4-FFF2-40B4-BE49-F238E27FC236}">
              <a16:creationId xmlns:a16="http://schemas.microsoft.com/office/drawing/2014/main" id="{FF70F5B8-754B-4126-9BCB-56FBF2AE3504}"/>
            </a:ext>
          </a:extLst>
        </cdr:cNvPr>
        <cdr:cNvCxnSpPr/>
      </cdr:nvCxnSpPr>
      <cdr:spPr>
        <a:xfrm xmlns:a="http://schemas.openxmlformats.org/drawingml/2006/main">
          <a:off x="5057775" y="3333751"/>
          <a:ext cx="0" cy="257175"/>
        </a:xfrm>
        <a:prstGeom xmlns:a="http://schemas.openxmlformats.org/drawingml/2006/main" prst="straightConnector1">
          <a:avLst/>
        </a:prstGeom>
        <a:ln xmlns:a="http://schemas.openxmlformats.org/drawingml/2006/main">
          <a:solidFill>
            <a:schemeClr val="tx1"/>
          </a:solidFill>
          <a:tailEnd type="arrow"/>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0.82718</cdr:x>
      <cdr:y>0.22464</cdr:y>
    </cdr:from>
    <cdr:to>
      <cdr:x>0.94223</cdr:x>
      <cdr:y>0.28502</cdr:y>
    </cdr:to>
    <cdr:sp macro="" textlink="">
      <cdr:nvSpPr>
        <cdr:cNvPr id="17" name="TextBox 21"/>
        <cdr:cNvSpPr txBox="1"/>
      </cdr:nvSpPr>
      <cdr:spPr>
        <a:xfrm xmlns:a="http://schemas.openxmlformats.org/drawingml/2006/main">
          <a:off x="5546725" y="984250"/>
          <a:ext cx="771525" cy="264560"/>
        </a:xfrm>
        <a:prstGeom xmlns:a="http://schemas.openxmlformats.org/drawingml/2006/main" prst="rect">
          <a:avLst/>
        </a:prstGeom>
        <a:noFill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square" rtlCol="0"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r>
            <a:rPr lang="en-AU" sz="1100"/>
            <a:t>EdibleOil</a:t>
          </a: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8" name="Rectangle 1028"/>
          <p:cNvSpPr>
            <a:spLocks noGrp="1" noChangeArrowheads="1"/>
          </p:cNvSpPr>
          <p:nvPr>
            <p:ph type="ftr" sz="quarter" idx="2"/>
          </p:nvPr>
        </p:nvSpPr>
        <p:spPr bwMode="auto">
          <a:xfrm>
            <a:off x="0" y="9723438"/>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defTabSz="990600">
              <a:defRPr sz="1300">
                <a:latin typeface="Times New Roman" pitchFamily="18" charset="0"/>
              </a:defRPr>
            </a:lvl1pPr>
          </a:lstStyle>
          <a:p>
            <a:endParaRPr lang="en-AU"/>
          </a:p>
        </p:txBody>
      </p:sp>
      <p:sp>
        <p:nvSpPr>
          <p:cNvPr id="41989" name="Rectangle 1029"/>
          <p:cNvSpPr>
            <a:spLocks noGrp="1" noChangeArrowheads="1"/>
          </p:cNvSpPr>
          <p:nvPr>
            <p:ph type="sldNum" sz="quarter" idx="3"/>
          </p:nvPr>
        </p:nvSpPr>
        <p:spPr bwMode="auto">
          <a:xfrm>
            <a:off x="4022725" y="9723438"/>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lgn="r" defTabSz="990600">
              <a:defRPr sz="1300">
                <a:latin typeface="Times New Roman" pitchFamily="18" charset="0"/>
              </a:defRPr>
            </a:lvl1pPr>
          </a:lstStyle>
          <a:p>
            <a:fld id="{4E7167AA-2736-43BB-A74F-024A4D3BD58F}" type="slidenum">
              <a:rPr lang="en-AU"/>
              <a:pPr/>
              <a:t>‹#›</a:t>
            </a:fld>
            <a:endParaRPr lang="en-AU"/>
          </a:p>
        </p:txBody>
      </p:sp>
    </p:spTree>
    <p:extLst>
      <p:ext uri="{BB962C8B-B14F-4D97-AF65-F5344CB8AC3E}">
        <p14:creationId xmlns:p14="http://schemas.microsoft.com/office/powerpoint/2010/main" val="13859230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0" y="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048" tIns="49524" rIns="99048" bIns="49524" numCol="1" anchor="t" anchorCtr="0" compatLnSpc="1">
            <a:prstTxWarp prst="textNoShape">
              <a:avLst/>
            </a:prstTxWarp>
          </a:bodyPr>
          <a:lstStyle>
            <a:lvl1pPr defTabSz="990600">
              <a:defRPr sz="1300"/>
            </a:lvl1pPr>
          </a:lstStyle>
          <a:p>
            <a:endParaRPr lang="en-AU"/>
          </a:p>
        </p:txBody>
      </p:sp>
      <p:sp>
        <p:nvSpPr>
          <p:cNvPr id="3" name="Date Placeholder 2"/>
          <p:cNvSpPr>
            <a:spLocks noGrp="1"/>
          </p:cNvSpPr>
          <p:nvPr>
            <p:ph type="dt" idx="1"/>
          </p:nvPr>
        </p:nvSpPr>
        <p:spPr bwMode="auto">
          <a:xfrm>
            <a:off x="4021138" y="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048" tIns="49524" rIns="99048" bIns="49524" numCol="1" anchor="t" anchorCtr="0" compatLnSpc="1">
            <a:prstTxWarp prst="textNoShape">
              <a:avLst/>
            </a:prstTxWarp>
          </a:bodyPr>
          <a:lstStyle>
            <a:lvl1pPr algn="r" defTabSz="990600">
              <a:defRPr sz="1300"/>
            </a:lvl1pPr>
          </a:lstStyle>
          <a:p>
            <a:fld id="{C33533F4-D22E-47BE-8123-A33B676299D9}" type="datetimeFigureOut">
              <a:rPr lang="en-AU"/>
              <a:pPr/>
              <a:t>11/03/2020</a:t>
            </a:fld>
            <a:endParaRPr lang="en-AU"/>
          </a:p>
        </p:txBody>
      </p:sp>
      <p:sp>
        <p:nvSpPr>
          <p:cNvPr id="4" name="Slide Image Placeholder 3"/>
          <p:cNvSpPr>
            <a:spLocks noGrp="1" noRot="1" noChangeAspect="1"/>
          </p:cNvSpPr>
          <p:nvPr>
            <p:ph type="sldImg" idx="2"/>
          </p:nvPr>
        </p:nvSpPr>
        <p:spPr>
          <a:xfrm>
            <a:off x="990600" y="768350"/>
            <a:ext cx="5118100" cy="3836988"/>
          </a:xfrm>
          <a:prstGeom prst="rect">
            <a:avLst/>
          </a:prstGeom>
          <a:noFill/>
          <a:ln w="12700">
            <a:solidFill>
              <a:prstClr val="black"/>
            </a:solidFill>
          </a:ln>
        </p:spPr>
        <p:txBody>
          <a:bodyPr vert="horz" lIns="91440" tIns="45720" rIns="91440" bIns="45720" rtlCol="0" anchor="ctr"/>
          <a:lstStyle/>
          <a:p>
            <a:pPr lvl="0"/>
            <a:endParaRPr lang="en-AU" noProof="0"/>
          </a:p>
        </p:txBody>
      </p:sp>
      <p:sp>
        <p:nvSpPr>
          <p:cNvPr id="5" name="Notes Placeholder 4"/>
          <p:cNvSpPr>
            <a:spLocks noGrp="1"/>
          </p:cNvSpPr>
          <p:nvPr>
            <p:ph type="body" sz="quarter" idx="3"/>
          </p:nvPr>
        </p:nvSpPr>
        <p:spPr bwMode="auto">
          <a:xfrm>
            <a:off x="709613" y="4860925"/>
            <a:ext cx="5680075" cy="460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048" tIns="49524" rIns="99048" bIns="49524"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bwMode="auto">
          <a:xfrm>
            <a:off x="0"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048" tIns="49524" rIns="99048" bIns="49524" numCol="1" anchor="b" anchorCtr="0" compatLnSpc="1">
            <a:prstTxWarp prst="textNoShape">
              <a:avLst/>
            </a:prstTxWarp>
          </a:bodyPr>
          <a:lstStyle>
            <a:lvl1pPr defTabSz="990600">
              <a:defRPr sz="1300"/>
            </a:lvl1pPr>
          </a:lstStyle>
          <a:p>
            <a:endParaRPr lang="en-AU"/>
          </a:p>
        </p:txBody>
      </p:sp>
      <p:sp>
        <p:nvSpPr>
          <p:cNvPr id="7" name="Slide Number Placeholder 6"/>
          <p:cNvSpPr>
            <a:spLocks noGrp="1"/>
          </p:cNvSpPr>
          <p:nvPr>
            <p:ph type="sldNum" sz="quarter" idx="5"/>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048" tIns="49524" rIns="99048" bIns="49524" numCol="1" anchor="b" anchorCtr="0" compatLnSpc="1">
            <a:prstTxWarp prst="textNoShape">
              <a:avLst/>
            </a:prstTxWarp>
          </a:bodyPr>
          <a:lstStyle>
            <a:lvl1pPr algn="r" defTabSz="990600">
              <a:defRPr sz="1300"/>
            </a:lvl1pPr>
          </a:lstStyle>
          <a:p>
            <a:fld id="{DE8574FC-D349-4831-BBC9-2F117510E060}" type="slidenum">
              <a:rPr lang="en-AU"/>
              <a:pPr/>
              <a:t>‹#›</a:t>
            </a:fld>
            <a:endParaRPr lang="en-AU"/>
          </a:p>
        </p:txBody>
      </p:sp>
    </p:spTree>
    <p:extLst>
      <p:ext uri="{BB962C8B-B14F-4D97-AF65-F5344CB8AC3E}">
        <p14:creationId xmlns:p14="http://schemas.microsoft.com/office/powerpoint/2010/main" val="211444667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Rectangle 2"/>
          <p:cNvSpPr>
            <a:spLocks noGrp="1" noRot="1" noChangeAspect="1" noChangeArrowheads="1" noTextEdit="1"/>
          </p:cNvSpPr>
          <p:nvPr>
            <p:ph type="sldImg"/>
          </p:nvPr>
        </p:nvSpPr>
        <p:spPr>
          <a:xfrm>
            <a:off x="992188" y="768350"/>
            <a:ext cx="5114925" cy="3836988"/>
          </a:xfrm>
          <a:ln/>
        </p:spPr>
      </p:sp>
      <p:sp>
        <p:nvSpPr>
          <p:cNvPr id="372739" name="Rectangle 3"/>
          <p:cNvSpPr>
            <a:spLocks noGrp="1" noChangeArrowheads="1"/>
          </p:cNvSpPr>
          <p:nvPr>
            <p:ph type="body" idx="1"/>
          </p:nvPr>
        </p:nvSpPr>
        <p:spPr>
          <a:noFill/>
        </p:spPr>
        <p:txBody>
          <a:bodyPr/>
          <a:lstStyle/>
          <a:p>
            <a:endParaRPr lang="en-AU"/>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marL="171450" indent="-171450" eaLnBrk="1" hangingPunct="1">
              <a:buFontTx/>
              <a:buChar char="•"/>
            </a:pPr>
            <a:r>
              <a:rPr lang="en-GB"/>
              <a:t>In a typical baseline closure the choice of exogenous variables is largely determined by the availability of independent forecasts data from reliable sources such as IMF, Treasury and other macroeconomic specialists. </a:t>
            </a:r>
          </a:p>
          <a:p>
            <a:pPr marL="171450" indent="-171450" eaLnBrk="1" hangingPunct="1">
              <a:buFontTx/>
              <a:buChar char="•"/>
            </a:pPr>
            <a:r>
              <a:rPr lang="en-GB"/>
              <a:t>Forecast data are usually available for naturally endogenous variables in the model. </a:t>
            </a:r>
          </a:p>
          <a:p>
            <a:pPr marL="171450" indent="-171450" eaLnBrk="1" hangingPunct="1">
              <a:buFontTx/>
              <a:buChar char="•"/>
            </a:pPr>
            <a:r>
              <a:rPr lang="en-GB"/>
              <a:t>To accommodate forecast data, these naturally endogenous variables are swapped with naturally exogenous variables. This allows the newly exogenous variables to be shocked with the data and allows structural variables to be determined endogenously. </a:t>
            </a:r>
          </a:p>
          <a:p>
            <a:pPr marL="171450" indent="-171450" eaLnBrk="1" hangingPunct="1"/>
            <a:endParaRPr lang="en-AU"/>
          </a:p>
          <a:p>
            <a:pPr marL="171450" indent="-171450" eaLnBrk="1" hangingPunct="1"/>
            <a:endParaRPr lang="en-AU"/>
          </a:p>
        </p:txBody>
      </p:sp>
      <p:sp>
        <p:nvSpPr>
          <p:cNvPr id="4" name="Slide Number Placeholder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eaLnBrk="0" hangingPunct="0">
              <a:defRPr>
                <a:solidFill>
                  <a:schemeClr val="tx1"/>
                </a:solidFill>
                <a:latin typeface="Calibri" pitchFamily="34" charset="0"/>
                <a:cs typeface="Arial" charset="0"/>
              </a:defRPr>
            </a:lvl1pPr>
            <a:lvl2pPr marL="804863" indent="-309563" defTabSz="990600" eaLnBrk="0" hangingPunct="0">
              <a:defRPr>
                <a:solidFill>
                  <a:schemeClr val="tx1"/>
                </a:solidFill>
                <a:latin typeface="Calibri" pitchFamily="34" charset="0"/>
                <a:cs typeface="Arial" charset="0"/>
              </a:defRPr>
            </a:lvl2pPr>
            <a:lvl3pPr marL="1238250" indent="-247650" defTabSz="990600" eaLnBrk="0" hangingPunct="0">
              <a:defRPr>
                <a:solidFill>
                  <a:schemeClr val="tx1"/>
                </a:solidFill>
                <a:latin typeface="Calibri" pitchFamily="34" charset="0"/>
                <a:cs typeface="Arial" charset="0"/>
              </a:defRPr>
            </a:lvl3pPr>
            <a:lvl4pPr marL="1733550" indent="-247650" defTabSz="990600" eaLnBrk="0" hangingPunct="0">
              <a:defRPr>
                <a:solidFill>
                  <a:schemeClr val="tx1"/>
                </a:solidFill>
                <a:latin typeface="Calibri" pitchFamily="34" charset="0"/>
                <a:cs typeface="Arial" charset="0"/>
              </a:defRPr>
            </a:lvl4pPr>
            <a:lvl5pPr marL="2228850" indent="-247650" defTabSz="990600" eaLnBrk="0" hangingPunct="0">
              <a:defRPr>
                <a:solidFill>
                  <a:schemeClr val="tx1"/>
                </a:solidFill>
                <a:latin typeface="Calibri" pitchFamily="34" charset="0"/>
                <a:cs typeface="Arial" charset="0"/>
              </a:defRPr>
            </a:lvl5pPr>
            <a:lvl6pPr marL="2686050" indent="-247650" defTabSz="990600" eaLnBrk="0" fontAlgn="base" hangingPunct="0">
              <a:spcBef>
                <a:spcPct val="0"/>
              </a:spcBef>
              <a:spcAft>
                <a:spcPct val="0"/>
              </a:spcAft>
              <a:defRPr>
                <a:solidFill>
                  <a:schemeClr val="tx1"/>
                </a:solidFill>
                <a:latin typeface="Calibri" pitchFamily="34" charset="0"/>
                <a:cs typeface="Arial" charset="0"/>
              </a:defRPr>
            </a:lvl6pPr>
            <a:lvl7pPr marL="3143250" indent="-247650" defTabSz="990600" eaLnBrk="0" fontAlgn="base" hangingPunct="0">
              <a:spcBef>
                <a:spcPct val="0"/>
              </a:spcBef>
              <a:spcAft>
                <a:spcPct val="0"/>
              </a:spcAft>
              <a:defRPr>
                <a:solidFill>
                  <a:schemeClr val="tx1"/>
                </a:solidFill>
                <a:latin typeface="Calibri" pitchFamily="34" charset="0"/>
                <a:cs typeface="Arial" charset="0"/>
              </a:defRPr>
            </a:lvl7pPr>
            <a:lvl8pPr marL="3600450" indent="-247650" defTabSz="990600" eaLnBrk="0" fontAlgn="base" hangingPunct="0">
              <a:spcBef>
                <a:spcPct val="0"/>
              </a:spcBef>
              <a:spcAft>
                <a:spcPct val="0"/>
              </a:spcAft>
              <a:defRPr>
                <a:solidFill>
                  <a:schemeClr val="tx1"/>
                </a:solidFill>
                <a:latin typeface="Calibri" pitchFamily="34" charset="0"/>
                <a:cs typeface="Arial" charset="0"/>
              </a:defRPr>
            </a:lvl8pPr>
            <a:lvl9pPr marL="4057650" indent="-247650" defTabSz="990600" eaLnBrk="0" fontAlgn="base" hangingPunct="0">
              <a:spcBef>
                <a:spcPct val="0"/>
              </a:spcBef>
              <a:spcAft>
                <a:spcPct val="0"/>
              </a:spcAft>
              <a:defRPr>
                <a:solidFill>
                  <a:schemeClr val="tx1"/>
                </a:solidFill>
                <a:latin typeface="Calibri" pitchFamily="34" charset="0"/>
                <a:cs typeface="Arial" charset="0"/>
              </a:defRPr>
            </a:lvl9pPr>
          </a:lstStyle>
          <a:p>
            <a:pPr algn="r" eaLnBrk="1" hangingPunct="1"/>
            <a:fld id="{2A5B0EE6-3D9C-485F-AF7B-7A83FC26C385}" type="slidenum">
              <a:rPr lang="en-AU" sz="1300"/>
              <a:pPr algn="r" eaLnBrk="1" hangingPunct="1"/>
              <a:t>13</a:t>
            </a:fld>
            <a:endParaRPr lang="en-AU" sz="13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marL="171450" indent="-171450" eaLnBrk="1" hangingPunct="1">
              <a:buFontTx/>
              <a:buChar char="•"/>
            </a:pPr>
            <a:r>
              <a:rPr lang="en-AU"/>
              <a:t>Baseline simulation is not about perfect foresight or about creating a steady state</a:t>
            </a:r>
          </a:p>
          <a:p>
            <a:pPr marL="171450" indent="-171450" eaLnBrk="1" hangingPunct="1">
              <a:buFontTx/>
              <a:buChar char="•"/>
            </a:pPr>
            <a:r>
              <a:rPr lang="en-AU"/>
              <a:t>Expect agriculture share in GDP to decline overtime</a:t>
            </a:r>
          </a:p>
          <a:p>
            <a:pPr marL="171450" indent="-171450" eaLnBrk="1" hangingPunct="1"/>
            <a:endParaRPr lang="en-AU"/>
          </a:p>
        </p:txBody>
      </p:sp>
      <p:sp>
        <p:nvSpPr>
          <p:cNvPr id="4" name="Slide Number Placeholder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eaLnBrk="0" hangingPunct="0">
              <a:defRPr>
                <a:solidFill>
                  <a:schemeClr val="tx1"/>
                </a:solidFill>
                <a:latin typeface="Calibri" pitchFamily="34" charset="0"/>
                <a:cs typeface="Arial" charset="0"/>
              </a:defRPr>
            </a:lvl1pPr>
            <a:lvl2pPr marL="804863" indent="-309563" defTabSz="990600" eaLnBrk="0" hangingPunct="0">
              <a:defRPr>
                <a:solidFill>
                  <a:schemeClr val="tx1"/>
                </a:solidFill>
                <a:latin typeface="Calibri" pitchFamily="34" charset="0"/>
                <a:cs typeface="Arial" charset="0"/>
              </a:defRPr>
            </a:lvl2pPr>
            <a:lvl3pPr marL="1238250" indent="-247650" defTabSz="990600" eaLnBrk="0" hangingPunct="0">
              <a:defRPr>
                <a:solidFill>
                  <a:schemeClr val="tx1"/>
                </a:solidFill>
                <a:latin typeface="Calibri" pitchFamily="34" charset="0"/>
                <a:cs typeface="Arial" charset="0"/>
              </a:defRPr>
            </a:lvl3pPr>
            <a:lvl4pPr marL="1733550" indent="-247650" defTabSz="990600" eaLnBrk="0" hangingPunct="0">
              <a:defRPr>
                <a:solidFill>
                  <a:schemeClr val="tx1"/>
                </a:solidFill>
                <a:latin typeface="Calibri" pitchFamily="34" charset="0"/>
                <a:cs typeface="Arial" charset="0"/>
              </a:defRPr>
            </a:lvl4pPr>
            <a:lvl5pPr marL="2228850" indent="-247650" defTabSz="990600" eaLnBrk="0" hangingPunct="0">
              <a:defRPr>
                <a:solidFill>
                  <a:schemeClr val="tx1"/>
                </a:solidFill>
                <a:latin typeface="Calibri" pitchFamily="34" charset="0"/>
                <a:cs typeface="Arial" charset="0"/>
              </a:defRPr>
            </a:lvl5pPr>
            <a:lvl6pPr marL="2686050" indent="-247650" defTabSz="990600" eaLnBrk="0" fontAlgn="base" hangingPunct="0">
              <a:spcBef>
                <a:spcPct val="0"/>
              </a:spcBef>
              <a:spcAft>
                <a:spcPct val="0"/>
              </a:spcAft>
              <a:defRPr>
                <a:solidFill>
                  <a:schemeClr val="tx1"/>
                </a:solidFill>
                <a:latin typeface="Calibri" pitchFamily="34" charset="0"/>
                <a:cs typeface="Arial" charset="0"/>
              </a:defRPr>
            </a:lvl6pPr>
            <a:lvl7pPr marL="3143250" indent="-247650" defTabSz="990600" eaLnBrk="0" fontAlgn="base" hangingPunct="0">
              <a:spcBef>
                <a:spcPct val="0"/>
              </a:spcBef>
              <a:spcAft>
                <a:spcPct val="0"/>
              </a:spcAft>
              <a:defRPr>
                <a:solidFill>
                  <a:schemeClr val="tx1"/>
                </a:solidFill>
                <a:latin typeface="Calibri" pitchFamily="34" charset="0"/>
                <a:cs typeface="Arial" charset="0"/>
              </a:defRPr>
            </a:lvl7pPr>
            <a:lvl8pPr marL="3600450" indent="-247650" defTabSz="990600" eaLnBrk="0" fontAlgn="base" hangingPunct="0">
              <a:spcBef>
                <a:spcPct val="0"/>
              </a:spcBef>
              <a:spcAft>
                <a:spcPct val="0"/>
              </a:spcAft>
              <a:defRPr>
                <a:solidFill>
                  <a:schemeClr val="tx1"/>
                </a:solidFill>
                <a:latin typeface="Calibri" pitchFamily="34" charset="0"/>
                <a:cs typeface="Arial" charset="0"/>
              </a:defRPr>
            </a:lvl8pPr>
            <a:lvl9pPr marL="4057650" indent="-247650" defTabSz="990600" eaLnBrk="0" fontAlgn="base" hangingPunct="0">
              <a:spcBef>
                <a:spcPct val="0"/>
              </a:spcBef>
              <a:spcAft>
                <a:spcPct val="0"/>
              </a:spcAft>
              <a:defRPr>
                <a:solidFill>
                  <a:schemeClr val="tx1"/>
                </a:solidFill>
                <a:latin typeface="Calibri" pitchFamily="34" charset="0"/>
                <a:cs typeface="Arial" charset="0"/>
              </a:defRPr>
            </a:lvl9pPr>
          </a:lstStyle>
          <a:p>
            <a:pPr algn="r" eaLnBrk="1" hangingPunct="1"/>
            <a:fld id="{95B0CFB7-4475-4236-A92F-97326EE88AA5}" type="slidenum">
              <a:rPr lang="en-AU" sz="1300"/>
              <a:pPr algn="r" eaLnBrk="1" hangingPunct="1"/>
              <a:t>14</a:t>
            </a:fld>
            <a:endParaRPr lang="en-AU" sz="13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marL="171450" indent="-171450" eaLnBrk="1" hangingPunct="1">
              <a:buFontTx/>
              <a:buChar char="•"/>
            </a:pPr>
            <a:r>
              <a:rPr lang="en-AU"/>
              <a:t>2006-2012: historical closure where we introduce observed data for most macroeconomic variables </a:t>
            </a:r>
          </a:p>
          <a:p>
            <a:pPr marL="171450" indent="-171450" eaLnBrk="1" hangingPunct="1">
              <a:buFontTx/>
              <a:buChar char="•"/>
            </a:pPr>
            <a:r>
              <a:rPr lang="en-AU"/>
              <a:t>2013-2030: forecast closure where we introduce independent forecast data from </a:t>
            </a:r>
            <a:r>
              <a:rPr lang="en-GB"/>
              <a:t>reliable sources such as Treasury and other macroeconomic specialists. </a:t>
            </a:r>
          </a:p>
          <a:p>
            <a:pPr marL="628650" lvl="1" indent="-171450" eaLnBrk="1" hangingPunct="1">
              <a:buFontTx/>
              <a:buChar char="•"/>
            </a:pPr>
            <a:r>
              <a:rPr lang="en-GB"/>
              <a:t>Gain from specialisation</a:t>
            </a:r>
            <a:endParaRPr lang="en-AU"/>
          </a:p>
          <a:p>
            <a:pPr marL="171450" indent="-171450" eaLnBrk="1" hangingPunct="1"/>
            <a:endParaRPr lang="en-AU"/>
          </a:p>
          <a:p>
            <a:pPr marL="171450" indent="-171450" eaLnBrk="1" hangingPunct="1"/>
            <a:endParaRPr lang="en-AU"/>
          </a:p>
          <a:p>
            <a:pPr marL="171450" indent="-171450" algn="just" eaLnBrk="1" hangingPunct="1"/>
            <a:endParaRPr lang="en-AU"/>
          </a:p>
          <a:p>
            <a:pPr marL="171450" indent="-171450" eaLnBrk="1" hangingPunct="1"/>
            <a:endParaRPr lang="en-AU"/>
          </a:p>
        </p:txBody>
      </p:sp>
      <p:sp>
        <p:nvSpPr>
          <p:cNvPr id="4" name="Slide Number Placeholder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eaLnBrk="0" hangingPunct="0">
              <a:defRPr>
                <a:solidFill>
                  <a:schemeClr val="tx1"/>
                </a:solidFill>
                <a:latin typeface="Calibri" pitchFamily="34" charset="0"/>
                <a:cs typeface="Arial" charset="0"/>
              </a:defRPr>
            </a:lvl1pPr>
            <a:lvl2pPr marL="804863" indent="-309563" defTabSz="990600" eaLnBrk="0" hangingPunct="0">
              <a:defRPr>
                <a:solidFill>
                  <a:schemeClr val="tx1"/>
                </a:solidFill>
                <a:latin typeface="Calibri" pitchFamily="34" charset="0"/>
                <a:cs typeface="Arial" charset="0"/>
              </a:defRPr>
            </a:lvl2pPr>
            <a:lvl3pPr marL="1238250" indent="-247650" defTabSz="990600" eaLnBrk="0" hangingPunct="0">
              <a:defRPr>
                <a:solidFill>
                  <a:schemeClr val="tx1"/>
                </a:solidFill>
                <a:latin typeface="Calibri" pitchFamily="34" charset="0"/>
                <a:cs typeface="Arial" charset="0"/>
              </a:defRPr>
            </a:lvl3pPr>
            <a:lvl4pPr marL="1733550" indent="-247650" defTabSz="990600" eaLnBrk="0" hangingPunct="0">
              <a:defRPr>
                <a:solidFill>
                  <a:schemeClr val="tx1"/>
                </a:solidFill>
                <a:latin typeface="Calibri" pitchFamily="34" charset="0"/>
                <a:cs typeface="Arial" charset="0"/>
              </a:defRPr>
            </a:lvl4pPr>
            <a:lvl5pPr marL="2228850" indent="-247650" defTabSz="990600" eaLnBrk="0" hangingPunct="0">
              <a:defRPr>
                <a:solidFill>
                  <a:schemeClr val="tx1"/>
                </a:solidFill>
                <a:latin typeface="Calibri" pitchFamily="34" charset="0"/>
                <a:cs typeface="Arial" charset="0"/>
              </a:defRPr>
            </a:lvl5pPr>
            <a:lvl6pPr marL="2686050" indent="-247650" defTabSz="990600" eaLnBrk="0" fontAlgn="base" hangingPunct="0">
              <a:spcBef>
                <a:spcPct val="0"/>
              </a:spcBef>
              <a:spcAft>
                <a:spcPct val="0"/>
              </a:spcAft>
              <a:defRPr>
                <a:solidFill>
                  <a:schemeClr val="tx1"/>
                </a:solidFill>
                <a:latin typeface="Calibri" pitchFamily="34" charset="0"/>
                <a:cs typeface="Arial" charset="0"/>
              </a:defRPr>
            </a:lvl6pPr>
            <a:lvl7pPr marL="3143250" indent="-247650" defTabSz="990600" eaLnBrk="0" fontAlgn="base" hangingPunct="0">
              <a:spcBef>
                <a:spcPct val="0"/>
              </a:spcBef>
              <a:spcAft>
                <a:spcPct val="0"/>
              </a:spcAft>
              <a:defRPr>
                <a:solidFill>
                  <a:schemeClr val="tx1"/>
                </a:solidFill>
                <a:latin typeface="Calibri" pitchFamily="34" charset="0"/>
                <a:cs typeface="Arial" charset="0"/>
              </a:defRPr>
            </a:lvl7pPr>
            <a:lvl8pPr marL="3600450" indent="-247650" defTabSz="990600" eaLnBrk="0" fontAlgn="base" hangingPunct="0">
              <a:spcBef>
                <a:spcPct val="0"/>
              </a:spcBef>
              <a:spcAft>
                <a:spcPct val="0"/>
              </a:spcAft>
              <a:defRPr>
                <a:solidFill>
                  <a:schemeClr val="tx1"/>
                </a:solidFill>
                <a:latin typeface="Calibri" pitchFamily="34" charset="0"/>
                <a:cs typeface="Arial" charset="0"/>
              </a:defRPr>
            </a:lvl8pPr>
            <a:lvl9pPr marL="4057650" indent="-247650" defTabSz="990600" eaLnBrk="0" fontAlgn="base" hangingPunct="0">
              <a:spcBef>
                <a:spcPct val="0"/>
              </a:spcBef>
              <a:spcAft>
                <a:spcPct val="0"/>
              </a:spcAft>
              <a:defRPr>
                <a:solidFill>
                  <a:schemeClr val="tx1"/>
                </a:solidFill>
                <a:latin typeface="Calibri" pitchFamily="34" charset="0"/>
                <a:cs typeface="Arial" charset="0"/>
              </a:defRPr>
            </a:lvl9pPr>
          </a:lstStyle>
          <a:p>
            <a:pPr algn="r" eaLnBrk="1" hangingPunct="1"/>
            <a:fld id="{DF6A0976-BCFD-48C0-A198-1EC6F2864436}" type="slidenum">
              <a:rPr lang="en-AU" sz="1300"/>
              <a:pPr algn="r" eaLnBrk="1" hangingPunct="1"/>
              <a:t>15</a:t>
            </a:fld>
            <a:endParaRPr lang="en-AU" sz="13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marL="171450" indent="-171450" eaLnBrk="1" hangingPunct="1">
              <a:spcBef>
                <a:spcPct val="0"/>
              </a:spcBef>
              <a:buFontTx/>
              <a:buChar char="•"/>
            </a:pPr>
            <a:r>
              <a:rPr lang="en-AU"/>
              <a:t>With the focus on policy analysis, IndoTERM can be used with just one closure in both the base and policy simulations</a:t>
            </a:r>
          </a:p>
          <a:p>
            <a:pPr marL="171450" indent="-171450" eaLnBrk="1" hangingPunct="1">
              <a:spcBef>
                <a:spcPct val="0"/>
              </a:spcBef>
            </a:pPr>
            <a:endParaRPr lang="en-AU"/>
          </a:p>
          <a:p>
            <a:pPr marL="171450" indent="-171450" eaLnBrk="1" hangingPunct="1">
              <a:spcBef>
                <a:spcPct val="0"/>
              </a:spcBef>
              <a:buFontTx/>
              <a:buChar char="•"/>
            </a:pPr>
            <a:r>
              <a:rPr lang="en-AU"/>
              <a:t>Agricultural industries = Paddy, Crops, EstateCrops, Animals</a:t>
            </a:r>
          </a:p>
          <a:p>
            <a:pPr marL="171450" indent="-171450" eaLnBrk="1" hangingPunct="1">
              <a:spcBef>
                <a:spcPct val="0"/>
              </a:spcBef>
              <a:buFontTx/>
              <a:buChar char="•"/>
            </a:pPr>
            <a:r>
              <a:rPr lang="en-AU"/>
              <a:t>Other Natural resource using industries = Forestry, Fishing, Coal, Other Mining </a:t>
            </a:r>
          </a:p>
          <a:p>
            <a:pPr marL="171450" indent="-171450" eaLnBrk="1" hangingPunct="1">
              <a:spcBef>
                <a:spcPct val="0"/>
              </a:spcBef>
            </a:pPr>
            <a:endParaRPr lang="en-AU"/>
          </a:p>
          <a:p>
            <a:pPr marL="171450" indent="-171450" eaLnBrk="1" hangingPunct="1">
              <a:spcBef>
                <a:spcPct val="0"/>
              </a:spcBef>
            </a:pPr>
            <a:r>
              <a:rPr lang="en-AU" b="1"/>
              <a:t>Motivation for the size of the shocks????</a:t>
            </a:r>
          </a:p>
          <a:p>
            <a:pPr marL="171450" indent="-171450" eaLnBrk="1" hangingPunct="1">
              <a:spcBef>
                <a:spcPct val="0"/>
              </a:spcBef>
            </a:pPr>
            <a:endParaRPr lang="en-AU"/>
          </a:p>
          <a:p>
            <a:pPr marL="171450" indent="-171450" eaLnBrk="1" hangingPunct="1">
              <a:spcBef>
                <a:spcPct val="0"/>
              </a:spcBef>
            </a:pPr>
            <a:r>
              <a:rPr lang="en-AU"/>
              <a:t>For all years we impose our views on:</a:t>
            </a:r>
          </a:p>
          <a:p>
            <a:pPr marL="171450" indent="-171450" eaLnBrk="1" hangingPunct="1">
              <a:spcBef>
                <a:spcPct val="0"/>
              </a:spcBef>
              <a:buFontTx/>
              <a:buChar char="•"/>
            </a:pPr>
            <a:r>
              <a:rPr lang="en-AU"/>
              <a:t>Land and labour productivity</a:t>
            </a:r>
          </a:p>
          <a:p>
            <a:pPr marL="171450" indent="-171450" eaLnBrk="1" hangingPunct="1">
              <a:spcBef>
                <a:spcPct val="0"/>
              </a:spcBef>
              <a:buFontTx/>
              <a:buChar char="•"/>
            </a:pPr>
            <a:r>
              <a:rPr lang="en-AU"/>
              <a:t>Labour force and population growth </a:t>
            </a:r>
          </a:p>
          <a:p>
            <a:pPr marL="171450" indent="-171450" eaLnBrk="1" hangingPunct="1">
              <a:spcBef>
                <a:spcPct val="0"/>
              </a:spcBef>
              <a:buFontTx/>
              <a:buChar char="•"/>
            </a:pPr>
            <a:r>
              <a:rPr lang="en-AU"/>
              <a:t>Foreign demand for Indonesian commodities</a:t>
            </a:r>
          </a:p>
          <a:p>
            <a:pPr marL="171450" indent="-171450" eaLnBrk="1" hangingPunct="1"/>
            <a:endParaRPr lang="en-AU"/>
          </a:p>
          <a:p>
            <a:pPr marL="171450" indent="-171450" eaLnBrk="1" hangingPunct="1"/>
            <a:r>
              <a:rPr lang="en-AU"/>
              <a:t>For 2006-2012 we create a historical closure and imposed observed data for:</a:t>
            </a:r>
          </a:p>
          <a:p>
            <a:pPr marL="171450" indent="-171450" eaLnBrk="1" hangingPunct="1">
              <a:buFontTx/>
              <a:buChar char="•"/>
            </a:pPr>
            <a:r>
              <a:rPr lang="en-AU"/>
              <a:t>Total household consumption</a:t>
            </a:r>
          </a:p>
          <a:p>
            <a:pPr marL="171450" indent="-171450" eaLnBrk="1" hangingPunct="1">
              <a:buFontTx/>
              <a:buChar char="•"/>
            </a:pPr>
            <a:r>
              <a:rPr lang="en-AU"/>
              <a:t>Total investment</a:t>
            </a:r>
          </a:p>
          <a:p>
            <a:pPr marL="171450" indent="-171450" eaLnBrk="1" hangingPunct="1">
              <a:buFontTx/>
              <a:buChar char="•"/>
            </a:pPr>
            <a:r>
              <a:rPr lang="en-AU"/>
              <a:t>Total government spending</a:t>
            </a:r>
          </a:p>
          <a:p>
            <a:pPr marL="171450" indent="-171450" eaLnBrk="1" hangingPunct="1">
              <a:buFontTx/>
              <a:buChar char="•"/>
            </a:pPr>
            <a:r>
              <a:rPr lang="en-AU"/>
              <a:t>Exports</a:t>
            </a:r>
          </a:p>
          <a:p>
            <a:pPr marL="171450" indent="-171450" eaLnBrk="1" hangingPunct="1">
              <a:buFontTx/>
              <a:buChar char="•"/>
            </a:pPr>
            <a:r>
              <a:rPr lang="en-AU"/>
              <a:t>GDP</a:t>
            </a:r>
          </a:p>
          <a:p>
            <a:pPr marL="171450" indent="-171450" eaLnBrk="1" hangingPunct="1">
              <a:buFontTx/>
              <a:buChar char="•"/>
            </a:pPr>
            <a:r>
              <a:rPr lang="en-AU"/>
              <a:t>Employment</a:t>
            </a:r>
          </a:p>
          <a:p>
            <a:pPr marL="171450" indent="-171450" eaLnBrk="1" hangingPunct="1">
              <a:buFontTx/>
              <a:buChar char="•"/>
            </a:pPr>
            <a:endParaRPr lang="en-AU"/>
          </a:p>
          <a:p>
            <a:pPr marL="171450" indent="-171450" eaLnBrk="1" hangingPunct="1"/>
            <a:endParaRPr lang="en-AU"/>
          </a:p>
        </p:txBody>
      </p:sp>
      <p:sp>
        <p:nvSpPr>
          <p:cNvPr id="4" name="Slide Number Placeholder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eaLnBrk="0" hangingPunct="0">
              <a:defRPr>
                <a:solidFill>
                  <a:schemeClr val="tx1"/>
                </a:solidFill>
                <a:latin typeface="Calibri" pitchFamily="34" charset="0"/>
                <a:cs typeface="Arial" charset="0"/>
              </a:defRPr>
            </a:lvl1pPr>
            <a:lvl2pPr marL="804863" indent="-309563" defTabSz="990600" eaLnBrk="0" hangingPunct="0">
              <a:defRPr>
                <a:solidFill>
                  <a:schemeClr val="tx1"/>
                </a:solidFill>
                <a:latin typeface="Calibri" pitchFamily="34" charset="0"/>
                <a:cs typeface="Arial" charset="0"/>
              </a:defRPr>
            </a:lvl2pPr>
            <a:lvl3pPr marL="1238250" indent="-247650" defTabSz="990600" eaLnBrk="0" hangingPunct="0">
              <a:defRPr>
                <a:solidFill>
                  <a:schemeClr val="tx1"/>
                </a:solidFill>
                <a:latin typeface="Calibri" pitchFamily="34" charset="0"/>
                <a:cs typeface="Arial" charset="0"/>
              </a:defRPr>
            </a:lvl3pPr>
            <a:lvl4pPr marL="1733550" indent="-247650" defTabSz="990600" eaLnBrk="0" hangingPunct="0">
              <a:defRPr>
                <a:solidFill>
                  <a:schemeClr val="tx1"/>
                </a:solidFill>
                <a:latin typeface="Calibri" pitchFamily="34" charset="0"/>
                <a:cs typeface="Arial" charset="0"/>
              </a:defRPr>
            </a:lvl4pPr>
            <a:lvl5pPr marL="2228850" indent="-247650" defTabSz="990600" eaLnBrk="0" hangingPunct="0">
              <a:defRPr>
                <a:solidFill>
                  <a:schemeClr val="tx1"/>
                </a:solidFill>
                <a:latin typeface="Calibri" pitchFamily="34" charset="0"/>
                <a:cs typeface="Arial" charset="0"/>
              </a:defRPr>
            </a:lvl5pPr>
            <a:lvl6pPr marL="2686050" indent="-247650" defTabSz="990600" eaLnBrk="0" fontAlgn="base" hangingPunct="0">
              <a:spcBef>
                <a:spcPct val="0"/>
              </a:spcBef>
              <a:spcAft>
                <a:spcPct val="0"/>
              </a:spcAft>
              <a:defRPr>
                <a:solidFill>
                  <a:schemeClr val="tx1"/>
                </a:solidFill>
                <a:latin typeface="Calibri" pitchFamily="34" charset="0"/>
                <a:cs typeface="Arial" charset="0"/>
              </a:defRPr>
            </a:lvl6pPr>
            <a:lvl7pPr marL="3143250" indent="-247650" defTabSz="990600" eaLnBrk="0" fontAlgn="base" hangingPunct="0">
              <a:spcBef>
                <a:spcPct val="0"/>
              </a:spcBef>
              <a:spcAft>
                <a:spcPct val="0"/>
              </a:spcAft>
              <a:defRPr>
                <a:solidFill>
                  <a:schemeClr val="tx1"/>
                </a:solidFill>
                <a:latin typeface="Calibri" pitchFamily="34" charset="0"/>
                <a:cs typeface="Arial" charset="0"/>
              </a:defRPr>
            </a:lvl7pPr>
            <a:lvl8pPr marL="3600450" indent="-247650" defTabSz="990600" eaLnBrk="0" fontAlgn="base" hangingPunct="0">
              <a:spcBef>
                <a:spcPct val="0"/>
              </a:spcBef>
              <a:spcAft>
                <a:spcPct val="0"/>
              </a:spcAft>
              <a:defRPr>
                <a:solidFill>
                  <a:schemeClr val="tx1"/>
                </a:solidFill>
                <a:latin typeface="Calibri" pitchFamily="34" charset="0"/>
                <a:cs typeface="Arial" charset="0"/>
              </a:defRPr>
            </a:lvl8pPr>
            <a:lvl9pPr marL="4057650" indent="-247650" defTabSz="990600" eaLnBrk="0" fontAlgn="base" hangingPunct="0">
              <a:spcBef>
                <a:spcPct val="0"/>
              </a:spcBef>
              <a:spcAft>
                <a:spcPct val="0"/>
              </a:spcAft>
              <a:defRPr>
                <a:solidFill>
                  <a:schemeClr val="tx1"/>
                </a:solidFill>
                <a:latin typeface="Calibri" pitchFamily="34" charset="0"/>
                <a:cs typeface="Arial" charset="0"/>
              </a:defRPr>
            </a:lvl9pPr>
          </a:lstStyle>
          <a:p>
            <a:pPr algn="r" eaLnBrk="1" hangingPunct="1"/>
            <a:fld id="{612AA803-6D26-471B-A172-E1F383EA652A}" type="slidenum">
              <a:rPr lang="en-AU" sz="1300"/>
              <a:pPr algn="r" eaLnBrk="1" hangingPunct="1"/>
              <a:t>16</a:t>
            </a:fld>
            <a:endParaRPr lang="en-AU" sz="13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Notes Placeholder 2"/>
          <p:cNvSpPr>
            <a:spLocks noGrp="1"/>
          </p:cNvSpPr>
          <p:nvPr>
            <p:ph type="body" idx="1"/>
          </p:nvPr>
        </p:nvSpPr>
        <p:spPr/>
        <p:txBody>
          <a:bodyPr/>
          <a:lstStyle/>
          <a:p>
            <a:pPr marL="171450" indent="-171450" eaLnBrk="1" hangingPunct="1">
              <a:buFontTx/>
              <a:buChar char="•"/>
            </a:pPr>
            <a:r>
              <a:rPr lang="en-GB"/>
              <a:t>In a typical baseline closure the choice of exogenous variables is largely determined by the availability of independent forecasts data from reliable sources such as IMF, Treasury and other macroeconomic specialists. </a:t>
            </a:r>
          </a:p>
          <a:p>
            <a:pPr marL="171450" indent="-171450" eaLnBrk="1" hangingPunct="1">
              <a:buFontTx/>
              <a:buChar char="•"/>
            </a:pPr>
            <a:r>
              <a:rPr lang="en-GB"/>
              <a:t>Forecast data are usually available for naturally endogenous variables in the model. </a:t>
            </a:r>
          </a:p>
          <a:p>
            <a:pPr marL="171450" indent="-171450" eaLnBrk="1" hangingPunct="1">
              <a:buFontTx/>
              <a:buChar char="•"/>
            </a:pPr>
            <a:r>
              <a:rPr lang="en-GB"/>
              <a:t>To accommodate forecast data, these naturally endogenous variables are swapped with naturally exogenous variables. This allows the newly exogenous variables to be shocked with the data and allows structural variables to be determined endogenously. </a:t>
            </a:r>
          </a:p>
        </p:txBody>
      </p:sp>
      <p:sp>
        <p:nvSpPr>
          <p:cNvPr id="4" name="Slide Number Placeholder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eaLnBrk="0" hangingPunct="0">
              <a:defRPr>
                <a:solidFill>
                  <a:schemeClr val="tx1"/>
                </a:solidFill>
                <a:latin typeface="Calibri" pitchFamily="34" charset="0"/>
                <a:cs typeface="Arial" charset="0"/>
              </a:defRPr>
            </a:lvl1pPr>
            <a:lvl2pPr marL="804863" indent="-309563" defTabSz="990600" eaLnBrk="0" hangingPunct="0">
              <a:defRPr>
                <a:solidFill>
                  <a:schemeClr val="tx1"/>
                </a:solidFill>
                <a:latin typeface="Calibri" pitchFamily="34" charset="0"/>
                <a:cs typeface="Arial" charset="0"/>
              </a:defRPr>
            </a:lvl2pPr>
            <a:lvl3pPr marL="1238250" indent="-247650" defTabSz="990600" eaLnBrk="0" hangingPunct="0">
              <a:defRPr>
                <a:solidFill>
                  <a:schemeClr val="tx1"/>
                </a:solidFill>
                <a:latin typeface="Calibri" pitchFamily="34" charset="0"/>
                <a:cs typeface="Arial" charset="0"/>
              </a:defRPr>
            </a:lvl3pPr>
            <a:lvl4pPr marL="1733550" indent="-247650" defTabSz="990600" eaLnBrk="0" hangingPunct="0">
              <a:defRPr>
                <a:solidFill>
                  <a:schemeClr val="tx1"/>
                </a:solidFill>
                <a:latin typeface="Calibri" pitchFamily="34" charset="0"/>
                <a:cs typeface="Arial" charset="0"/>
              </a:defRPr>
            </a:lvl4pPr>
            <a:lvl5pPr marL="2228850" indent="-247650" defTabSz="990600" eaLnBrk="0" hangingPunct="0">
              <a:defRPr>
                <a:solidFill>
                  <a:schemeClr val="tx1"/>
                </a:solidFill>
                <a:latin typeface="Calibri" pitchFamily="34" charset="0"/>
                <a:cs typeface="Arial" charset="0"/>
              </a:defRPr>
            </a:lvl5pPr>
            <a:lvl6pPr marL="2686050" indent="-247650" defTabSz="990600" eaLnBrk="0" fontAlgn="base" hangingPunct="0">
              <a:spcBef>
                <a:spcPct val="0"/>
              </a:spcBef>
              <a:spcAft>
                <a:spcPct val="0"/>
              </a:spcAft>
              <a:defRPr>
                <a:solidFill>
                  <a:schemeClr val="tx1"/>
                </a:solidFill>
                <a:latin typeface="Calibri" pitchFamily="34" charset="0"/>
                <a:cs typeface="Arial" charset="0"/>
              </a:defRPr>
            </a:lvl6pPr>
            <a:lvl7pPr marL="3143250" indent="-247650" defTabSz="990600" eaLnBrk="0" fontAlgn="base" hangingPunct="0">
              <a:spcBef>
                <a:spcPct val="0"/>
              </a:spcBef>
              <a:spcAft>
                <a:spcPct val="0"/>
              </a:spcAft>
              <a:defRPr>
                <a:solidFill>
                  <a:schemeClr val="tx1"/>
                </a:solidFill>
                <a:latin typeface="Calibri" pitchFamily="34" charset="0"/>
                <a:cs typeface="Arial" charset="0"/>
              </a:defRPr>
            </a:lvl7pPr>
            <a:lvl8pPr marL="3600450" indent="-247650" defTabSz="990600" eaLnBrk="0" fontAlgn="base" hangingPunct="0">
              <a:spcBef>
                <a:spcPct val="0"/>
              </a:spcBef>
              <a:spcAft>
                <a:spcPct val="0"/>
              </a:spcAft>
              <a:defRPr>
                <a:solidFill>
                  <a:schemeClr val="tx1"/>
                </a:solidFill>
                <a:latin typeface="Calibri" pitchFamily="34" charset="0"/>
                <a:cs typeface="Arial" charset="0"/>
              </a:defRPr>
            </a:lvl8pPr>
            <a:lvl9pPr marL="4057650" indent="-247650" defTabSz="990600" eaLnBrk="0" fontAlgn="base" hangingPunct="0">
              <a:spcBef>
                <a:spcPct val="0"/>
              </a:spcBef>
              <a:spcAft>
                <a:spcPct val="0"/>
              </a:spcAft>
              <a:defRPr>
                <a:solidFill>
                  <a:schemeClr val="tx1"/>
                </a:solidFill>
                <a:latin typeface="Calibri" pitchFamily="34" charset="0"/>
                <a:cs typeface="Arial" charset="0"/>
              </a:defRPr>
            </a:lvl9pPr>
          </a:lstStyle>
          <a:p>
            <a:pPr algn="r" eaLnBrk="1" hangingPunct="1"/>
            <a:fld id="{6B4FB28D-CA8C-4FC6-82FB-74104C9E5B49}" type="slidenum">
              <a:rPr lang="en-AU" sz="1300"/>
              <a:pPr algn="r" eaLnBrk="1" hangingPunct="1"/>
              <a:t>18</a:t>
            </a:fld>
            <a:endParaRPr lang="en-AU" sz="13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026"/>
          <p:cNvSpPr>
            <a:spLocks noGrp="1" noRot="1" noChangeAspect="1" noChangeArrowheads="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Rectangle 1027"/>
          <p:cNvSpPr>
            <a:spLocks noGrp="1" noChangeArrowheads="1"/>
          </p:cNvSpPr>
          <p:nvPr>
            <p:ph type="body" idx="1"/>
          </p:nvPr>
        </p:nvSpPr>
        <p:spPr>
          <a:ln/>
        </p:spPr>
        <p:txBody>
          <a:bodyPr/>
          <a:lstStyle/>
          <a:p>
            <a:endParaRPr lang="en-AU"/>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marL="171450" indent="-171450" eaLnBrk="1" hangingPunct="1">
              <a:buFontTx/>
              <a:buChar char="•"/>
            </a:pPr>
            <a:r>
              <a:rPr lang="en-GB"/>
              <a:t>In a typical baseline closure the choice of exogenous variables is largely determined by the availability of independent forecasts data from reliable sources such as IMF, Treasury and other macroeconomic specialists. </a:t>
            </a:r>
          </a:p>
          <a:p>
            <a:pPr marL="171450" indent="-171450" eaLnBrk="1" hangingPunct="1">
              <a:buFontTx/>
              <a:buChar char="•"/>
            </a:pPr>
            <a:r>
              <a:rPr lang="en-GB"/>
              <a:t>Forecast data are usually available for naturally endogenous variables in the model. </a:t>
            </a:r>
          </a:p>
          <a:p>
            <a:pPr marL="171450" indent="-171450" eaLnBrk="1" hangingPunct="1">
              <a:buFontTx/>
              <a:buChar char="•"/>
            </a:pPr>
            <a:r>
              <a:rPr lang="en-GB"/>
              <a:t>To accommodate forecast data, these naturally endogenous variables are swapped with naturally exogenous variables. This allows the newly exogenous variables to be shocked with the data and allows structural variables to be determined endogenously. </a:t>
            </a:r>
          </a:p>
          <a:p>
            <a:pPr marL="171450" indent="-171450" eaLnBrk="1" hangingPunct="1"/>
            <a:endParaRPr lang="en-AU"/>
          </a:p>
          <a:p>
            <a:pPr marL="171450" indent="-171450" eaLnBrk="1" hangingPunct="1"/>
            <a:endParaRPr lang="en-AU"/>
          </a:p>
        </p:txBody>
      </p:sp>
      <p:sp>
        <p:nvSpPr>
          <p:cNvPr id="4" name="Slide Number Placeholder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eaLnBrk="0" hangingPunct="0">
              <a:defRPr>
                <a:solidFill>
                  <a:schemeClr val="tx1"/>
                </a:solidFill>
                <a:latin typeface="Calibri" pitchFamily="34" charset="0"/>
                <a:cs typeface="Arial" charset="0"/>
              </a:defRPr>
            </a:lvl1pPr>
            <a:lvl2pPr marL="804863" indent="-309563" defTabSz="990600" eaLnBrk="0" hangingPunct="0">
              <a:defRPr>
                <a:solidFill>
                  <a:schemeClr val="tx1"/>
                </a:solidFill>
                <a:latin typeface="Calibri" pitchFamily="34" charset="0"/>
                <a:cs typeface="Arial" charset="0"/>
              </a:defRPr>
            </a:lvl2pPr>
            <a:lvl3pPr marL="1238250" indent="-247650" defTabSz="990600" eaLnBrk="0" hangingPunct="0">
              <a:defRPr>
                <a:solidFill>
                  <a:schemeClr val="tx1"/>
                </a:solidFill>
                <a:latin typeface="Calibri" pitchFamily="34" charset="0"/>
                <a:cs typeface="Arial" charset="0"/>
              </a:defRPr>
            </a:lvl3pPr>
            <a:lvl4pPr marL="1733550" indent="-247650" defTabSz="990600" eaLnBrk="0" hangingPunct="0">
              <a:defRPr>
                <a:solidFill>
                  <a:schemeClr val="tx1"/>
                </a:solidFill>
                <a:latin typeface="Calibri" pitchFamily="34" charset="0"/>
                <a:cs typeface="Arial" charset="0"/>
              </a:defRPr>
            </a:lvl4pPr>
            <a:lvl5pPr marL="2228850" indent="-247650" defTabSz="990600" eaLnBrk="0" hangingPunct="0">
              <a:defRPr>
                <a:solidFill>
                  <a:schemeClr val="tx1"/>
                </a:solidFill>
                <a:latin typeface="Calibri" pitchFamily="34" charset="0"/>
                <a:cs typeface="Arial" charset="0"/>
              </a:defRPr>
            </a:lvl5pPr>
            <a:lvl6pPr marL="2686050" indent="-247650" defTabSz="990600" eaLnBrk="0" fontAlgn="base" hangingPunct="0">
              <a:spcBef>
                <a:spcPct val="0"/>
              </a:spcBef>
              <a:spcAft>
                <a:spcPct val="0"/>
              </a:spcAft>
              <a:defRPr>
                <a:solidFill>
                  <a:schemeClr val="tx1"/>
                </a:solidFill>
                <a:latin typeface="Calibri" pitchFamily="34" charset="0"/>
                <a:cs typeface="Arial" charset="0"/>
              </a:defRPr>
            </a:lvl6pPr>
            <a:lvl7pPr marL="3143250" indent="-247650" defTabSz="990600" eaLnBrk="0" fontAlgn="base" hangingPunct="0">
              <a:spcBef>
                <a:spcPct val="0"/>
              </a:spcBef>
              <a:spcAft>
                <a:spcPct val="0"/>
              </a:spcAft>
              <a:defRPr>
                <a:solidFill>
                  <a:schemeClr val="tx1"/>
                </a:solidFill>
                <a:latin typeface="Calibri" pitchFamily="34" charset="0"/>
                <a:cs typeface="Arial" charset="0"/>
              </a:defRPr>
            </a:lvl7pPr>
            <a:lvl8pPr marL="3600450" indent="-247650" defTabSz="990600" eaLnBrk="0" fontAlgn="base" hangingPunct="0">
              <a:spcBef>
                <a:spcPct val="0"/>
              </a:spcBef>
              <a:spcAft>
                <a:spcPct val="0"/>
              </a:spcAft>
              <a:defRPr>
                <a:solidFill>
                  <a:schemeClr val="tx1"/>
                </a:solidFill>
                <a:latin typeface="Calibri" pitchFamily="34" charset="0"/>
                <a:cs typeface="Arial" charset="0"/>
              </a:defRPr>
            </a:lvl8pPr>
            <a:lvl9pPr marL="4057650" indent="-247650" defTabSz="990600" eaLnBrk="0" fontAlgn="base" hangingPunct="0">
              <a:spcBef>
                <a:spcPct val="0"/>
              </a:spcBef>
              <a:spcAft>
                <a:spcPct val="0"/>
              </a:spcAft>
              <a:defRPr>
                <a:solidFill>
                  <a:schemeClr val="tx1"/>
                </a:solidFill>
                <a:latin typeface="Calibri" pitchFamily="34" charset="0"/>
                <a:cs typeface="Arial" charset="0"/>
              </a:defRPr>
            </a:lvl9pPr>
          </a:lstStyle>
          <a:p>
            <a:pPr algn="r" eaLnBrk="1" hangingPunct="1"/>
            <a:fld id="{ACAE7FD3-9C1D-4524-BB0A-D4CBD95F6D6D}" type="slidenum">
              <a:rPr lang="en-AU" sz="1300"/>
              <a:pPr algn="r" eaLnBrk="1" hangingPunct="1"/>
              <a:t>25</a:t>
            </a:fld>
            <a:endParaRPr lang="en-AU" sz="13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id-ID"/>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id-ID"/>
          </a:p>
        </p:txBody>
      </p:sp>
      <p:sp>
        <p:nvSpPr>
          <p:cNvPr id="4" name="Date Placeholder 3"/>
          <p:cNvSpPr>
            <a:spLocks noGrp="1"/>
          </p:cNvSpPr>
          <p:nvPr>
            <p:ph type="dt" sz="half" idx="10"/>
          </p:nvPr>
        </p:nvSpPr>
        <p:spPr/>
        <p:txBody>
          <a:bodyPr/>
          <a:lstStyle>
            <a:lvl1pPr>
              <a:defRPr/>
            </a:lvl1pPr>
          </a:lstStyle>
          <a:p>
            <a:fld id="{C32027E3-44FD-4384-AF5F-41092D627F2C}" type="datetime1">
              <a:rPr lang="en-AU"/>
              <a:pPr/>
              <a:t>11/03/2020</a:t>
            </a:fld>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3D1F9722-02B9-47A5-9D70-2D050FCD4227}" type="slidenum">
              <a:rPr lang="en-AU"/>
              <a:pPr/>
              <a:t>‹#›</a:t>
            </a:fld>
            <a:endParaRPr lang="en-AU"/>
          </a:p>
        </p:txBody>
      </p:sp>
    </p:spTree>
    <p:extLst>
      <p:ext uri="{BB962C8B-B14F-4D97-AF65-F5344CB8AC3E}">
        <p14:creationId xmlns:p14="http://schemas.microsoft.com/office/powerpoint/2010/main" val="3672051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lvl1pPr>
              <a:defRPr/>
            </a:lvl1pPr>
          </a:lstStyle>
          <a:p>
            <a:fld id="{AA37C699-C791-4112-90EF-11B820CEC471}" type="datetime1">
              <a:rPr lang="en-AU"/>
              <a:pPr/>
              <a:t>11/03/2020</a:t>
            </a:fld>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E793D9CC-FD3B-44C2-8C58-EFDC71809D66}" type="slidenum">
              <a:rPr lang="en-AU"/>
              <a:pPr/>
              <a:t>‹#›</a:t>
            </a:fld>
            <a:endParaRPr lang="en-AU"/>
          </a:p>
        </p:txBody>
      </p:sp>
    </p:spTree>
    <p:extLst>
      <p:ext uri="{BB962C8B-B14F-4D97-AF65-F5344CB8AC3E}">
        <p14:creationId xmlns:p14="http://schemas.microsoft.com/office/powerpoint/2010/main" val="3925876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id-ID"/>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EBED0302-EB20-40BA-9E8E-BFF07943F0D4}" type="datetime1">
              <a:rPr lang="en-AU"/>
              <a:pPr/>
              <a:t>11/03/2020</a:t>
            </a:fld>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A3E2D944-A18A-4DB4-A039-FAA2909C2104}" type="slidenum">
              <a:rPr lang="en-AU"/>
              <a:pPr/>
              <a:t>‹#›</a:t>
            </a:fld>
            <a:endParaRPr lang="en-AU"/>
          </a:p>
        </p:txBody>
      </p:sp>
    </p:spTree>
    <p:extLst>
      <p:ext uri="{BB962C8B-B14F-4D97-AF65-F5344CB8AC3E}">
        <p14:creationId xmlns:p14="http://schemas.microsoft.com/office/powerpoint/2010/main" val="5703962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Date Placeholder 4"/>
          <p:cNvSpPr>
            <a:spLocks noGrp="1"/>
          </p:cNvSpPr>
          <p:nvPr>
            <p:ph type="dt" sz="half" idx="10"/>
          </p:nvPr>
        </p:nvSpPr>
        <p:spPr/>
        <p:txBody>
          <a:bodyPr/>
          <a:lstStyle>
            <a:lvl1pPr>
              <a:defRPr/>
            </a:lvl1pPr>
          </a:lstStyle>
          <a:p>
            <a:fld id="{7A05495A-F834-4214-B9D0-3E74AD80D48C}" type="datetime1">
              <a:rPr lang="en-AU"/>
              <a:pPr/>
              <a:t>11/03/2020</a:t>
            </a:fld>
            <a:endParaRPr lang="en-AU"/>
          </a:p>
        </p:txBody>
      </p:sp>
      <p:sp>
        <p:nvSpPr>
          <p:cNvPr id="6" name="Footer Placeholder 5"/>
          <p:cNvSpPr>
            <a:spLocks noGrp="1"/>
          </p:cNvSpPr>
          <p:nvPr>
            <p:ph type="ftr" sz="quarter" idx="11"/>
          </p:nvPr>
        </p:nvSpPr>
        <p:spPr/>
        <p:txBody>
          <a:bodyPr/>
          <a:lstStyle>
            <a:lvl1pPr>
              <a:defRPr/>
            </a:lvl1pPr>
          </a:lstStyle>
          <a:p>
            <a:endParaRPr lang="en-AU"/>
          </a:p>
        </p:txBody>
      </p:sp>
      <p:sp>
        <p:nvSpPr>
          <p:cNvPr id="7" name="Slide Number Placeholder 6"/>
          <p:cNvSpPr>
            <a:spLocks noGrp="1"/>
          </p:cNvSpPr>
          <p:nvPr>
            <p:ph type="sldNum" sz="quarter" idx="12"/>
          </p:nvPr>
        </p:nvSpPr>
        <p:spPr/>
        <p:txBody>
          <a:bodyPr/>
          <a:lstStyle>
            <a:lvl1pPr>
              <a:defRPr/>
            </a:lvl1pPr>
          </a:lstStyle>
          <a:p>
            <a:fld id="{26295DB2-B24B-45F0-932E-2C8588FC8D27}" type="slidenum">
              <a:rPr lang="en-AU"/>
              <a:pPr/>
              <a:t>‹#›</a:t>
            </a:fld>
            <a:endParaRPr lang="en-AU"/>
          </a:p>
        </p:txBody>
      </p:sp>
    </p:spTree>
    <p:extLst>
      <p:ext uri="{BB962C8B-B14F-4D97-AF65-F5344CB8AC3E}">
        <p14:creationId xmlns:p14="http://schemas.microsoft.com/office/powerpoint/2010/main" val="2777401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id-ID"/>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7" name="Date Placeholder 6"/>
          <p:cNvSpPr>
            <a:spLocks noGrp="1"/>
          </p:cNvSpPr>
          <p:nvPr>
            <p:ph type="dt" sz="half" idx="10"/>
          </p:nvPr>
        </p:nvSpPr>
        <p:spPr/>
        <p:txBody>
          <a:bodyPr/>
          <a:lstStyle>
            <a:lvl1pPr>
              <a:defRPr/>
            </a:lvl1pPr>
          </a:lstStyle>
          <a:p>
            <a:fld id="{92941AEE-9846-44F9-9808-9E2EBD7ABB86}" type="datetime1">
              <a:rPr lang="en-AU"/>
              <a:pPr/>
              <a:t>11/03/2020</a:t>
            </a:fld>
            <a:endParaRPr lang="en-AU"/>
          </a:p>
        </p:txBody>
      </p:sp>
      <p:sp>
        <p:nvSpPr>
          <p:cNvPr id="8" name="Footer Placeholder 7"/>
          <p:cNvSpPr>
            <a:spLocks noGrp="1"/>
          </p:cNvSpPr>
          <p:nvPr>
            <p:ph type="ftr" sz="quarter" idx="11"/>
          </p:nvPr>
        </p:nvSpPr>
        <p:spPr/>
        <p:txBody>
          <a:bodyPr/>
          <a:lstStyle>
            <a:lvl1pPr>
              <a:defRPr/>
            </a:lvl1pPr>
          </a:lstStyle>
          <a:p>
            <a:endParaRPr lang="en-AU"/>
          </a:p>
        </p:txBody>
      </p:sp>
      <p:sp>
        <p:nvSpPr>
          <p:cNvPr id="9" name="Slide Number Placeholder 8"/>
          <p:cNvSpPr>
            <a:spLocks noGrp="1"/>
          </p:cNvSpPr>
          <p:nvPr>
            <p:ph type="sldNum" sz="quarter" idx="12"/>
          </p:nvPr>
        </p:nvSpPr>
        <p:spPr/>
        <p:txBody>
          <a:bodyPr/>
          <a:lstStyle>
            <a:lvl1pPr>
              <a:defRPr/>
            </a:lvl1pPr>
          </a:lstStyle>
          <a:p>
            <a:fld id="{3FA9691D-3DE2-4A53-8BFB-2EC8E1170F4A}" type="slidenum">
              <a:rPr lang="en-AU"/>
              <a:pPr/>
              <a:t>‹#›</a:t>
            </a:fld>
            <a:endParaRPr lang="en-AU"/>
          </a:p>
        </p:txBody>
      </p:sp>
    </p:spTree>
    <p:extLst>
      <p:ext uri="{BB962C8B-B14F-4D97-AF65-F5344CB8AC3E}">
        <p14:creationId xmlns:p14="http://schemas.microsoft.com/office/powerpoint/2010/main" val="3014157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Date Placeholder 2"/>
          <p:cNvSpPr>
            <a:spLocks noGrp="1"/>
          </p:cNvSpPr>
          <p:nvPr>
            <p:ph type="dt" sz="half" idx="10"/>
          </p:nvPr>
        </p:nvSpPr>
        <p:spPr/>
        <p:txBody>
          <a:bodyPr/>
          <a:lstStyle>
            <a:lvl1pPr>
              <a:defRPr/>
            </a:lvl1pPr>
          </a:lstStyle>
          <a:p>
            <a:fld id="{B95CEE9C-3ADE-465C-A250-E6DA81404663}" type="datetime1">
              <a:rPr lang="en-AU"/>
              <a:pPr/>
              <a:t>11/03/2020</a:t>
            </a:fld>
            <a:endParaRPr lang="en-AU"/>
          </a:p>
        </p:txBody>
      </p:sp>
      <p:sp>
        <p:nvSpPr>
          <p:cNvPr id="4" name="Footer Placeholder 3"/>
          <p:cNvSpPr>
            <a:spLocks noGrp="1"/>
          </p:cNvSpPr>
          <p:nvPr>
            <p:ph type="ftr" sz="quarter" idx="11"/>
          </p:nvPr>
        </p:nvSpPr>
        <p:spPr/>
        <p:txBody>
          <a:bodyPr/>
          <a:lstStyle>
            <a:lvl1pPr>
              <a:defRPr/>
            </a:lvl1pPr>
          </a:lstStyle>
          <a:p>
            <a:endParaRPr lang="en-AU"/>
          </a:p>
        </p:txBody>
      </p:sp>
      <p:sp>
        <p:nvSpPr>
          <p:cNvPr id="5" name="Slide Number Placeholder 4"/>
          <p:cNvSpPr>
            <a:spLocks noGrp="1"/>
          </p:cNvSpPr>
          <p:nvPr>
            <p:ph type="sldNum" sz="quarter" idx="12"/>
          </p:nvPr>
        </p:nvSpPr>
        <p:spPr/>
        <p:txBody>
          <a:bodyPr/>
          <a:lstStyle>
            <a:lvl1pPr>
              <a:defRPr/>
            </a:lvl1pPr>
          </a:lstStyle>
          <a:p>
            <a:fld id="{EA2C845F-6752-49C8-BB8D-D173DB68B2C0}" type="slidenum">
              <a:rPr lang="en-AU"/>
              <a:pPr/>
              <a:t>‹#›</a:t>
            </a:fld>
            <a:endParaRPr lang="en-AU"/>
          </a:p>
        </p:txBody>
      </p:sp>
    </p:spTree>
    <p:extLst>
      <p:ext uri="{BB962C8B-B14F-4D97-AF65-F5344CB8AC3E}">
        <p14:creationId xmlns:p14="http://schemas.microsoft.com/office/powerpoint/2010/main" val="382254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D0B063E4-45E8-409C-B9DC-34D49E85C7E3}" type="datetime1">
              <a:rPr lang="en-AU"/>
              <a:pPr/>
              <a:t>11/03/2020</a:t>
            </a:fld>
            <a:endParaRPr lang="en-AU"/>
          </a:p>
        </p:txBody>
      </p:sp>
      <p:sp>
        <p:nvSpPr>
          <p:cNvPr id="3" name="Footer Placeholder 2"/>
          <p:cNvSpPr>
            <a:spLocks noGrp="1"/>
          </p:cNvSpPr>
          <p:nvPr>
            <p:ph type="ftr" sz="quarter" idx="11"/>
          </p:nvPr>
        </p:nvSpPr>
        <p:spPr/>
        <p:txBody>
          <a:bodyPr/>
          <a:lstStyle>
            <a:lvl1pPr>
              <a:defRPr/>
            </a:lvl1pPr>
          </a:lstStyle>
          <a:p>
            <a:endParaRPr lang="en-AU"/>
          </a:p>
        </p:txBody>
      </p:sp>
      <p:sp>
        <p:nvSpPr>
          <p:cNvPr id="4" name="Slide Number Placeholder 3"/>
          <p:cNvSpPr>
            <a:spLocks noGrp="1"/>
          </p:cNvSpPr>
          <p:nvPr>
            <p:ph type="sldNum" sz="quarter" idx="12"/>
          </p:nvPr>
        </p:nvSpPr>
        <p:spPr/>
        <p:txBody>
          <a:bodyPr/>
          <a:lstStyle>
            <a:lvl1pPr>
              <a:defRPr/>
            </a:lvl1pPr>
          </a:lstStyle>
          <a:p>
            <a:fld id="{AA3BC387-1F7F-454A-BA30-1AEAFB41D0B8}" type="slidenum">
              <a:rPr lang="en-AU"/>
              <a:pPr/>
              <a:t>‹#›</a:t>
            </a:fld>
            <a:endParaRPr lang="en-AU"/>
          </a:p>
        </p:txBody>
      </p:sp>
    </p:spTree>
    <p:extLst>
      <p:ext uri="{BB962C8B-B14F-4D97-AF65-F5344CB8AC3E}">
        <p14:creationId xmlns:p14="http://schemas.microsoft.com/office/powerpoint/2010/main" val="40929441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id-ID"/>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9759B634-91E6-421F-9ECC-D38CCF345FB5}" type="datetime1">
              <a:rPr lang="en-AU"/>
              <a:pPr/>
              <a:t>11/03/2020</a:t>
            </a:fld>
            <a:endParaRPr lang="en-AU"/>
          </a:p>
        </p:txBody>
      </p:sp>
      <p:sp>
        <p:nvSpPr>
          <p:cNvPr id="6" name="Footer Placeholder 5"/>
          <p:cNvSpPr>
            <a:spLocks noGrp="1"/>
          </p:cNvSpPr>
          <p:nvPr>
            <p:ph type="ftr" sz="quarter" idx="11"/>
          </p:nvPr>
        </p:nvSpPr>
        <p:spPr/>
        <p:txBody>
          <a:bodyPr/>
          <a:lstStyle>
            <a:lvl1pPr>
              <a:defRPr/>
            </a:lvl1pPr>
          </a:lstStyle>
          <a:p>
            <a:endParaRPr lang="en-AU"/>
          </a:p>
        </p:txBody>
      </p:sp>
      <p:sp>
        <p:nvSpPr>
          <p:cNvPr id="7" name="Slide Number Placeholder 6"/>
          <p:cNvSpPr>
            <a:spLocks noGrp="1"/>
          </p:cNvSpPr>
          <p:nvPr>
            <p:ph type="sldNum" sz="quarter" idx="12"/>
          </p:nvPr>
        </p:nvSpPr>
        <p:spPr/>
        <p:txBody>
          <a:bodyPr/>
          <a:lstStyle>
            <a:lvl1pPr>
              <a:defRPr/>
            </a:lvl1pPr>
          </a:lstStyle>
          <a:p>
            <a:fld id="{23F0015F-5585-413E-9187-BB536C5685C8}" type="slidenum">
              <a:rPr lang="en-AU"/>
              <a:pPr/>
              <a:t>‹#›</a:t>
            </a:fld>
            <a:endParaRPr lang="en-AU"/>
          </a:p>
        </p:txBody>
      </p:sp>
    </p:spTree>
    <p:extLst>
      <p:ext uri="{BB962C8B-B14F-4D97-AF65-F5344CB8AC3E}">
        <p14:creationId xmlns:p14="http://schemas.microsoft.com/office/powerpoint/2010/main" val="1670386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id-ID"/>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d-ID"/>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A58EC920-6FAC-418C-8A96-D08FA95E6308}" type="datetime1">
              <a:rPr lang="en-AU"/>
              <a:pPr/>
              <a:t>11/03/2020</a:t>
            </a:fld>
            <a:endParaRPr lang="en-AU"/>
          </a:p>
        </p:txBody>
      </p:sp>
      <p:sp>
        <p:nvSpPr>
          <p:cNvPr id="6" name="Footer Placeholder 5"/>
          <p:cNvSpPr>
            <a:spLocks noGrp="1"/>
          </p:cNvSpPr>
          <p:nvPr>
            <p:ph type="ftr" sz="quarter" idx="11"/>
          </p:nvPr>
        </p:nvSpPr>
        <p:spPr/>
        <p:txBody>
          <a:bodyPr/>
          <a:lstStyle>
            <a:lvl1pPr>
              <a:defRPr/>
            </a:lvl1pPr>
          </a:lstStyle>
          <a:p>
            <a:endParaRPr lang="en-AU"/>
          </a:p>
        </p:txBody>
      </p:sp>
      <p:sp>
        <p:nvSpPr>
          <p:cNvPr id="7" name="Slide Number Placeholder 6"/>
          <p:cNvSpPr>
            <a:spLocks noGrp="1"/>
          </p:cNvSpPr>
          <p:nvPr>
            <p:ph type="sldNum" sz="quarter" idx="12"/>
          </p:nvPr>
        </p:nvSpPr>
        <p:spPr/>
        <p:txBody>
          <a:bodyPr/>
          <a:lstStyle>
            <a:lvl1pPr>
              <a:defRPr/>
            </a:lvl1pPr>
          </a:lstStyle>
          <a:p>
            <a:fld id="{AEB3C160-C0EB-49E5-A4C0-62EDB71921B7}" type="slidenum">
              <a:rPr lang="en-AU"/>
              <a:pPr/>
              <a:t>‹#›</a:t>
            </a:fld>
            <a:endParaRPr lang="en-AU"/>
          </a:p>
        </p:txBody>
      </p:sp>
    </p:spTree>
    <p:extLst>
      <p:ext uri="{BB962C8B-B14F-4D97-AF65-F5344CB8AC3E}">
        <p14:creationId xmlns:p14="http://schemas.microsoft.com/office/powerpoint/2010/main" val="16437625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lvl1pPr>
              <a:defRPr/>
            </a:lvl1pPr>
          </a:lstStyle>
          <a:p>
            <a:fld id="{BCFB2472-E9E3-4F82-8471-69B3FFA31FCD}" type="datetime1">
              <a:rPr lang="en-AU"/>
              <a:pPr/>
              <a:t>11/03/2020</a:t>
            </a:fld>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379B785F-A78E-4EF8-B832-8F7EDB8C0496}" type="slidenum">
              <a:rPr lang="en-AU"/>
              <a:pPr/>
              <a:t>‹#›</a:t>
            </a:fld>
            <a:endParaRPr lang="en-AU"/>
          </a:p>
        </p:txBody>
      </p:sp>
    </p:spTree>
    <p:extLst>
      <p:ext uri="{BB962C8B-B14F-4D97-AF65-F5344CB8AC3E}">
        <p14:creationId xmlns:p14="http://schemas.microsoft.com/office/powerpoint/2010/main" val="1087704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id-ID"/>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lvl1pPr>
              <a:defRPr/>
            </a:lvl1pPr>
          </a:lstStyle>
          <a:p>
            <a:fld id="{AEBA9466-2084-4A33-A303-7F886CAAEF1D}" type="datetime1">
              <a:rPr lang="en-AU"/>
              <a:pPr/>
              <a:t>11/03/2020</a:t>
            </a:fld>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3D24B743-F697-4AAF-9B7C-E1D0EFE42AE2}" type="slidenum">
              <a:rPr lang="en-AU"/>
              <a:pPr/>
              <a:t>‹#›</a:t>
            </a:fld>
            <a:endParaRPr lang="en-AU"/>
          </a:p>
        </p:txBody>
      </p:sp>
    </p:spTree>
    <p:extLst>
      <p:ext uri="{BB962C8B-B14F-4D97-AF65-F5344CB8AC3E}">
        <p14:creationId xmlns:p14="http://schemas.microsoft.com/office/powerpoint/2010/main" val="4072066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en-AU"/>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fld id="{7C60A3B1-4DD8-40A6-B49F-F63AFC9F850B}" type="datetime1">
              <a:rPr lang="en-AU"/>
              <a:pPr/>
              <a:t>11/03/2020</a:t>
            </a:fld>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defRPr>
            </a:lvl1pPr>
          </a:lstStyle>
          <a:p>
            <a:endParaRPr lang="en-A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8AE60AC3-E765-41AC-ABCF-ED21B0AE19CA}" type="slidenum">
              <a:rPr lang="en-AU"/>
              <a:pPr/>
              <a:t>‹#›</a:t>
            </a:fld>
            <a:endParaRPr lang="en-A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eaLnBrk="0" fontAlgn="base" hangingPunct="0">
        <a:spcBef>
          <a:spcPct val="0"/>
        </a:spcBef>
        <a:spcAft>
          <a:spcPct val="0"/>
        </a:spcAft>
        <a:defRPr sz="44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0" fontAlgn="base" hangingPunct="0">
        <a:spcBef>
          <a:spcPct val="0"/>
        </a:spcBef>
        <a:spcAft>
          <a:spcPct val="0"/>
        </a:spcAft>
        <a:defRPr sz="4400">
          <a:solidFill>
            <a:schemeClr val="tx1"/>
          </a:solidFill>
          <a:latin typeface="Calibri" pitchFamily="34" charset="0"/>
        </a:defRPr>
      </a:lvl6pPr>
      <a:lvl7pPr marL="914400" algn="ctr" rtl="0" eaLnBrk="0" fontAlgn="base" hangingPunct="0">
        <a:spcBef>
          <a:spcPct val="0"/>
        </a:spcBef>
        <a:spcAft>
          <a:spcPct val="0"/>
        </a:spcAft>
        <a:defRPr sz="4400">
          <a:solidFill>
            <a:schemeClr val="tx1"/>
          </a:solidFill>
          <a:latin typeface="Calibri" pitchFamily="34" charset="0"/>
        </a:defRPr>
      </a:lvl7pPr>
      <a:lvl8pPr marL="1371600" algn="ctr" rtl="0" eaLnBrk="0" fontAlgn="base" hangingPunct="0">
        <a:spcBef>
          <a:spcPct val="0"/>
        </a:spcBef>
        <a:spcAft>
          <a:spcPct val="0"/>
        </a:spcAft>
        <a:defRPr sz="4400">
          <a:solidFill>
            <a:schemeClr val="tx1"/>
          </a:solidFill>
          <a:latin typeface="Calibri" pitchFamily="34" charset="0"/>
        </a:defRPr>
      </a:lvl8pPr>
      <a:lvl9pPr marL="1828800" algn="ctr" rtl="0" eaLnBrk="0" fontAlgn="base" hangingPunct="0">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a:solidFill>
            <a:schemeClr val="tx1"/>
          </a:solidFill>
          <a:latin typeface="+mn-lt"/>
        </a:defRPr>
      </a:lvl2pPr>
      <a:lvl3pPr marL="1143000" indent="-228600" algn="l" rtl="0" eaLnBrk="0" fontAlgn="base" hangingPunct="0">
        <a:spcBef>
          <a:spcPct val="20000"/>
        </a:spcBef>
        <a:spcAft>
          <a:spcPct val="0"/>
        </a:spcAft>
        <a:buFont typeface="Arial" charset="0"/>
        <a:buChar char="•"/>
        <a:defRPr sz="2400">
          <a:solidFill>
            <a:schemeClr val="tx1"/>
          </a:solidFill>
          <a:latin typeface="+mn-lt"/>
        </a:defRPr>
      </a:lvl3pPr>
      <a:lvl4pPr marL="1600200" indent="-228600" algn="l" rtl="0" eaLnBrk="0" fontAlgn="base" hangingPunct="0">
        <a:spcBef>
          <a:spcPct val="20000"/>
        </a:spcBef>
        <a:spcAft>
          <a:spcPct val="0"/>
        </a:spcAft>
        <a:buFont typeface="Arial" charset="0"/>
        <a:buChar char="–"/>
        <a:defRPr sz="2000">
          <a:solidFill>
            <a:schemeClr val="tx1"/>
          </a:solidFill>
          <a:latin typeface="+mn-lt"/>
        </a:defRPr>
      </a:lvl4pPr>
      <a:lvl5pPr marL="2057400" indent="-228600" algn="l" rtl="0" eaLnBrk="0" fontAlgn="base" hangingPunct="0">
        <a:spcBef>
          <a:spcPct val="20000"/>
        </a:spcBef>
        <a:spcAft>
          <a:spcPct val="0"/>
        </a:spcAft>
        <a:buFont typeface="Arial" charset="0"/>
        <a:buChar char="»"/>
        <a:defRPr sz="2000">
          <a:solidFill>
            <a:schemeClr val="tx1"/>
          </a:solidFill>
          <a:latin typeface="+mn-lt"/>
        </a:defRPr>
      </a:lvl5pPr>
      <a:lvl6pPr marL="2514600" indent="-228600" algn="l" rtl="0" eaLnBrk="0" fontAlgn="base" hangingPunct="0">
        <a:spcBef>
          <a:spcPct val="20000"/>
        </a:spcBef>
        <a:spcAft>
          <a:spcPct val="0"/>
        </a:spcAft>
        <a:buFont typeface="Arial" charset="0"/>
        <a:buChar char="»"/>
        <a:defRPr sz="2000">
          <a:solidFill>
            <a:schemeClr val="tx1"/>
          </a:solidFill>
          <a:latin typeface="+mn-lt"/>
        </a:defRPr>
      </a:lvl6pPr>
      <a:lvl7pPr marL="2971800" indent="-228600" algn="l" rtl="0" eaLnBrk="0" fontAlgn="base" hangingPunct="0">
        <a:spcBef>
          <a:spcPct val="20000"/>
        </a:spcBef>
        <a:spcAft>
          <a:spcPct val="0"/>
        </a:spcAft>
        <a:buFont typeface="Arial" charset="0"/>
        <a:buChar char="»"/>
        <a:defRPr sz="2000">
          <a:solidFill>
            <a:schemeClr val="tx1"/>
          </a:solidFill>
          <a:latin typeface="+mn-lt"/>
        </a:defRPr>
      </a:lvl7pPr>
      <a:lvl8pPr marL="3429000" indent="-228600" algn="l" rtl="0" eaLnBrk="0" fontAlgn="base" hangingPunct="0">
        <a:spcBef>
          <a:spcPct val="20000"/>
        </a:spcBef>
        <a:spcAft>
          <a:spcPct val="0"/>
        </a:spcAft>
        <a:buFont typeface="Arial" charset="0"/>
        <a:buChar char="»"/>
        <a:defRPr sz="2000">
          <a:solidFill>
            <a:schemeClr val="tx1"/>
          </a:solidFill>
          <a:latin typeface="+mn-lt"/>
        </a:defRPr>
      </a:lvl8pPr>
      <a:lvl9pPr marL="3886200" indent="-228600" algn="l" rtl="0" eaLnBrk="0" fontAlgn="base" hangingPunct="0">
        <a:spcBef>
          <a:spcPct val="20000"/>
        </a:spcBef>
        <a:spcAft>
          <a:spcPct val="0"/>
        </a:spcAft>
        <a:buFont typeface="Arial" charset="0"/>
        <a:buChar char="»"/>
        <a:defRPr sz="2000">
          <a:solidFill>
            <a:schemeClr val="tx1"/>
          </a:solidFill>
          <a:latin typeface="+mn-lt"/>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1.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Slide Number Placeholder 5"/>
          <p:cNvSpPr txBox="1">
            <a:spLocks noGrp="1"/>
          </p:cNvSpPr>
          <p:nvPr/>
        </p:nvSpPr>
        <p:spPr bwMode="auto">
          <a:xfrm>
            <a:off x="8458200" y="152400"/>
            <a:ext cx="533400" cy="457200"/>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A75971A-1F33-49A3-9B79-2F52EF69813D}" type="slidenum">
              <a:rPr lang="en-US" sz="1400">
                <a:latin typeface="Times New Roman" pitchFamily="18" charset="0"/>
              </a:rPr>
              <a:pPr algn="r"/>
              <a:t>1</a:t>
            </a:fld>
            <a:endParaRPr lang="en-US" sz="1400">
              <a:latin typeface="Times New Roman" pitchFamily="18" charset="0"/>
            </a:endParaRPr>
          </a:p>
        </p:txBody>
      </p:sp>
      <p:sp>
        <p:nvSpPr>
          <p:cNvPr id="154627" name="Rectangle 2"/>
          <p:cNvSpPr>
            <a:spLocks noGrp="1" noChangeArrowheads="1"/>
          </p:cNvSpPr>
          <p:nvPr>
            <p:ph type="body" idx="4294967295"/>
          </p:nvPr>
        </p:nvSpPr>
        <p:spPr>
          <a:xfrm>
            <a:off x="774700" y="914400"/>
            <a:ext cx="8216900" cy="5791200"/>
          </a:xfrm>
        </p:spPr>
        <p:txBody>
          <a:bodyPr/>
          <a:lstStyle/>
          <a:p>
            <a:pPr>
              <a:buFontTx/>
              <a:buNone/>
            </a:pPr>
            <a:endParaRPr lang="en-US" sz="1200"/>
          </a:p>
          <a:p>
            <a:pPr>
              <a:buFontTx/>
              <a:buNone/>
            </a:pPr>
            <a:r>
              <a:rPr lang="en-US" sz="2400"/>
              <a:t>Copied from ORANIG-RD single-region model</a:t>
            </a:r>
          </a:p>
          <a:p>
            <a:endParaRPr lang="en-US" sz="2400"/>
          </a:p>
          <a:p>
            <a:r>
              <a:rPr lang="en-US" sz="2400" b="0"/>
              <a:t>Capital accumulation rule</a:t>
            </a:r>
          </a:p>
          <a:p>
            <a:endParaRPr lang="en-US" sz="2400" b="0"/>
          </a:p>
          <a:p>
            <a:r>
              <a:rPr lang="en-US" sz="2400" b="0"/>
              <a:t>Investment rule</a:t>
            </a:r>
          </a:p>
          <a:p>
            <a:endParaRPr lang="en-US" sz="2400" b="0"/>
          </a:p>
          <a:p>
            <a:r>
              <a:rPr lang="en-US" sz="2400" b="0"/>
              <a:t>Wage adjustment rule</a:t>
            </a:r>
          </a:p>
          <a:p>
            <a:endParaRPr lang="en-US" sz="2400"/>
          </a:p>
          <a:p>
            <a:endParaRPr lang="en-US" sz="2400"/>
          </a:p>
          <a:p>
            <a:pPr>
              <a:buFontTx/>
              <a:buNone/>
            </a:pPr>
            <a:r>
              <a:rPr lang="en-US" sz="2400" b="0"/>
              <a:t>See ORANIGRD.DOC</a:t>
            </a:r>
          </a:p>
          <a:p>
            <a:pPr>
              <a:buFontTx/>
              <a:buNone/>
            </a:pPr>
            <a:endParaRPr lang="en-US" sz="2400" b="0"/>
          </a:p>
        </p:txBody>
      </p:sp>
      <p:sp>
        <p:nvSpPr>
          <p:cNvPr id="154628" name="Rectangle 3"/>
          <p:cNvSpPr>
            <a:spLocks noGrp="1" noChangeArrowheads="1"/>
          </p:cNvSpPr>
          <p:nvPr>
            <p:ph type="title" idx="4294967295"/>
          </p:nvPr>
        </p:nvSpPr>
        <p:spPr>
          <a:xfrm>
            <a:off x="304800" y="228600"/>
            <a:ext cx="8686800" cy="552450"/>
          </a:xfrm>
        </p:spPr>
        <p:txBody>
          <a:bodyPr/>
          <a:lstStyle/>
          <a:p>
            <a:r>
              <a:rPr lang="en-AU" sz="3000" dirty="0">
                <a:latin typeface="Tahoma" pitchFamily="34" charset="0"/>
              </a:rPr>
              <a:t>The dynamic equations of </a:t>
            </a:r>
            <a:r>
              <a:rPr lang="en-AU" sz="3000" dirty="0" err="1">
                <a:latin typeface="Tahoma" pitchFamily="34" charset="0"/>
              </a:rPr>
              <a:t>IndoTERM</a:t>
            </a:r>
            <a:br>
              <a:rPr lang="id-ID" sz="3000" dirty="0">
                <a:latin typeface="Tahoma" pitchFamily="34" charset="0"/>
              </a:rPr>
            </a:br>
            <a:r>
              <a:rPr lang="id-ID" sz="2400" dirty="0">
                <a:latin typeface="Tahoma" pitchFamily="34" charset="0"/>
              </a:rPr>
              <a:t>By Mark Horridge (CoPS)</a:t>
            </a:r>
            <a:endParaRPr lang="en-US" b="0" dirty="0"/>
          </a:p>
        </p:txBody>
      </p:sp>
    </p:spTree>
    <p:extLst>
      <p:ext uri="{BB962C8B-B14F-4D97-AF65-F5344CB8AC3E}">
        <p14:creationId xmlns:p14="http://schemas.microsoft.com/office/powerpoint/2010/main" val="20754615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Title 1"/>
          <p:cNvSpPr>
            <a:spLocks noGrp="1"/>
          </p:cNvSpPr>
          <p:nvPr>
            <p:ph type="title" idx="4294967295"/>
          </p:nvPr>
        </p:nvSpPr>
        <p:spPr>
          <a:xfrm>
            <a:off x="673100" y="0"/>
            <a:ext cx="7772400" cy="704850"/>
          </a:xfrm>
        </p:spPr>
        <p:txBody>
          <a:bodyPr/>
          <a:lstStyle/>
          <a:p>
            <a:r>
              <a:rPr lang="en-AU" sz="3600">
                <a:latin typeface="Tahoma" pitchFamily="34" charset="0"/>
                <a:cs typeface="Tahoma" pitchFamily="34" charset="0"/>
              </a:rPr>
              <a:t>Capital accumulation </a:t>
            </a:r>
          </a:p>
        </p:txBody>
      </p:sp>
      <p:sp>
        <p:nvSpPr>
          <p:cNvPr id="155651" name="Content Placeholder 2"/>
          <p:cNvSpPr>
            <a:spLocks noGrp="1"/>
          </p:cNvSpPr>
          <p:nvPr>
            <p:ph idx="4294967295"/>
          </p:nvPr>
        </p:nvSpPr>
        <p:spPr>
          <a:xfrm>
            <a:off x="152400" y="996950"/>
            <a:ext cx="8839200" cy="5099050"/>
          </a:xfrm>
        </p:spPr>
        <p:txBody>
          <a:bodyPr/>
          <a:lstStyle/>
          <a:p>
            <a:pPr marL="0" indent="0">
              <a:spcAft>
                <a:spcPts val="400"/>
              </a:spcAft>
              <a:buFontTx/>
              <a:buNone/>
            </a:pPr>
            <a:r>
              <a:rPr lang="en-AU" sz="2400" b="0"/>
              <a:t> 	</a:t>
            </a:r>
            <a:r>
              <a:rPr lang="en-AU" sz="3200" b="0">
                <a:latin typeface="Symbol" pitchFamily="18" charset="2"/>
              </a:rPr>
              <a:t>D</a:t>
            </a:r>
            <a:r>
              <a:rPr lang="en-AU" sz="3200" b="0"/>
              <a:t>K = change in capital this year</a:t>
            </a:r>
          </a:p>
          <a:p>
            <a:pPr marL="0" indent="0">
              <a:spcAft>
                <a:spcPts val="400"/>
              </a:spcAft>
              <a:buFontTx/>
              <a:buNone/>
            </a:pPr>
            <a:r>
              <a:rPr lang="en-AU" sz="2400" b="0"/>
              <a:t>	</a:t>
            </a:r>
            <a:r>
              <a:rPr lang="en-AU" sz="3200" b="0">
                <a:latin typeface="Symbol" pitchFamily="18" charset="2"/>
              </a:rPr>
              <a:t>D</a:t>
            </a:r>
            <a:r>
              <a:rPr lang="en-AU" sz="3200" b="0"/>
              <a:t>K = Y</a:t>
            </a:r>
            <a:r>
              <a:rPr lang="en-AU" sz="3200" b="0" baseline="-25000"/>
              <a:t>0</a:t>
            </a:r>
            <a:r>
              <a:rPr lang="en-AU" sz="3200" b="0"/>
              <a:t> - DK</a:t>
            </a:r>
            <a:r>
              <a:rPr lang="en-AU" sz="3200" b="0" baseline="-25000"/>
              <a:t>0                                    determined last year</a:t>
            </a:r>
            <a:endParaRPr lang="en-AU" sz="3200" b="0"/>
          </a:p>
          <a:p>
            <a:pPr marL="0" indent="0">
              <a:spcAft>
                <a:spcPts val="400"/>
              </a:spcAft>
              <a:buFontTx/>
              <a:buNone/>
            </a:pPr>
            <a:r>
              <a:rPr lang="en-AU" sz="3200" b="0"/>
              <a:t> or	</a:t>
            </a:r>
            <a:r>
              <a:rPr lang="en-AU" sz="3200" b="0">
                <a:latin typeface="Symbol" pitchFamily="18" charset="2"/>
              </a:rPr>
              <a:t>D</a:t>
            </a:r>
            <a:r>
              <a:rPr lang="en-AU" sz="3200" b="0"/>
              <a:t>K</a:t>
            </a:r>
            <a:r>
              <a:rPr lang="en-AU" sz="3200" b="0">
                <a:latin typeface="Symbol" pitchFamily="18" charset="2"/>
              </a:rPr>
              <a:t>P</a:t>
            </a:r>
            <a:r>
              <a:rPr lang="en-AU" sz="3200" b="0" baseline="-25000"/>
              <a:t>0</a:t>
            </a:r>
            <a:r>
              <a:rPr lang="en-AU" sz="3200" b="0"/>
              <a:t> = Y</a:t>
            </a:r>
            <a:r>
              <a:rPr lang="en-AU" sz="3200" b="0" baseline="-25000"/>
              <a:t>0</a:t>
            </a:r>
            <a:r>
              <a:rPr lang="en-AU" sz="3200" b="0">
                <a:latin typeface="Symbol" pitchFamily="18" charset="2"/>
              </a:rPr>
              <a:t>P</a:t>
            </a:r>
            <a:r>
              <a:rPr lang="en-AU" sz="3200" b="0" baseline="-25000"/>
              <a:t>0</a:t>
            </a:r>
            <a:r>
              <a:rPr lang="en-AU" sz="3200" b="0"/>
              <a:t> - DK</a:t>
            </a:r>
            <a:r>
              <a:rPr lang="en-AU" sz="3200" b="0" baseline="-25000"/>
              <a:t>0</a:t>
            </a:r>
            <a:r>
              <a:rPr lang="en-AU" sz="3200" b="0">
                <a:latin typeface="Symbol" pitchFamily="18" charset="2"/>
              </a:rPr>
              <a:t>P</a:t>
            </a:r>
            <a:r>
              <a:rPr lang="en-AU" sz="3200" b="0" baseline="-25000"/>
              <a:t>0</a:t>
            </a:r>
            <a:endParaRPr lang="en-AU" sz="2400" b="0"/>
          </a:p>
          <a:p>
            <a:pPr marL="0" indent="0">
              <a:spcAft>
                <a:spcPts val="400"/>
              </a:spcAft>
              <a:buFontTx/>
              <a:buNone/>
            </a:pPr>
            <a:endParaRPr lang="en-AU" sz="2400" b="0"/>
          </a:p>
          <a:p>
            <a:pPr marL="0" indent="0">
              <a:spcAft>
                <a:spcPts val="400"/>
              </a:spcAft>
              <a:buFontTx/>
              <a:buNone/>
            </a:pPr>
            <a:r>
              <a:rPr lang="en-AU" sz="2400" b="0"/>
              <a:t>Here:	Y</a:t>
            </a:r>
            <a:r>
              <a:rPr lang="en-AU" sz="2400" b="0" baseline="-25000"/>
              <a:t> </a:t>
            </a:r>
            <a:r>
              <a:rPr lang="en-AU" sz="2400" b="0"/>
              <a:t>	investment</a:t>
            </a:r>
          </a:p>
          <a:p>
            <a:pPr marL="0" indent="0">
              <a:spcAft>
                <a:spcPts val="400"/>
              </a:spcAft>
              <a:buFontTx/>
              <a:buNone/>
            </a:pPr>
            <a:r>
              <a:rPr lang="en-AU" sz="2400" b="0"/>
              <a:t>	K	amount of capital</a:t>
            </a:r>
          </a:p>
          <a:p>
            <a:pPr marL="0" indent="0">
              <a:spcAft>
                <a:spcPts val="400"/>
              </a:spcAft>
              <a:buFontTx/>
              <a:buNone/>
            </a:pPr>
            <a:r>
              <a:rPr lang="en-AU" sz="2400" b="0"/>
              <a:t>	D	depreciation rate</a:t>
            </a:r>
          </a:p>
          <a:p>
            <a:pPr marL="0" indent="0">
              <a:spcAft>
                <a:spcPts val="400"/>
              </a:spcAft>
              <a:buFontTx/>
              <a:buNone/>
            </a:pPr>
            <a:r>
              <a:rPr lang="en-AU" sz="2400" b="0">
                <a:latin typeface="Symbol" pitchFamily="18" charset="2"/>
              </a:rPr>
              <a:t>	P</a:t>
            </a:r>
            <a:r>
              <a:rPr lang="en-AU" sz="2400" b="0"/>
              <a:t>	price of a unit of new capital</a:t>
            </a:r>
          </a:p>
          <a:p>
            <a:pPr marL="0" indent="0">
              <a:spcAft>
                <a:spcPts val="400"/>
              </a:spcAft>
              <a:buFontTx/>
              <a:buNone/>
            </a:pPr>
            <a:r>
              <a:rPr lang="en-AU" sz="2400" b="0"/>
              <a:t>Subscript '0' denotes the initial (start-of-period) value.</a:t>
            </a:r>
            <a:r>
              <a:rPr lang="en-AU" b="0"/>
              <a:t> </a:t>
            </a:r>
          </a:p>
        </p:txBody>
      </p:sp>
      <p:sp>
        <p:nvSpPr>
          <p:cNvPr id="155652" name="Slide Number Placeholder 3"/>
          <p:cNvSpPr txBox="1">
            <a:spLocks noGrp="1"/>
          </p:cNvSpPr>
          <p:nvPr/>
        </p:nvSpPr>
        <p:spPr bwMode="auto">
          <a:xfrm>
            <a:off x="8458200" y="152400"/>
            <a:ext cx="533400" cy="457200"/>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7CCCCE93-FD3F-461C-9ADF-B2D3E5361B6B}" type="slidenum">
              <a:rPr lang="en-US" sz="1400">
                <a:latin typeface="Times New Roman" pitchFamily="18" charset="0"/>
              </a:rPr>
              <a:pPr algn="r"/>
              <a:t>2</a:t>
            </a:fld>
            <a:endParaRPr lang="en-US" sz="1400">
              <a:latin typeface="Times New Roman" pitchFamily="18" charset="0"/>
            </a:endParaRPr>
          </a:p>
        </p:txBody>
      </p:sp>
      <p:sp>
        <p:nvSpPr>
          <p:cNvPr id="155653" name="Oval 5"/>
          <p:cNvSpPr>
            <a:spLocks noChangeArrowheads="1"/>
          </p:cNvSpPr>
          <p:nvPr/>
        </p:nvSpPr>
        <p:spPr bwMode="auto">
          <a:xfrm>
            <a:off x="2057400" y="1581150"/>
            <a:ext cx="1847850" cy="762000"/>
          </a:xfrm>
          <a:prstGeom prst="ellipse">
            <a:avLst/>
          </a:prstGeom>
          <a:noFill/>
          <a:ln w="31750">
            <a:solidFill>
              <a:srgbClr val="CC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AU"/>
          </a:p>
        </p:txBody>
      </p:sp>
      <p:sp>
        <p:nvSpPr>
          <p:cNvPr id="155654" name="Line 6"/>
          <p:cNvSpPr>
            <a:spLocks noChangeShapeType="1"/>
          </p:cNvSpPr>
          <p:nvPr/>
        </p:nvSpPr>
        <p:spPr bwMode="auto">
          <a:xfrm flipH="1" flipV="1">
            <a:off x="3911600" y="1962150"/>
            <a:ext cx="2362200" cy="139700"/>
          </a:xfrm>
          <a:prstGeom prst="line">
            <a:avLst/>
          </a:prstGeom>
          <a:noFill/>
          <a:ln w="317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id-ID"/>
          </a:p>
        </p:txBody>
      </p:sp>
    </p:spTree>
    <p:extLst>
      <p:ext uri="{BB962C8B-B14F-4D97-AF65-F5344CB8AC3E}">
        <p14:creationId xmlns:p14="http://schemas.microsoft.com/office/powerpoint/2010/main" val="41619061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Title 1"/>
          <p:cNvSpPr>
            <a:spLocks noGrp="1"/>
          </p:cNvSpPr>
          <p:nvPr>
            <p:ph type="title" idx="4294967295"/>
          </p:nvPr>
        </p:nvSpPr>
        <p:spPr>
          <a:xfrm>
            <a:off x="673100" y="0"/>
            <a:ext cx="7772400" cy="704850"/>
          </a:xfrm>
        </p:spPr>
        <p:txBody>
          <a:bodyPr/>
          <a:lstStyle/>
          <a:p>
            <a:r>
              <a:rPr lang="en-AU" sz="3600">
                <a:latin typeface="Tahoma" pitchFamily="34" charset="0"/>
                <a:cs typeface="Tahoma" pitchFamily="34" charset="0"/>
              </a:rPr>
              <a:t>Capital accumulation </a:t>
            </a:r>
          </a:p>
        </p:txBody>
      </p:sp>
      <p:sp>
        <p:nvSpPr>
          <p:cNvPr id="156675" name="Content Placeholder 2"/>
          <p:cNvSpPr>
            <a:spLocks noGrp="1"/>
          </p:cNvSpPr>
          <p:nvPr>
            <p:ph idx="4294967295"/>
          </p:nvPr>
        </p:nvSpPr>
        <p:spPr>
          <a:xfrm>
            <a:off x="152400" y="996950"/>
            <a:ext cx="8839200" cy="5695950"/>
          </a:xfrm>
        </p:spPr>
        <p:txBody>
          <a:bodyPr>
            <a:normAutofit fontScale="55000" lnSpcReduction="20000"/>
          </a:bodyPr>
          <a:lstStyle/>
          <a:p>
            <a:pPr marL="0" indent="0">
              <a:buFontTx/>
              <a:buNone/>
            </a:pPr>
            <a:r>
              <a:rPr lang="en-AU">
                <a:solidFill>
                  <a:srgbClr val="000000"/>
                </a:solidFill>
                <a:latin typeface="Consolas" pitchFamily="49" charset="0"/>
              </a:rPr>
              <a:t>Coefficient</a:t>
            </a:r>
            <a:r>
              <a:rPr lang="en-AU" b="0">
                <a:solidFill>
                  <a:srgbClr val="000000"/>
                </a:solidFill>
                <a:latin typeface="Consolas" pitchFamily="49" charset="0"/>
              </a:rPr>
              <a:t> </a:t>
            </a:r>
            <a:r>
              <a:rPr lang="en-AU" b="0" i="1">
                <a:solidFill>
                  <a:srgbClr val="0000F0"/>
                </a:solidFill>
                <a:latin typeface="Consolas" pitchFamily="49" charset="0"/>
              </a:rPr>
              <a:t>! 2 below are measured in last year price units!</a:t>
            </a:r>
            <a:br>
              <a:rPr lang="en-AU" b="0">
                <a:solidFill>
                  <a:srgbClr val="000000"/>
                </a:solidFill>
                <a:latin typeface="Consolas" pitchFamily="49" charset="0"/>
              </a:rPr>
            </a:br>
            <a:r>
              <a:rPr lang="en-AU" b="0">
                <a:solidFill>
                  <a:srgbClr val="000000"/>
                </a:solidFill>
                <a:latin typeface="Consolas" pitchFamily="49" charset="0"/>
              </a:rPr>
              <a:t>(</a:t>
            </a:r>
            <a:r>
              <a:rPr lang="en-AU">
                <a:solidFill>
                  <a:srgbClr val="000000"/>
                </a:solidFill>
                <a:latin typeface="Consolas" pitchFamily="49" charset="0"/>
              </a:rPr>
              <a:t>parameter</a:t>
            </a:r>
            <a:r>
              <a:rPr lang="en-AU" b="0">
                <a:solidFill>
                  <a:srgbClr val="000000"/>
                </a:solidFill>
                <a:latin typeface="Consolas" pitchFamily="49" charset="0"/>
              </a:rPr>
              <a:t>) (</a:t>
            </a:r>
            <a:r>
              <a:rPr lang="en-AU">
                <a:solidFill>
                  <a:srgbClr val="000000"/>
                </a:solidFill>
                <a:latin typeface="Consolas" pitchFamily="49" charset="0"/>
              </a:rPr>
              <a:t>all</a:t>
            </a:r>
            <a:r>
              <a:rPr lang="en-AU" b="0">
                <a:solidFill>
                  <a:srgbClr val="000000"/>
                </a:solidFill>
                <a:latin typeface="Consolas" pitchFamily="49" charset="0"/>
              </a:rPr>
              <a:t>,</a:t>
            </a:r>
            <a:r>
              <a:rPr lang="en-AU" b="0">
                <a:solidFill>
                  <a:srgbClr val="008000"/>
                </a:solidFill>
                <a:latin typeface="Consolas" pitchFamily="49" charset="0"/>
              </a:rPr>
              <a:t>i</a:t>
            </a:r>
            <a:r>
              <a:rPr lang="en-AU" b="0">
                <a:solidFill>
                  <a:srgbClr val="000000"/>
                </a:solidFill>
                <a:latin typeface="Consolas" pitchFamily="49" charset="0"/>
              </a:rPr>
              <a:t>,</a:t>
            </a:r>
            <a:r>
              <a:rPr lang="en-AU" b="0">
                <a:solidFill>
                  <a:srgbClr val="008000"/>
                </a:solidFill>
                <a:latin typeface="Consolas" pitchFamily="49" charset="0"/>
              </a:rPr>
              <a:t>IND</a:t>
            </a:r>
            <a:r>
              <a:rPr lang="en-AU" b="0">
                <a:solidFill>
                  <a:srgbClr val="000000"/>
                </a:solidFill>
                <a:latin typeface="Consolas" pitchFamily="49" charset="0"/>
              </a:rPr>
              <a:t>)(</a:t>
            </a:r>
            <a:r>
              <a:rPr lang="en-AU">
                <a:solidFill>
                  <a:srgbClr val="000000"/>
                </a:solidFill>
                <a:latin typeface="Consolas" pitchFamily="49" charset="0"/>
              </a:rPr>
              <a:t>all</a:t>
            </a:r>
            <a:r>
              <a:rPr lang="en-AU" b="0">
                <a:solidFill>
                  <a:srgbClr val="000000"/>
                </a:solidFill>
                <a:latin typeface="Consolas" pitchFamily="49" charset="0"/>
              </a:rPr>
              <a:t>,</a:t>
            </a:r>
            <a:r>
              <a:rPr lang="en-AU" b="0">
                <a:solidFill>
                  <a:srgbClr val="008000"/>
                </a:solidFill>
                <a:latin typeface="Consolas" pitchFamily="49" charset="0"/>
              </a:rPr>
              <a:t>d</a:t>
            </a:r>
            <a:r>
              <a:rPr lang="en-AU" b="0">
                <a:solidFill>
                  <a:srgbClr val="000000"/>
                </a:solidFill>
                <a:latin typeface="Consolas" pitchFamily="49" charset="0"/>
              </a:rPr>
              <a:t>,</a:t>
            </a:r>
            <a:r>
              <a:rPr lang="en-AU" b="0">
                <a:solidFill>
                  <a:srgbClr val="008000"/>
                </a:solidFill>
                <a:latin typeface="Consolas" pitchFamily="49" charset="0"/>
              </a:rPr>
              <a:t>DST</a:t>
            </a:r>
            <a:r>
              <a:rPr lang="en-AU" b="0">
                <a:solidFill>
                  <a:srgbClr val="000000"/>
                </a:solidFill>
                <a:latin typeface="Consolas" pitchFamily="49" charset="0"/>
              </a:rPr>
              <a:t>)</a:t>
            </a:r>
            <a:br>
              <a:rPr lang="en-AU" b="0">
                <a:solidFill>
                  <a:srgbClr val="000000"/>
                </a:solidFill>
                <a:latin typeface="Consolas" pitchFamily="49" charset="0"/>
              </a:rPr>
            </a:br>
            <a:r>
              <a:rPr lang="en-AU" b="0">
                <a:solidFill>
                  <a:srgbClr val="000000"/>
                </a:solidFill>
                <a:latin typeface="Consolas" pitchFamily="49" charset="0"/>
              </a:rPr>
              <a:t>  </a:t>
            </a:r>
            <a:r>
              <a:rPr lang="en-AU" b="0">
                <a:solidFill>
                  <a:srgbClr val="008000"/>
                </a:solidFill>
                <a:latin typeface="Consolas" pitchFamily="49" charset="0"/>
              </a:rPr>
              <a:t>CAPADD</a:t>
            </a:r>
            <a:r>
              <a:rPr lang="en-AU" b="0">
                <a:solidFill>
                  <a:srgbClr val="000000"/>
                </a:solidFill>
                <a:latin typeface="Consolas" pitchFamily="49" charset="0"/>
              </a:rPr>
              <a:t>(</a:t>
            </a:r>
            <a:r>
              <a:rPr lang="en-AU" b="0">
                <a:solidFill>
                  <a:srgbClr val="008000"/>
                </a:solidFill>
                <a:latin typeface="Consolas" pitchFamily="49" charset="0"/>
              </a:rPr>
              <a:t>i</a:t>
            </a:r>
            <a:r>
              <a:rPr lang="en-AU" b="0">
                <a:solidFill>
                  <a:srgbClr val="000000"/>
                </a:solidFill>
                <a:latin typeface="Consolas" pitchFamily="49" charset="0"/>
              </a:rPr>
              <a:t>,</a:t>
            </a:r>
            <a:r>
              <a:rPr lang="en-AU" b="0">
                <a:solidFill>
                  <a:srgbClr val="008000"/>
                </a:solidFill>
                <a:latin typeface="Consolas" pitchFamily="49" charset="0"/>
              </a:rPr>
              <a:t>d</a:t>
            </a:r>
            <a:r>
              <a:rPr lang="en-AU" b="0">
                <a:solidFill>
                  <a:srgbClr val="000000"/>
                </a:solidFill>
                <a:latin typeface="Consolas" pitchFamily="49" charset="0"/>
              </a:rPr>
              <a:t>) </a:t>
            </a:r>
            <a:r>
              <a:rPr lang="en-AU" b="0" i="1">
                <a:solidFill>
                  <a:srgbClr val="000000"/>
                </a:solidFill>
                <a:latin typeface="Consolas" pitchFamily="49" charset="0"/>
              </a:rPr>
              <a:t># Addition to CAPSTOK from last year investment #</a:t>
            </a:r>
            <a:r>
              <a:rPr lang="en-AU" b="0">
                <a:solidFill>
                  <a:srgbClr val="000000"/>
                </a:solidFill>
                <a:latin typeface="Consolas" pitchFamily="49" charset="0"/>
              </a:rPr>
              <a:t>;</a:t>
            </a:r>
            <a:br>
              <a:rPr lang="en-AU" b="0">
                <a:solidFill>
                  <a:srgbClr val="000000"/>
                </a:solidFill>
                <a:latin typeface="Consolas" pitchFamily="49" charset="0"/>
              </a:rPr>
            </a:br>
            <a:r>
              <a:rPr lang="en-AU" b="0">
                <a:solidFill>
                  <a:srgbClr val="000000"/>
                </a:solidFill>
                <a:latin typeface="Consolas" pitchFamily="49" charset="0"/>
              </a:rPr>
              <a:t> (</a:t>
            </a:r>
            <a:r>
              <a:rPr lang="en-AU">
                <a:solidFill>
                  <a:srgbClr val="000000"/>
                </a:solidFill>
                <a:latin typeface="Consolas" pitchFamily="49" charset="0"/>
              </a:rPr>
              <a:t>all</a:t>
            </a:r>
            <a:r>
              <a:rPr lang="en-AU" b="0">
                <a:solidFill>
                  <a:srgbClr val="000000"/>
                </a:solidFill>
                <a:latin typeface="Consolas" pitchFamily="49" charset="0"/>
              </a:rPr>
              <a:t>,</a:t>
            </a:r>
            <a:r>
              <a:rPr lang="en-AU" b="0">
                <a:solidFill>
                  <a:srgbClr val="008000"/>
                </a:solidFill>
                <a:latin typeface="Consolas" pitchFamily="49" charset="0"/>
              </a:rPr>
              <a:t>i</a:t>
            </a:r>
            <a:r>
              <a:rPr lang="en-AU" b="0">
                <a:solidFill>
                  <a:srgbClr val="000000"/>
                </a:solidFill>
                <a:latin typeface="Consolas" pitchFamily="49" charset="0"/>
              </a:rPr>
              <a:t>,</a:t>
            </a:r>
            <a:r>
              <a:rPr lang="en-AU" b="0">
                <a:solidFill>
                  <a:srgbClr val="008000"/>
                </a:solidFill>
                <a:latin typeface="Consolas" pitchFamily="49" charset="0"/>
              </a:rPr>
              <a:t>IND</a:t>
            </a:r>
            <a:r>
              <a:rPr lang="en-AU" b="0">
                <a:solidFill>
                  <a:srgbClr val="000000"/>
                </a:solidFill>
                <a:latin typeface="Consolas" pitchFamily="49" charset="0"/>
              </a:rPr>
              <a:t>)(</a:t>
            </a:r>
            <a:r>
              <a:rPr lang="en-AU">
                <a:solidFill>
                  <a:srgbClr val="000000"/>
                </a:solidFill>
                <a:latin typeface="Consolas" pitchFamily="49" charset="0"/>
              </a:rPr>
              <a:t>all</a:t>
            </a:r>
            <a:r>
              <a:rPr lang="en-AU" b="0">
                <a:solidFill>
                  <a:srgbClr val="000000"/>
                </a:solidFill>
                <a:latin typeface="Consolas" pitchFamily="49" charset="0"/>
              </a:rPr>
              <a:t>,</a:t>
            </a:r>
            <a:r>
              <a:rPr lang="en-AU" b="0">
                <a:solidFill>
                  <a:srgbClr val="008000"/>
                </a:solidFill>
                <a:latin typeface="Consolas" pitchFamily="49" charset="0"/>
              </a:rPr>
              <a:t>d</a:t>
            </a:r>
            <a:r>
              <a:rPr lang="en-AU" b="0">
                <a:solidFill>
                  <a:srgbClr val="000000"/>
                </a:solidFill>
                <a:latin typeface="Consolas" pitchFamily="49" charset="0"/>
              </a:rPr>
              <a:t>,</a:t>
            </a:r>
            <a:r>
              <a:rPr lang="en-AU" b="0">
                <a:solidFill>
                  <a:srgbClr val="008000"/>
                </a:solidFill>
                <a:latin typeface="Consolas" pitchFamily="49" charset="0"/>
              </a:rPr>
              <a:t>DST</a:t>
            </a:r>
            <a:r>
              <a:rPr lang="en-AU" b="0">
                <a:solidFill>
                  <a:srgbClr val="000000"/>
                </a:solidFill>
                <a:latin typeface="Consolas" pitchFamily="49" charset="0"/>
              </a:rPr>
              <a:t>) </a:t>
            </a:r>
            <a:r>
              <a:rPr lang="en-AU" b="0">
                <a:solidFill>
                  <a:srgbClr val="008000"/>
                </a:solidFill>
                <a:latin typeface="Consolas" pitchFamily="49" charset="0"/>
              </a:rPr>
              <a:t>CAPSTOK_OLDP</a:t>
            </a:r>
            <a:r>
              <a:rPr lang="en-AU" b="0">
                <a:solidFill>
                  <a:srgbClr val="000000"/>
                </a:solidFill>
                <a:latin typeface="Consolas" pitchFamily="49" charset="0"/>
              </a:rPr>
              <a:t>(</a:t>
            </a:r>
            <a:r>
              <a:rPr lang="en-AU" b="0">
                <a:solidFill>
                  <a:srgbClr val="008000"/>
                </a:solidFill>
                <a:latin typeface="Consolas" pitchFamily="49" charset="0"/>
              </a:rPr>
              <a:t>i</a:t>
            </a:r>
            <a:r>
              <a:rPr lang="en-AU" b="0">
                <a:solidFill>
                  <a:srgbClr val="000000"/>
                </a:solidFill>
                <a:latin typeface="Consolas" pitchFamily="49" charset="0"/>
              </a:rPr>
              <a:t>,</a:t>
            </a:r>
            <a:r>
              <a:rPr lang="en-AU" b="0">
                <a:solidFill>
                  <a:srgbClr val="008000"/>
                </a:solidFill>
                <a:latin typeface="Consolas" pitchFamily="49" charset="0"/>
              </a:rPr>
              <a:t>d</a:t>
            </a:r>
            <a:r>
              <a:rPr lang="en-AU" b="0">
                <a:solidFill>
                  <a:srgbClr val="000000"/>
                </a:solidFill>
                <a:latin typeface="Consolas" pitchFamily="49" charset="0"/>
              </a:rPr>
              <a:t>)</a:t>
            </a:r>
            <a:br>
              <a:rPr lang="en-AU" b="0">
                <a:solidFill>
                  <a:srgbClr val="000000"/>
                </a:solidFill>
                <a:latin typeface="Consolas" pitchFamily="49" charset="0"/>
              </a:rPr>
            </a:br>
            <a:r>
              <a:rPr lang="en-AU" b="0">
                <a:solidFill>
                  <a:srgbClr val="000000"/>
                </a:solidFill>
                <a:latin typeface="Consolas" pitchFamily="49" charset="0"/>
              </a:rPr>
              <a:t>    </a:t>
            </a:r>
            <a:r>
              <a:rPr lang="en-AU" b="0" i="1">
                <a:solidFill>
                  <a:srgbClr val="000000"/>
                </a:solidFill>
                <a:latin typeface="Consolas" pitchFamily="49" charset="0"/>
              </a:rPr>
              <a:t># Current capstok measured in last years prices #</a:t>
            </a:r>
            <a:r>
              <a:rPr lang="en-AU" b="0">
                <a:solidFill>
                  <a:srgbClr val="000000"/>
                </a:solidFill>
                <a:latin typeface="Consolas" pitchFamily="49" charset="0"/>
              </a:rPr>
              <a:t>;</a:t>
            </a:r>
            <a:br>
              <a:rPr lang="en-AU" b="0">
                <a:solidFill>
                  <a:srgbClr val="000000"/>
                </a:solidFill>
                <a:latin typeface="Consolas" pitchFamily="49" charset="0"/>
              </a:rPr>
            </a:br>
            <a:r>
              <a:rPr lang="en-AU">
                <a:solidFill>
                  <a:srgbClr val="000000"/>
                </a:solidFill>
                <a:latin typeface="Consolas" pitchFamily="49" charset="0"/>
              </a:rPr>
              <a:t>Formula</a:t>
            </a:r>
            <a:br>
              <a:rPr lang="en-AU" b="0">
                <a:solidFill>
                  <a:srgbClr val="000000"/>
                </a:solidFill>
                <a:latin typeface="Consolas" pitchFamily="49" charset="0"/>
              </a:rPr>
            </a:br>
            <a:r>
              <a:rPr lang="en-AU" b="0">
                <a:solidFill>
                  <a:srgbClr val="000000"/>
                </a:solidFill>
                <a:latin typeface="Consolas" pitchFamily="49" charset="0"/>
              </a:rPr>
              <a:t> (</a:t>
            </a:r>
            <a:r>
              <a:rPr lang="en-AU">
                <a:solidFill>
                  <a:srgbClr val="000000"/>
                </a:solidFill>
                <a:latin typeface="Consolas" pitchFamily="49" charset="0"/>
              </a:rPr>
              <a:t>initial</a:t>
            </a:r>
            <a:r>
              <a:rPr lang="en-AU" b="0">
                <a:solidFill>
                  <a:srgbClr val="000000"/>
                </a:solidFill>
                <a:latin typeface="Consolas" pitchFamily="49" charset="0"/>
              </a:rPr>
              <a:t>)(</a:t>
            </a:r>
            <a:r>
              <a:rPr lang="en-AU">
                <a:solidFill>
                  <a:srgbClr val="000000"/>
                </a:solidFill>
                <a:latin typeface="Consolas" pitchFamily="49" charset="0"/>
              </a:rPr>
              <a:t>all</a:t>
            </a:r>
            <a:r>
              <a:rPr lang="en-AU" b="0">
                <a:solidFill>
                  <a:srgbClr val="000000"/>
                </a:solidFill>
                <a:latin typeface="Consolas" pitchFamily="49" charset="0"/>
              </a:rPr>
              <a:t>,</a:t>
            </a:r>
            <a:r>
              <a:rPr lang="en-AU" b="0">
                <a:solidFill>
                  <a:srgbClr val="008000"/>
                </a:solidFill>
                <a:latin typeface="Consolas" pitchFamily="49" charset="0"/>
              </a:rPr>
              <a:t>i</a:t>
            </a:r>
            <a:r>
              <a:rPr lang="en-AU" b="0">
                <a:solidFill>
                  <a:srgbClr val="000000"/>
                </a:solidFill>
                <a:latin typeface="Consolas" pitchFamily="49" charset="0"/>
              </a:rPr>
              <a:t>,</a:t>
            </a:r>
            <a:r>
              <a:rPr lang="en-AU" b="0">
                <a:solidFill>
                  <a:srgbClr val="008000"/>
                </a:solidFill>
                <a:latin typeface="Consolas" pitchFamily="49" charset="0"/>
              </a:rPr>
              <a:t>IND</a:t>
            </a:r>
            <a:r>
              <a:rPr lang="en-AU" b="0">
                <a:solidFill>
                  <a:srgbClr val="000000"/>
                </a:solidFill>
                <a:latin typeface="Consolas" pitchFamily="49" charset="0"/>
              </a:rPr>
              <a:t>)(</a:t>
            </a:r>
            <a:r>
              <a:rPr lang="en-AU">
                <a:solidFill>
                  <a:srgbClr val="000000"/>
                </a:solidFill>
                <a:latin typeface="Consolas" pitchFamily="49" charset="0"/>
              </a:rPr>
              <a:t>all</a:t>
            </a:r>
            <a:r>
              <a:rPr lang="en-AU" b="0">
                <a:solidFill>
                  <a:srgbClr val="000000"/>
                </a:solidFill>
                <a:latin typeface="Consolas" pitchFamily="49" charset="0"/>
              </a:rPr>
              <a:t>,</a:t>
            </a:r>
            <a:r>
              <a:rPr lang="en-AU" b="0">
                <a:solidFill>
                  <a:srgbClr val="008000"/>
                </a:solidFill>
                <a:latin typeface="Consolas" pitchFamily="49" charset="0"/>
              </a:rPr>
              <a:t>d</a:t>
            </a:r>
            <a:r>
              <a:rPr lang="en-AU" b="0">
                <a:solidFill>
                  <a:srgbClr val="000000"/>
                </a:solidFill>
                <a:latin typeface="Consolas" pitchFamily="49" charset="0"/>
              </a:rPr>
              <a:t>,</a:t>
            </a:r>
            <a:r>
              <a:rPr lang="en-AU" b="0">
                <a:solidFill>
                  <a:srgbClr val="008000"/>
                </a:solidFill>
                <a:latin typeface="Consolas" pitchFamily="49" charset="0"/>
              </a:rPr>
              <a:t>DST</a:t>
            </a:r>
            <a:r>
              <a:rPr lang="en-AU" b="0">
                <a:solidFill>
                  <a:srgbClr val="000000"/>
                </a:solidFill>
                <a:latin typeface="Consolas" pitchFamily="49" charset="0"/>
              </a:rPr>
              <a:t>) </a:t>
            </a:r>
            <a:r>
              <a:rPr lang="en-AU" b="0">
                <a:solidFill>
                  <a:srgbClr val="008000"/>
                </a:solidFill>
                <a:latin typeface="Consolas" pitchFamily="49" charset="0"/>
              </a:rPr>
              <a:t>CAPADD</a:t>
            </a:r>
            <a:r>
              <a:rPr lang="en-AU" b="0">
                <a:solidFill>
                  <a:srgbClr val="000000"/>
                </a:solidFill>
                <a:latin typeface="Consolas" pitchFamily="49" charset="0"/>
              </a:rPr>
              <a:t>(</a:t>
            </a:r>
            <a:r>
              <a:rPr lang="en-AU" b="0">
                <a:solidFill>
                  <a:srgbClr val="008000"/>
                </a:solidFill>
                <a:latin typeface="Consolas" pitchFamily="49" charset="0"/>
              </a:rPr>
              <a:t>i</a:t>
            </a:r>
            <a:r>
              <a:rPr lang="en-AU" b="0">
                <a:solidFill>
                  <a:srgbClr val="000000"/>
                </a:solidFill>
                <a:latin typeface="Consolas" pitchFamily="49" charset="0"/>
              </a:rPr>
              <a:t>,</a:t>
            </a:r>
            <a:r>
              <a:rPr lang="en-AU" b="0">
                <a:solidFill>
                  <a:srgbClr val="008000"/>
                </a:solidFill>
                <a:latin typeface="Consolas" pitchFamily="49" charset="0"/>
              </a:rPr>
              <a:t>d</a:t>
            </a:r>
            <a:r>
              <a:rPr lang="en-AU" b="0">
                <a:solidFill>
                  <a:srgbClr val="000000"/>
                </a:solidFill>
                <a:latin typeface="Consolas" pitchFamily="49" charset="0"/>
              </a:rPr>
              <a:t>)</a:t>
            </a:r>
            <a:br>
              <a:rPr lang="en-AU" b="0">
                <a:solidFill>
                  <a:srgbClr val="000000"/>
                </a:solidFill>
                <a:latin typeface="Consolas" pitchFamily="49" charset="0"/>
              </a:rPr>
            </a:br>
            <a:r>
              <a:rPr lang="en-AU" b="0">
                <a:solidFill>
                  <a:srgbClr val="000000"/>
                </a:solidFill>
                <a:latin typeface="Consolas" pitchFamily="49" charset="0"/>
              </a:rPr>
              <a:t>           = </a:t>
            </a:r>
            <a:r>
              <a:rPr lang="en-AU" b="0">
                <a:solidFill>
                  <a:srgbClr val="008000"/>
                </a:solidFill>
                <a:latin typeface="Consolas" pitchFamily="49" charset="0"/>
              </a:rPr>
              <a:t>INVEST_C</a:t>
            </a:r>
            <a:r>
              <a:rPr lang="en-AU" b="0">
                <a:solidFill>
                  <a:srgbClr val="000000"/>
                </a:solidFill>
                <a:latin typeface="Consolas" pitchFamily="49" charset="0"/>
              </a:rPr>
              <a:t>(</a:t>
            </a:r>
            <a:r>
              <a:rPr lang="en-AU" b="0">
                <a:solidFill>
                  <a:srgbClr val="008000"/>
                </a:solidFill>
                <a:latin typeface="Consolas" pitchFamily="49" charset="0"/>
              </a:rPr>
              <a:t>i</a:t>
            </a:r>
            <a:r>
              <a:rPr lang="en-AU" b="0">
                <a:solidFill>
                  <a:srgbClr val="000000"/>
                </a:solidFill>
                <a:latin typeface="Consolas" pitchFamily="49" charset="0"/>
              </a:rPr>
              <a:t>,</a:t>
            </a:r>
            <a:r>
              <a:rPr lang="en-AU" b="0">
                <a:solidFill>
                  <a:srgbClr val="008000"/>
                </a:solidFill>
                <a:latin typeface="Consolas" pitchFamily="49" charset="0"/>
              </a:rPr>
              <a:t>d</a:t>
            </a:r>
            <a:r>
              <a:rPr lang="en-AU" b="0">
                <a:solidFill>
                  <a:srgbClr val="000000"/>
                </a:solidFill>
                <a:latin typeface="Consolas" pitchFamily="49" charset="0"/>
              </a:rPr>
              <a:t>)-</a:t>
            </a:r>
            <a:r>
              <a:rPr lang="en-AU" b="0">
                <a:solidFill>
                  <a:srgbClr val="008000"/>
                </a:solidFill>
                <a:latin typeface="Consolas" pitchFamily="49" charset="0"/>
              </a:rPr>
              <a:t>DPRC</a:t>
            </a:r>
            <a:r>
              <a:rPr lang="en-AU" b="0">
                <a:solidFill>
                  <a:srgbClr val="000000"/>
                </a:solidFill>
                <a:latin typeface="Consolas" pitchFamily="49" charset="0"/>
              </a:rPr>
              <a:t>(</a:t>
            </a:r>
            <a:r>
              <a:rPr lang="en-AU" b="0">
                <a:solidFill>
                  <a:srgbClr val="008000"/>
                </a:solidFill>
                <a:latin typeface="Consolas" pitchFamily="49" charset="0"/>
              </a:rPr>
              <a:t>i</a:t>
            </a:r>
            <a:r>
              <a:rPr lang="en-AU" b="0">
                <a:solidFill>
                  <a:srgbClr val="000000"/>
                </a:solidFill>
                <a:latin typeface="Consolas" pitchFamily="49" charset="0"/>
              </a:rPr>
              <a:t>,</a:t>
            </a:r>
            <a:r>
              <a:rPr lang="en-AU" b="0">
                <a:solidFill>
                  <a:srgbClr val="008000"/>
                </a:solidFill>
                <a:latin typeface="Consolas" pitchFamily="49" charset="0"/>
              </a:rPr>
              <a:t>d</a:t>
            </a:r>
            <a:r>
              <a:rPr lang="en-AU" b="0">
                <a:solidFill>
                  <a:srgbClr val="000000"/>
                </a:solidFill>
                <a:latin typeface="Consolas" pitchFamily="49" charset="0"/>
              </a:rPr>
              <a:t>)*</a:t>
            </a:r>
            <a:r>
              <a:rPr lang="en-AU" b="0">
                <a:solidFill>
                  <a:srgbClr val="008000"/>
                </a:solidFill>
                <a:latin typeface="Consolas" pitchFamily="49" charset="0"/>
              </a:rPr>
              <a:t>CAPSTOK</a:t>
            </a:r>
            <a:r>
              <a:rPr lang="en-AU" b="0">
                <a:solidFill>
                  <a:srgbClr val="000000"/>
                </a:solidFill>
                <a:latin typeface="Consolas" pitchFamily="49" charset="0"/>
              </a:rPr>
              <a:t>(</a:t>
            </a:r>
            <a:r>
              <a:rPr lang="en-AU" b="0">
                <a:solidFill>
                  <a:srgbClr val="008000"/>
                </a:solidFill>
                <a:latin typeface="Consolas" pitchFamily="49" charset="0"/>
              </a:rPr>
              <a:t>i</a:t>
            </a:r>
            <a:r>
              <a:rPr lang="en-AU" b="0">
                <a:solidFill>
                  <a:srgbClr val="000000"/>
                </a:solidFill>
                <a:latin typeface="Consolas" pitchFamily="49" charset="0"/>
              </a:rPr>
              <a:t>,</a:t>
            </a:r>
            <a:r>
              <a:rPr lang="en-AU" b="0">
                <a:solidFill>
                  <a:srgbClr val="008000"/>
                </a:solidFill>
                <a:latin typeface="Consolas" pitchFamily="49" charset="0"/>
              </a:rPr>
              <a:t>d</a:t>
            </a:r>
            <a:r>
              <a:rPr lang="en-AU" b="0">
                <a:solidFill>
                  <a:srgbClr val="000000"/>
                </a:solidFill>
                <a:latin typeface="Consolas" pitchFamily="49" charset="0"/>
              </a:rPr>
              <a:t>);</a:t>
            </a:r>
            <a:r>
              <a:rPr lang="en-AU" b="0" i="1">
                <a:solidFill>
                  <a:srgbClr val="0000F0"/>
                </a:solidFill>
                <a:latin typeface="Consolas" pitchFamily="49" charset="0"/>
              </a:rPr>
              <a:t>!not updated!</a:t>
            </a:r>
            <a:br>
              <a:rPr lang="en-AU" b="0">
                <a:solidFill>
                  <a:srgbClr val="000000"/>
                </a:solidFill>
                <a:latin typeface="Consolas" pitchFamily="49" charset="0"/>
              </a:rPr>
            </a:br>
            <a:r>
              <a:rPr lang="en-AU" b="0">
                <a:solidFill>
                  <a:srgbClr val="000000"/>
                </a:solidFill>
                <a:latin typeface="Consolas" pitchFamily="49" charset="0"/>
              </a:rPr>
              <a:t> (</a:t>
            </a:r>
            <a:r>
              <a:rPr lang="en-AU">
                <a:solidFill>
                  <a:srgbClr val="000000"/>
                </a:solidFill>
                <a:latin typeface="Consolas" pitchFamily="49" charset="0"/>
              </a:rPr>
              <a:t>initial</a:t>
            </a:r>
            <a:r>
              <a:rPr lang="en-AU" b="0">
                <a:solidFill>
                  <a:srgbClr val="000000"/>
                </a:solidFill>
                <a:latin typeface="Consolas" pitchFamily="49" charset="0"/>
              </a:rPr>
              <a:t>)(</a:t>
            </a:r>
            <a:r>
              <a:rPr lang="en-AU">
                <a:solidFill>
                  <a:srgbClr val="000000"/>
                </a:solidFill>
                <a:latin typeface="Consolas" pitchFamily="49" charset="0"/>
              </a:rPr>
              <a:t>all</a:t>
            </a:r>
            <a:r>
              <a:rPr lang="en-AU" b="0">
                <a:solidFill>
                  <a:srgbClr val="000000"/>
                </a:solidFill>
                <a:latin typeface="Consolas" pitchFamily="49" charset="0"/>
              </a:rPr>
              <a:t>,</a:t>
            </a:r>
            <a:r>
              <a:rPr lang="en-AU" b="0">
                <a:solidFill>
                  <a:srgbClr val="008000"/>
                </a:solidFill>
                <a:latin typeface="Consolas" pitchFamily="49" charset="0"/>
              </a:rPr>
              <a:t>i</a:t>
            </a:r>
            <a:r>
              <a:rPr lang="en-AU" b="0">
                <a:solidFill>
                  <a:srgbClr val="000000"/>
                </a:solidFill>
                <a:latin typeface="Consolas" pitchFamily="49" charset="0"/>
              </a:rPr>
              <a:t>,</a:t>
            </a:r>
            <a:r>
              <a:rPr lang="en-AU" b="0">
                <a:solidFill>
                  <a:srgbClr val="008000"/>
                </a:solidFill>
                <a:latin typeface="Consolas" pitchFamily="49" charset="0"/>
              </a:rPr>
              <a:t>IND</a:t>
            </a:r>
            <a:r>
              <a:rPr lang="en-AU" b="0">
                <a:solidFill>
                  <a:srgbClr val="000000"/>
                </a:solidFill>
                <a:latin typeface="Consolas" pitchFamily="49" charset="0"/>
              </a:rPr>
              <a:t>)(</a:t>
            </a:r>
            <a:r>
              <a:rPr lang="en-AU">
                <a:solidFill>
                  <a:srgbClr val="000000"/>
                </a:solidFill>
                <a:latin typeface="Consolas" pitchFamily="49" charset="0"/>
              </a:rPr>
              <a:t>all</a:t>
            </a:r>
            <a:r>
              <a:rPr lang="en-AU" b="0">
                <a:solidFill>
                  <a:srgbClr val="000000"/>
                </a:solidFill>
                <a:latin typeface="Consolas" pitchFamily="49" charset="0"/>
              </a:rPr>
              <a:t>,</a:t>
            </a:r>
            <a:r>
              <a:rPr lang="en-AU" b="0">
                <a:solidFill>
                  <a:srgbClr val="008000"/>
                </a:solidFill>
                <a:latin typeface="Consolas" pitchFamily="49" charset="0"/>
              </a:rPr>
              <a:t>d</a:t>
            </a:r>
            <a:r>
              <a:rPr lang="en-AU" b="0">
                <a:solidFill>
                  <a:srgbClr val="000000"/>
                </a:solidFill>
                <a:latin typeface="Consolas" pitchFamily="49" charset="0"/>
              </a:rPr>
              <a:t>,</a:t>
            </a:r>
            <a:r>
              <a:rPr lang="en-AU" b="0">
                <a:solidFill>
                  <a:srgbClr val="008000"/>
                </a:solidFill>
                <a:latin typeface="Consolas" pitchFamily="49" charset="0"/>
              </a:rPr>
              <a:t>DST</a:t>
            </a:r>
            <a:r>
              <a:rPr lang="en-AU" b="0">
                <a:solidFill>
                  <a:srgbClr val="000000"/>
                </a:solidFill>
                <a:latin typeface="Consolas" pitchFamily="49" charset="0"/>
              </a:rPr>
              <a:t>) </a:t>
            </a:r>
            <a:r>
              <a:rPr lang="en-AU" b="0">
                <a:solidFill>
                  <a:srgbClr val="008000"/>
                </a:solidFill>
                <a:latin typeface="Consolas" pitchFamily="49" charset="0"/>
              </a:rPr>
              <a:t>CAPSTOK_OLDP</a:t>
            </a:r>
            <a:r>
              <a:rPr lang="en-AU" b="0">
                <a:solidFill>
                  <a:srgbClr val="000000"/>
                </a:solidFill>
                <a:latin typeface="Consolas" pitchFamily="49" charset="0"/>
              </a:rPr>
              <a:t>(</a:t>
            </a:r>
            <a:r>
              <a:rPr lang="en-AU" b="0">
                <a:solidFill>
                  <a:srgbClr val="008000"/>
                </a:solidFill>
                <a:latin typeface="Consolas" pitchFamily="49" charset="0"/>
              </a:rPr>
              <a:t>i</a:t>
            </a:r>
            <a:r>
              <a:rPr lang="en-AU" b="0">
                <a:solidFill>
                  <a:srgbClr val="000000"/>
                </a:solidFill>
                <a:latin typeface="Consolas" pitchFamily="49" charset="0"/>
              </a:rPr>
              <a:t>,</a:t>
            </a:r>
            <a:r>
              <a:rPr lang="en-AU" b="0">
                <a:solidFill>
                  <a:srgbClr val="008000"/>
                </a:solidFill>
                <a:latin typeface="Consolas" pitchFamily="49" charset="0"/>
              </a:rPr>
              <a:t>d</a:t>
            </a:r>
            <a:r>
              <a:rPr lang="en-AU" b="0">
                <a:solidFill>
                  <a:srgbClr val="000000"/>
                </a:solidFill>
                <a:latin typeface="Consolas" pitchFamily="49" charset="0"/>
              </a:rPr>
              <a:t>)=</a:t>
            </a:r>
            <a:r>
              <a:rPr lang="en-AU" b="0">
                <a:solidFill>
                  <a:srgbClr val="008000"/>
                </a:solidFill>
                <a:latin typeface="Consolas" pitchFamily="49" charset="0"/>
              </a:rPr>
              <a:t>CAPSTOK</a:t>
            </a:r>
            <a:r>
              <a:rPr lang="en-AU" b="0">
                <a:solidFill>
                  <a:srgbClr val="000000"/>
                </a:solidFill>
                <a:latin typeface="Consolas" pitchFamily="49" charset="0"/>
              </a:rPr>
              <a:t>(</a:t>
            </a:r>
            <a:r>
              <a:rPr lang="en-AU" b="0">
                <a:solidFill>
                  <a:srgbClr val="008000"/>
                </a:solidFill>
                <a:latin typeface="Consolas" pitchFamily="49" charset="0"/>
              </a:rPr>
              <a:t>i</a:t>
            </a:r>
            <a:r>
              <a:rPr lang="en-AU" b="0">
                <a:solidFill>
                  <a:srgbClr val="000000"/>
                </a:solidFill>
                <a:latin typeface="Consolas" pitchFamily="49" charset="0"/>
              </a:rPr>
              <a:t>,</a:t>
            </a:r>
            <a:r>
              <a:rPr lang="en-AU" b="0">
                <a:solidFill>
                  <a:srgbClr val="008000"/>
                </a:solidFill>
                <a:latin typeface="Consolas" pitchFamily="49" charset="0"/>
              </a:rPr>
              <a:t>d</a:t>
            </a:r>
            <a:r>
              <a:rPr lang="en-AU" b="0">
                <a:solidFill>
                  <a:srgbClr val="000000"/>
                </a:solidFill>
                <a:latin typeface="Consolas" pitchFamily="49" charset="0"/>
              </a:rPr>
              <a:t>);</a:t>
            </a:r>
            <a:br>
              <a:rPr lang="en-AU" b="0">
                <a:solidFill>
                  <a:srgbClr val="000000"/>
                </a:solidFill>
                <a:latin typeface="Consolas" pitchFamily="49" charset="0"/>
              </a:rPr>
            </a:br>
            <a:r>
              <a:rPr lang="en-AU">
                <a:solidFill>
                  <a:srgbClr val="000000"/>
                </a:solidFill>
                <a:latin typeface="Consolas" pitchFamily="49" charset="0"/>
              </a:rPr>
              <a:t>Update</a:t>
            </a:r>
            <a:br>
              <a:rPr lang="en-AU" b="0">
                <a:solidFill>
                  <a:srgbClr val="000000"/>
                </a:solidFill>
                <a:latin typeface="Consolas" pitchFamily="49" charset="0"/>
              </a:rPr>
            </a:br>
            <a:r>
              <a:rPr lang="en-AU" b="0">
                <a:solidFill>
                  <a:srgbClr val="000000"/>
                </a:solidFill>
                <a:latin typeface="Consolas" pitchFamily="49" charset="0"/>
              </a:rPr>
              <a:t> (</a:t>
            </a:r>
            <a:r>
              <a:rPr lang="en-AU">
                <a:solidFill>
                  <a:srgbClr val="000000"/>
                </a:solidFill>
                <a:latin typeface="Consolas" pitchFamily="49" charset="0"/>
              </a:rPr>
              <a:t>all</a:t>
            </a:r>
            <a:r>
              <a:rPr lang="en-AU" b="0">
                <a:solidFill>
                  <a:srgbClr val="000000"/>
                </a:solidFill>
                <a:latin typeface="Consolas" pitchFamily="49" charset="0"/>
              </a:rPr>
              <a:t>,</a:t>
            </a:r>
            <a:r>
              <a:rPr lang="en-AU" b="0">
                <a:solidFill>
                  <a:srgbClr val="008000"/>
                </a:solidFill>
                <a:latin typeface="Consolas" pitchFamily="49" charset="0"/>
              </a:rPr>
              <a:t>i</a:t>
            </a:r>
            <a:r>
              <a:rPr lang="en-AU" b="0">
                <a:solidFill>
                  <a:srgbClr val="000000"/>
                </a:solidFill>
                <a:latin typeface="Consolas" pitchFamily="49" charset="0"/>
              </a:rPr>
              <a:t>,</a:t>
            </a:r>
            <a:r>
              <a:rPr lang="en-AU" b="0">
                <a:solidFill>
                  <a:srgbClr val="008000"/>
                </a:solidFill>
                <a:latin typeface="Consolas" pitchFamily="49" charset="0"/>
              </a:rPr>
              <a:t>IND</a:t>
            </a:r>
            <a:r>
              <a:rPr lang="en-AU" b="0">
                <a:solidFill>
                  <a:srgbClr val="000000"/>
                </a:solidFill>
                <a:latin typeface="Consolas" pitchFamily="49" charset="0"/>
              </a:rPr>
              <a:t>)(</a:t>
            </a:r>
            <a:r>
              <a:rPr lang="en-AU">
                <a:solidFill>
                  <a:srgbClr val="000000"/>
                </a:solidFill>
                <a:latin typeface="Consolas" pitchFamily="49" charset="0"/>
              </a:rPr>
              <a:t>all</a:t>
            </a:r>
            <a:r>
              <a:rPr lang="en-AU" b="0">
                <a:solidFill>
                  <a:srgbClr val="000000"/>
                </a:solidFill>
                <a:latin typeface="Consolas" pitchFamily="49" charset="0"/>
              </a:rPr>
              <a:t>,</a:t>
            </a:r>
            <a:r>
              <a:rPr lang="en-AU" b="0">
                <a:solidFill>
                  <a:srgbClr val="008000"/>
                </a:solidFill>
                <a:latin typeface="Consolas" pitchFamily="49" charset="0"/>
              </a:rPr>
              <a:t>d</a:t>
            </a:r>
            <a:r>
              <a:rPr lang="en-AU" b="0">
                <a:solidFill>
                  <a:srgbClr val="000000"/>
                </a:solidFill>
                <a:latin typeface="Consolas" pitchFamily="49" charset="0"/>
              </a:rPr>
              <a:t>,</a:t>
            </a:r>
            <a:r>
              <a:rPr lang="en-AU" b="0">
                <a:solidFill>
                  <a:srgbClr val="008000"/>
                </a:solidFill>
                <a:latin typeface="Consolas" pitchFamily="49" charset="0"/>
              </a:rPr>
              <a:t>DST</a:t>
            </a:r>
            <a:r>
              <a:rPr lang="en-AU" b="0">
                <a:solidFill>
                  <a:srgbClr val="000000"/>
                </a:solidFill>
                <a:latin typeface="Consolas" pitchFamily="49" charset="0"/>
              </a:rPr>
              <a:t>) </a:t>
            </a:r>
            <a:r>
              <a:rPr lang="en-AU" b="0">
                <a:solidFill>
                  <a:srgbClr val="008000"/>
                </a:solidFill>
                <a:latin typeface="Consolas" pitchFamily="49" charset="0"/>
              </a:rPr>
              <a:t>CAPSTOK_OLDP</a:t>
            </a:r>
            <a:r>
              <a:rPr lang="en-AU" b="0">
                <a:solidFill>
                  <a:srgbClr val="000000"/>
                </a:solidFill>
                <a:latin typeface="Consolas" pitchFamily="49" charset="0"/>
              </a:rPr>
              <a:t>(</a:t>
            </a:r>
            <a:r>
              <a:rPr lang="en-AU" b="0">
                <a:solidFill>
                  <a:srgbClr val="008000"/>
                </a:solidFill>
                <a:latin typeface="Consolas" pitchFamily="49" charset="0"/>
              </a:rPr>
              <a:t>i</a:t>
            </a:r>
            <a:r>
              <a:rPr lang="en-AU" b="0">
                <a:solidFill>
                  <a:srgbClr val="000000"/>
                </a:solidFill>
                <a:latin typeface="Consolas" pitchFamily="49" charset="0"/>
              </a:rPr>
              <a:t>,</a:t>
            </a:r>
            <a:r>
              <a:rPr lang="en-AU" b="0">
                <a:solidFill>
                  <a:srgbClr val="008000"/>
                </a:solidFill>
                <a:latin typeface="Consolas" pitchFamily="49" charset="0"/>
              </a:rPr>
              <a:t>d</a:t>
            </a:r>
            <a:r>
              <a:rPr lang="en-AU" b="0">
                <a:solidFill>
                  <a:srgbClr val="000000"/>
                </a:solidFill>
                <a:latin typeface="Consolas" pitchFamily="49" charset="0"/>
              </a:rPr>
              <a:t>)=</a:t>
            </a:r>
            <a:r>
              <a:rPr lang="en-AU" b="0">
                <a:solidFill>
                  <a:srgbClr val="008000"/>
                </a:solidFill>
                <a:latin typeface="Consolas" pitchFamily="49" charset="0"/>
              </a:rPr>
              <a:t>xcap</a:t>
            </a:r>
            <a:r>
              <a:rPr lang="en-AU" b="0">
                <a:solidFill>
                  <a:srgbClr val="000000"/>
                </a:solidFill>
                <a:latin typeface="Consolas" pitchFamily="49" charset="0"/>
              </a:rPr>
              <a:t>(</a:t>
            </a:r>
            <a:r>
              <a:rPr lang="en-AU" b="0">
                <a:solidFill>
                  <a:srgbClr val="008000"/>
                </a:solidFill>
                <a:latin typeface="Consolas" pitchFamily="49" charset="0"/>
              </a:rPr>
              <a:t>i</a:t>
            </a:r>
            <a:r>
              <a:rPr lang="en-AU" b="0">
                <a:solidFill>
                  <a:srgbClr val="000000"/>
                </a:solidFill>
                <a:latin typeface="Consolas" pitchFamily="49" charset="0"/>
              </a:rPr>
              <a:t>,</a:t>
            </a:r>
            <a:r>
              <a:rPr lang="en-AU" b="0">
                <a:solidFill>
                  <a:srgbClr val="008000"/>
                </a:solidFill>
                <a:latin typeface="Consolas" pitchFamily="49" charset="0"/>
              </a:rPr>
              <a:t>d</a:t>
            </a:r>
            <a:r>
              <a:rPr lang="en-AU" b="0">
                <a:solidFill>
                  <a:srgbClr val="000000"/>
                </a:solidFill>
                <a:latin typeface="Consolas" pitchFamily="49" charset="0"/>
              </a:rPr>
              <a:t>);</a:t>
            </a:r>
            <a:br>
              <a:rPr lang="en-AU" b="0">
                <a:solidFill>
                  <a:srgbClr val="000000"/>
                </a:solidFill>
                <a:latin typeface="Consolas" pitchFamily="49" charset="0"/>
              </a:rPr>
            </a:br>
            <a:r>
              <a:rPr lang="en-AU" b="0">
                <a:solidFill>
                  <a:srgbClr val="000000"/>
                </a:solidFill>
                <a:latin typeface="Consolas" pitchFamily="49" charset="0"/>
              </a:rPr>
              <a:t> </a:t>
            </a:r>
            <a:br>
              <a:rPr lang="en-AU" b="0">
                <a:solidFill>
                  <a:srgbClr val="000000"/>
                </a:solidFill>
                <a:latin typeface="Consolas" pitchFamily="49" charset="0"/>
              </a:rPr>
            </a:br>
            <a:r>
              <a:rPr lang="en-AU">
                <a:solidFill>
                  <a:srgbClr val="000000"/>
                </a:solidFill>
                <a:latin typeface="Consolas" pitchFamily="49" charset="0"/>
              </a:rPr>
              <a:t>Variable</a:t>
            </a:r>
            <a:br>
              <a:rPr lang="en-AU" b="0">
                <a:solidFill>
                  <a:srgbClr val="000000"/>
                </a:solidFill>
                <a:latin typeface="Consolas" pitchFamily="49" charset="0"/>
              </a:rPr>
            </a:br>
            <a:r>
              <a:rPr lang="en-AU" b="0">
                <a:solidFill>
                  <a:srgbClr val="000000"/>
                </a:solidFill>
                <a:latin typeface="Consolas" pitchFamily="49" charset="0"/>
              </a:rPr>
              <a:t> (</a:t>
            </a:r>
            <a:r>
              <a:rPr lang="en-AU">
                <a:solidFill>
                  <a:srgbClr val="000000"/>
                </a:solidFill>
                <a:latin typeface="Consolas" pitchFamily="49" charset="0"/>
              </a:rPr>
              <a:t>all</a:t>
            </a:r>
            <a:r>
              <a:rPr lang="en-AU" b="0">
                <a:solidFill>
                  <a:srgbClr val="000000"/>
                </a:solidFill>
                <a:latin typeface="Consolas" pitchFamily="49" charset="0"/>
              </a:rPr>
              <a:t>,</a:t>
            </a:r>
            <a:r>
              <a:rPr lang="en-AU" b="0">
                <a:solidFill>
                  <a:srgbClr val="008000"/>
                </a:solidFill>
                <a:latin typeface="Consolas" pitchFamily="49" charset="0"/>
              </a:rPr>
              <a:t>i</a:t>
            </a:r>
            <a:r>
              <a:rPr lang="en-AU" b="0">
                <a:solidFill>
                  <a:srgbClr val="000000"/>
                </a:solidFill>
                <a:latin typeface="Consolas" pitchFamily="49" charset="0"/>
              </a:rPr>
              <a:t>,</a:t>
            </a:r>
            <a:r>
              <a:rPr lang="en-AU" b="0">
                <a:solidFill>
                  <a:srgbClr val="008000"/>
                </a:solidFill>
                <a:latin typeface="Consolas" pitchFamily="49" charset="0"/>
              </a:rPr>
              <a:t>IND</a:t>
            </a:r>
            <a:r>
              <a:rPr lang="en-AU" b="0">
                <a:solidFill>
                  <a:srgbClr val="000000"/>
                </a:solidFill>
                <a:latin typeface="Consolas" pitchFamily="49" charset="0"/>
              </a:rPr>
              <a:t>)(</a:t>
            </a:r>
            <a:r>
              <a:rPr lang="en-AU">
                <a:solidFill>
                  <a:srgbClr val="000000"/>
                </a:solidFill>
                <a:latin typeface="Consolas" pitchFamily="49" charset="0"/>
              </a:rPr>
              <a:t>all</a:t>
            </a:r>
            <a:r>
              <a:rPr lang="en-AU" b="0">
                <a:solidFill>
                  <a:srgbClr val="000000"/>
                </a:solidFill>
                <a:latin typeface="Consolas" pitchFamily="49" charset="0"/>
              </a:rPr>
              <a:t>,</a:t>
            </a:r>
            <a:r>
              <a:rPr lang="en-AU" b="0">
                <a:solidFill>
                  <a:srgbClr val="008000"/>
                </a:solidFill>
                <a:latin typeface="Consolas" pitchFamily="49" charset="0"/>
              </a:rPr>
              <a:t>d</a:t>
            </a:r>
            <a:r>
              <a:rPr lang="en-AU" b="0">
                <a:solidFill>
                  <a:srgbClr val="000000"/>
                </a:solidFill>
                <a:latin typeface="Consolas" pitchFamily="49" charset="0"/>
              </a:rPr>
              <a:t>,</a:t>
            </a:r>
            <a:r>
              <a:rPr lang="en-AU" b="0">
                <a:solidFill>
                  <a:srgbClr val="008000"/>
                </a:solidFill>
                <a:latin typeface="Consolas" pitchFamily="49" charset="0"/>
              </a:rPr>
              <a:t>DST</a:t>
            </a:r>
            <a:r>
              <a:rPr lang="en-AU" b="0">
                <a:solidFill>
                  <a:srgbClr val="000000"/>
                </a:solidFill>
                <a:latin typeface="Consolas" pitchFamily="49" charset="0"/>
              </a:rPr>
              <a:t>) </a:t>
            </a:r>
            <a:r>
              <a:rPr lang="en-AU" b="0">
                <a:solidFill>
                  <a:srgbClr val="008000"/>
                </a:solidFill>
                <a:latin typeface="Consolas" pitchFamily="49" charset="0"/>
              </a:rPr>
              <a:t>faccum</a:t>
            </a:r>
            <a:r>
              <a:rPr lang="en-AU" b="0">
                <a:solidFill>
                  <a:srgbClr val="000000"/>
                </a:solidFill>
                <a:latin typeface="Consolas" pitchFamily="49" charset="0"/>
              </a:rPr>
              <a:t>(</a:t>
            </a:r>
            <a:r>
              <a:rPr lang="en-AU" b="0">
                <a:solidFill>
                  <a:srgbClr val="008000"/>
                </a:solidFill>
                <a:latin typeface="Consolas" pitchFamily="49" charset="0"/>
              </a:rPr>
              <a:t>i</a:t>
            </a:r>
            <a:r>
              <a:rPr lang="en-AU" b="0">
                <a:solidFill>
                  <a:srgbClr val="000000"/>
                </a:solidFill>
                <a:latin typeface="Consolas" pitchFamily="49" charset="0"/>
              </a:rPr>
              <a:t>,</a:t>
            </a:r>
            <a:r>
              <a:rPr lang="en-AU" b="0">
                <a:solidFill>
                  <a:srgbClr val="008000"/>
                </a:solidFill>
                <a:latin typeface="Consolas" pitchFamily="49" charset="0"/>
              </a:rPr>
              <a:t>d</a:t>
            </a:r>
            <a:r>
              <a:rPr lang="en-AU" b="0">
                <a:solidFill>
                  <a:srgbClr val="000000"/>
                </a:solidFill>
                <a:latin typeface="Consolas" pitchFamily="49" charset="0"/>
              </a:rPr>
              <a:t>)</a:t>
            </a:r>
            <a:br>
              <a:rPr lang="en-AU" b="0">
                <a:solidFill>
                  <a:srgbClr val="000000"/>
                </a:solidFill>
                <a:latin typeface="Consolas" pitchFamily="49" charset="0"/>
              </a:rPr>
            </a:br>
            <a:r>
              <a:rPr lang="en-AU" b="0">
                <a:solidFill>
                  <a:srgbClr val="000000"/>
                </a:solidFill>
                <a:latin typeface="Consolas" pitchFamily="49" charset="0"/>
              </a:rPr>
              <a:t>   </a:t>
            </a:r>
            <a:r>
              <a:rPr lang="en-AU" b="0" i="1">
                <a:solidFill>
                  <a:srgbClr val="000000"/>
                </a:solidFill>
                <a:latin typeface="Consolas" pitchFamily="49" charset="0"/>
              </a:rPr>
              <a:t># Shifter to switch on accumulation equation #</a:t>
            </a:r>
            <a:r>
              <a:rPr lang="en-AU" b="0">
                <a:solidFill>
                  <a:srgbClr val="000000"/>
                </a:solidFill>
                <a:latin typeface="Consolas" pitchFamily="49" charset="0"/>
              </a:rPr>
              <a:t>;</a:t>
            </a:r>
            <a:br>
              <a:rPr lang="en-AU" b="0">
                <a:solidFill>
                  <a:srgbClr val="000000"/>
                </a:solidFill>
                <a:latin typeface="Consolas" pitchFamily="49" charset="0"/>
              </a:rPr>
            </a:br>
            <a:r>
              <a:rPr lang="en-AU" b="0">
                <a:solidFill>
                  <a:srgbClr val="000000"/>
                </a:solidFill>
                <a:latin typeface="Consolas" pitchFamily="49" charset="0"/>
              </a:rPr>
              <a:t>  (</a:t>
            </a:r>
            <a:r>
              <a:rPr lang="en-AU">
                <a:solidFill>
                  <a:srgbClr val="000000"/>
                </a:solidFill>
                <a:latin typeface="Consolas" pitchFamily="49" charset="0"/>
              </a:rPr>
              <a:t>change</a:t>
            </a:r>
            <a:r>
              <a:rPr lang="en-AU" b="0">
                <a:solidFill>
                  <a:srgbClr val="000000"/>
                </a:solidFill>
                <a:latin typeface="Consolas" pitchFamily="49" charset="0"/>
              </a:rPr>
              <a:t>) </a:t>
            </a:r>
            <a:r>
              <a:rPr lang="en-AU" b="0">
                <a:solidFill>
                  <a:srgbClr val="008000"/>
                </a:solidFill>
                <a:latin typeface="Consolas" pitchFamily="49" charset="0"/>
              </a:rPr>
              <a:t>delUnity</a:t>
            </a:r>
            <a:r>
              <a:rPr lang="en-AU" b="0">
                <a:solidFill>
                  <a:srgbClr val="000000"/>
                </a:solidFill>
                <a:latin typeface="Consolas" pitchFamily="49" charset="0"/>
              </a:rPr>
              <a:t> </a:t>
            </a:r>
            <a:r>
              <a:rPr lang="en-AU" b="0" i="1">
                <a:solidFill>
                  <a:srgbClr val="000000"/>
                </a:solidFill>
                <a:latin typeface="Consolas" pitchFamily="49" charset="0"/>
              </a:rPr>
              <a:t># Dummy variable, always exogenously set to one #</a:t>
            </a:r>
            <a:r>
              <a:rPr lang="en-AU" b="0">
                <a:solidFill>
                  <a:srgbClr val="000000"/>
                </a:solidFill>
                <a:latin typeface="Consolas" pitchFamily="49" charset="0"/>
              </a:rPr>
              <a:t>;</a:t>
            </a:r>
            <a:br>
              <a:rPr lang="en-AU" b="0">
                <a:solidFill>
                  <a:srgbClr val="000000"/>
                </a:solidFill>
                <a:latin typeface="Consolas" pitchFamily="49" charset="0"/>
              </a:rPr>
            </a:br>
            <a:r>
              <a:rPr lang="en-AU" b="0">
                <a:solidFill>
                  <a:srgbClr val="000000"/>
                </a:solidFill>
                <a:latin typeface="Consolas" pitchFamily="49" charset="0"/>
              </a:rPr>
              <a:t> </a:t>
            </a:r>
            <a:br>
              <a:rPr lang="en-AU" b="0">
                <a:solidFill>
                  <a:srgbClr val="000000"/>
                </a:solidFill>
                <a:latin typeface="Consolas" pitchFamily="49" charset="0"/>
              </a:rPr>
            </a:br>
            <a:r>
              <a:rPr lang="en-AU">
                <a:solidFill>
                  <a:srgbClr val="000000"/>
                </a:solidFill>
                <a:latin typeface="Consolas" pitchFamily="49" charset="0"/>
              </a:rPr>
              <a:t>Equation</a:t>
            </a:r>
            <a:r>
              <a:rPr lang="en-AU" b="0">
                <a:solidFill>
                  <a:srgbClr val="000000"/>
                </a:solidFill>
                <a:latin typeface="Consolas" pitchFamily="49" charset="0"/>
              </a:rPr>
              <a:t> </a:t>
            </a:r>
            <a:r>
              <a:rPr lang="en-AU" b="0">
                <a:solidFill>
                  <a:srgbClr val="008000"/>
                </a:solidFill>
                <a:latin typeface="Consolas" pitchFamily="49" charset="0"/>
              </a:rPr>
              <a:t>E_faccum</a:t>
            </a:r>
            <a:r>
              <a:rPr lang="en-AU" b="0">
                <a:solidFill>
                  <a:srgbClr val="000000"/>
                </a:solidFill>
                <a:latin typeface="Consolas" pitchFamily="49" charset="0"/>
              </a:rPr>
              <a:t> </a:t>
            </a:r>
            <a:r>
              <a:rPr lang="en-AU" b="0" i="1">
                <a:solidFill>
                  <a:srgbClr val="000000"/>
                </a:solidFill>
                <a:latin typeface="Consolas" pitchFamily="49" charset="0"/>
              </a:rPr>
              <a:t># Capital accumulation equation #</a:t>
            </a:r>
            <a:br>
              <a:rPr lang="en-AU" b="0">
                <a:solidFill>
                  <a:srgbClr val="000000"/>
                </a:solidFill>
                <a:latin typeface="Consolas" pitchFamily="49" charset="0"/>
              </a:rPr>
            </a:br>
            <a:r>
              <a:rPr lang="en-AU" b="0">
                <a:solidFill>
                  <a:srgbClr val="000000"/>
                </a:solidFill>
                <a:latin typeface="Consolas" pitchFamily="49" charset="0"/>
              </a:rPr>
              <a:t> (</a:t>
            </a:r>
            <a:r>
              <a:rPr lang="en-AU">
                <a:solidFill>
                  <a:srgbClr val="000000"/>
                </a:solidFill>
                <a:latin typeface="Consolas" pitchFamily="49" charset="0"/>
              </a:rPr>
              <a:t>all</a:t>
            </a:r>
            <a:r>
              <a:rPr lang="en-AU" b="0">
                <a:solidFill>
                  <a:srgbClr val="000000"/>
                </a:solidFill>
                <a:latin typeface="Consolas" pitchFamily="49" charset="0"/>
              </a:rPr>
              <a:t>,</a:t>
            </a:r>
            <a:r>
              <a:rPr lang="en-AU" b="0">
                <a:solidFill>
                  <a:srgbClr val="008000"/>
                </a:solidFill>
                <a:latin typeface="Consolas" pitchFamily="49" charset="0"/>
              </a:rPr>
              <a:t>i</a:t>
            </a:r>
            <a:r>
              <a:rPr lang="en-AU" b="0">
                <a:solidFill>
                  <a:srgbClr val="000000"/>
                </a:solidFill>
                <a:latin typeface="Consolas" pitchFamily="49" charset="0"/>
              </a:rPr>
              <a:t>,</a:t>
            </a:r>
            <a:r>
              <a:rPr lang="en-AU" b="0">
                <a:solidFill>
                  <a:srgbClr val="008000"/>
                </a:solidFill>
                <a:latin typeface="Consolas" pitchFamily="49" charset="0"/>
              </a:rPr>
              <a:t>IND</a:t>
            </a:r>
            <a:r>
              <a:rPr lang="en-AU" b="0">
                <a:solidFill>
                  <a:srgbClr val="000000"/>
                </a:solidFill>
                <a:latin typeface="Consolas" pitchFamily="49" charset="0"/>
              </a:rPr>
              <a:t>)(</a:t>
            </a:r>
            <a:r>
              <a:rPr lang="en-AU">
                <a:solidFill>
                  <a:srgbClr val="000000"/>
                </a:solidFill>
                <a:latin typeface="Consolas" pitchFamily="49" charset="0"/>
              </a:rPr>
              <a:t>all</a:t>
            </a:r>
            <a:r>
              <a:rPr lang="en-AU" b="0">
                <a:solidFill>
                  <a:srgbClr val="000000"/>
                </a:solidFill>
                <a:latin typeface="Consolas" pitchFamily="49" charset="0"/>
              </a:rPr>
              <a:t>,</a:t>
            </a:r>
            <a:r>
              <a:rPr lang="en-AU" b="0">
                <a:solidFill>
                  <a:srgbClr val="008000"/>
                </a:solidFill>
                <a:latin typeface="Consolas" pitchFamily="49" charset="0"/>
              </a:rPr>
              <a:t>d</a:t>
            </a:r>
            <a:r>
              <a:rPr lang="en-AU" b="0">
                <a:solidFill>
                  <a:srgbClr val="000000"/>
                </a:solidFill>
                <a:latin typeface="Consolas" pitchFamily="49" charset="0"/>
              </a:rPr>
              <a:t>,</a:t>
            </a:r>
            <a:r>
              <a:rPr lang="en-AU" b="0">
                <a:solidFill>
                  <a:srgbClr val="008000"/>
                </a:solidFill>
                <a:latin typeface="Consolas" pitchFamily="49" charset="0"/>
              </a:rPr>
              <a:t>DST</a:t>
            </a:r>
            <a:r>
              <a:rPr lang="en-AU" b="0">
                <a:solidFill>
                  <a:srgbClr val="000000"/>
                </a:solidFill>
                <a:latin typeface="Consolas" pitchFamily="49" charset="0"/>
              </a:rPr>
              <a:t>) </a:t>
            </a:r>
          </a:p>
          <a:p>
            <a:pPr marL="0" indent="0">
              <a:buFontTx/>
              <a:buNone/>
            </a:pPr>
            <a:r>
              <a:rPr lang="en-AU" sz="1800" b="0">
                <a:solidFill>
                  <a:srgbClr val="000000"/>
                </a:solidFill>
                <a:latin typeface="Consolas" pitchFamily="49" charset="0"/>
              </a:rPr>
              <a:t>0.01*</a:t>
            </a:r>
            <a:r>
              <a:rPr lang="en-AU" sz="1800" b="0">
                <a:solidFill>
                  <a:srgbClr val="008000"/>
                </a:solidFill>
                <a:latin typeface="Consolas" pitchFamily="49" charset="0"/>
              </a:rPr>
              <a:t>CAPSTOK_OLDP</a:t>
            </a:r>
            <a:r>
              <a:rPr lang="en-AU" sz="1800" b="0">
                <a:solidFill>
                  <a:srgbClr val="000000"/>
                </a:solidFill>
                <a:latin typeface="Consolas" pitchFamily="49" charset="0"/>
              </a:rPr>
              <a:t>(</a:t>
            </a:r>
            <a:r>
              <a:rPr lang="en-AU" sz="1800" b="0">
                <a:solidFill>
                  <a:srgbClr val="008000"/>
                </a:solidFill>
                <a:latin typeface="Consolas" pitchFamily="49" charset="0"/>
              </a:rPr>
              <a:t>i</a:t>
            </a:r>
            <a:r>
              <a:rPr lang="en-AU" sz="1800" b="0">
                <a:solidFill>
                  <a:srgbClr val="000000"/>
                </a:solidFill>
                <a:latin typeface="Consolas" pitchFamily="49" charset="0"/>
              </a:rPr>
              <a:t>,</a:t>
            </a:r>
            <a:r>
              <a:rPr lang="en-AU" sz="1800" b="0">
                <a:solidFill>
                  <a:srgbClr val="008000"/>
                </a:solidFill>
                <a:latin typeface="Consolas" pitchFamily="49" charset="0"/>
              </a:rPr>
              <a:t>d</a:t>
            </a:r>
            <a:r>
              <a:rPr lang="en-AU" sz="1800" b="0">
                <a:solidFill>
                  <a:srgbClr val="000000"/>
                </a:solidFill>
                <a:latin typeface="Consolas" pitchFamily="49" charset="0"/>
              </a:rPr>
              <a:t>)*</a:t>
            </a:r>
            <a:r>
              <a:rPr lang="en-AU" sz="1800" b="0">
                <a:solidFill>
                  <a:srgbClr val="008000"/>
                </a:solidFill>
                <a:latin typeface="Consolas" pitchFamily="49" charset="0"/>
              </a:rPr>
              <a:t>xcap</a:t>
            </a:r>
            <a:r>
              <a:rPr lang="en-AU" sz="1800" b="0">
                <a:solidFill>
                  <a:srgbClr val="000000"/>
                </a:solidFill>
                <a:latin typeface="Consolas" pitchFamily="49" charset="0"/>
              </a:rPr>
              <a:t>(</a:t>
            </a:r>
            <a:r>
              <a:rPr lang="en-AU" sz="1800" b="0">
                <a:solidFill>
                  <a:srgbClr val="008000"/>
                </a:solidFill>
                <a:latin typeface="Consolas" pitchFamily="49" charset="0"/>
              </a:rPr>
              <a:t>i</a:t>
            </a:r>
            <a:r>
              <a:rPr lang="en-AU" sz="1800" b="0">
                <a:solidFill>
                  <a:srgbClr val="000000"/>
                </a:solidFill>
                <a:latin typeface="Consolas" pitchFamily="49" charset="0"/>
              </a:rPr>
              <a:t>,</a:t>
            </a:r>
            <a:r>
              <a:rPr lang="en-AU" sz="1800" b="0">
                <a:solidFill>
                  <a:srgbClr val="008000"/>
                </a:solidFill>
                <a:latin typeface="Consolas" pitchFamily="49" charset="0"/>
              </a:rPr>
              <a:t>d</a:t>
            </a:r>
            <a:r>
              <a:rPr lang="en-AU" sz="1800" b="0">
                <a:solidFill>
                  <a:srgbClr val="000000"/>
                </a:solidFill>
                <a:latin typeface="Consolas" pitchFamily="49" charset="0"/>
              </a:rPr>
              <a:t>)=</a:t>
            </a:r>
            <a:r>
              <a:rPr lang="en-AU" sz="1800" b="0">
                <a:solidFill>
                  <a:srgbClr val="008000"/>
                </a:solidFill>
                <a:latin typeface="Consolas" pitchFamily="49" charset="0"/>
              </a:rPr>
              <a:t>CAPADD</a:t>
            </a:r>
            <a:r>
              <a:rPr lang="en-AU" sz="1800" b="0">
                <a:solidFill>
                  <a:srgbClr val="000000"/>
                </a:solidFill>
                <a:latin typeface="Consolas" pitchFamily="49" charset="0"/>
              </a:rPr>
              <a:t>(</a:t>
            </a:r>
            <a:r>
              <a:rPr lang="en-AU" sz="1800" b="0">
                <a:solidFill>
                  <a:srgbClr val="008000"/>
                </a:solidFill>
                <a:latin typeface="Consolas" pitchFamily="49" charset="0"/>
              </a:rPr>
              <a:t>i</a:t>
            </a:r>
            <a:r>
              <a:rPr lang="en-AU" sz="1800" b="0">
                <a:solidFill>
                  <a:srgbClr val="000000"/>
                </a:solidFill>
                <a:latin typeface="Consolas" pitchFamily="49" charset="0"/>
              </a:rPr>
              <a:t>,</a:t>
            </a:r>
            <a:r>
              <a:rPr lang="en-AU" sz="1800" b="0">
                <a:solidFill>
                  <a:srgbClr val="008000"/>
                </a:solidFill>
                <a:latin typeface="Consolas" pitchFamily="49" charset="0"/>
              </a:rPr>
              <a:t>d</a:t>
            </a:r>
            <a:r>
              <a:rPr lang="en-AU" sz="1800" b="0">
                <a:solidFill>
                  <a:srgbClr val="000000"/>
                </a:solidFill>
                <a:latin typeface="Consolas" pitchFamily="49" charset="0"/>
              </a:rPr>
              <a:t>)*</a:t>
            </a:r>
            <a:r>
              <a:rPr lang="en-AU" sz="1800" b="0">
                <a:solidFill>
                  <a:srgbClr val="008000"/>
                </a:solidFill>
                <a:latin typeface="Consolas" pitchFamily="49" charset="0"/>
              </a:rPr>
              <a:t>delUnity</a:t>
            </a:r>
            <a:r>
              <a:rPr lang="en-AU" sz="1800" b="0">
                <a:solidFill>
                  <a:srgbClr val="000000"/>
                </a:solidFill>
                <a:latin typeface="Consolas" pitchFamily="49" charset="0"/>
              </a:rPr>
              <a:t> +</a:t>
            </a:r>
            <a:r>
              <a:rPr lang="en-AU" sz="1800" b="0">
                <a:solidFill>
                  <a:srgbClr val="008000"/>
                </a:solidFill>
                <a:latin typeface="Consolas" pitchFamily="49" charset="0"/>
              </a:rPr>
              <a:t>faccum</a:t>
            </a:r>
            <a:r>
              <a:rPr lang="en-AU" sz="1800" b="0">
                <a:solidFill>
                  <a:srgbClr val="000000"/>
                </a:solidFill>
                <a:latin typeface="Consolas" pitchFamily="49" charset="0"/>
              </a:rPr>
              <a:t>(</a:t>
            </a:r>
            <a:r>
              <a:rPr lang="en-AU" sz="1800" b="0">
                <a:solidFill>
                  <a:srgbClr val="008000"/>
                </a:solidFill>
                <a:latin typeface="Consolas" pitchFamily="49" charset="0"/>
              </a:rPr>
              <a:t>i</a:t>
            </a:r>
            <a:r>
              <a:rPr lang="en-AU" sz="1800" b="0">
                <a:solidFill>
                  <a:srgbClr val="000000"/>
                </a:solidFill>
                <a:latin typeface="Consolas" pitchFamily="49" charset="0"/>
              </a:rPr>
              <a:t>,</a:t>
            </a:r>
            <a:r>
              <a:rPr lang="en-AU" sz="1800" b="0">
                <a:solidFill>
                  <a:srgbClr val="008000"/>
                </a:solidFill>
                <a:latin typeface="Consolas" pitchFamily="49" charset="0"/>
              </a:rPr>
              <a:t>d</a:t>
            </a:r>
            <a:r>
              <a:rPr lang="en-AU" sz="1800" b="0">
                <a:solidFill>
                  <a:srgbClr val="000000"/>
                </a:solidFill>
                <a:latin typeface="Consolas" pitchFamily="49" charset="0"/>
              </a:rPr>
              <a:t>);</a:t>
            </a:r>
          </a:p>
          <a:p>
            <a:pPr marL="0" indent="0">
              <a:buFontTx/>
              <a:buNone/>
            </a:pPr>
            <a:r>
              <a:rPr lang="en-AU" sz="1800" b="0">
                <a:solidFill>
                  <a:srgbClr val="000000"/>
                </a:solidFill>
              </a:rPr>
              <a:t>          ordinary change in K                                                      </a:t>
            </a:r>
            <a:r>
              <a:rPr lang="en-AU" sz="1800">
                <a:solidFill>
                  <a:srgbClr val="CC3300"/>
                </a:solidFill>
              </a:rPr>
              <a:t>1                   0</a:t>
            </a:r>
            <a:endParaRPr lang="en-AU" sz="1800" b="0">
              <a:solidFill>
                <a:srgbClr val="000000"/>
              </a:solidFill>
            </a:endParaRPr>
          </a:p>
          <a:p>
            <a:pPr marL="0" indent="0">
              <a:buFontTx/>
              <a:buNone/>
            </a:pPr>
            <a:br>
              <a:rPr lang="en-AU" b="0">
                <a:solidFill>
                  <a:srgbClr val="000000"/>
                </a:solidFill>
                <a:latin typeface="Consolas" pitchFamily="49" charset="0"/>
              </a:rPr>
            </a:br>
            <a:endParaRPr lang="en-AU" b="0" i="1">
              <a:solidFill>
                <a:srgbClr val="0000F0"/>
              </a:solidFill>
              <a:latin typeface="Consolas" pitchFamily="49" charset="0"/>
            </a:endParaRPr>
          </a:p>
        </p:txBody>
      </p:sp>
      <p:sp>
        <p:nvSpPr>
          <p:cNvPr id="156676" name="Slide Number Placeholder 3"/>
          <p:cNvSpPr txBox="1">
            <a:spLocks noGrp="1"/>
          </p:cNvSpPr>
          <p:nvPr/>
        </p:nvSpPr>
        <p:spPr bwMode="auto">
          <a:xfrm>
            <a:off x="8458200" y="152400"/>
            <a:ext cx="533400" cy="457200"/>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4BF7B6B6-65A2-4572-AA42-26F4600D3C3F}" type="slidenum">
              <a:rPr lang="en-US" sz="1400">
                <a:latin typeface="Times New Roman" pitchFamily="18" charset="0"/>
              </a:rPr>
              <a:pPr algn="r"/>
              <a:t>3</a:t>
            </a:fld>
            <a:endParaRPr lang="en-US" sz="1400">
              <a:latin typeface="Times New Roman" pitchFamily="18" charset="0"/>
            </a:endParaRPr>
          </a:p>
        </p:txBody>
      </p:sp>
      <p:sp>
        <p:nvSpPr>
          <p:cNvPr id="156677" name="Line 5"/>
          <p:cNvSpPr>
            <a:spLocks noChangeShapeType="1"/>
          </p:cNvSpPr>
          <p:nvPr/>
        </p:nvSpPr>
        <p:spPr bwMode="auto">
          <a:xfrm>
            <a:off x="266700" y="6038850"/>
            <a:ext cx="3930650" cy="0"/>
          </a:xfrm>
          <a:prstGeom prst="line">
            <a:avLst/>
          </a:prstGeom>
          <a:noFill/>
          <a:ln w="317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id-ID"/>
          </a:p>
        </p:txBody>
      </p:sp>
    </p:spTree>
    <p:extLst>
      <p:ext uri="{BB962C8B-B14F-4D97-AF65-F5344CB8AC3E}">
        <p14:creationId xmlns:p14="http://schemas.microsoft.com/office/powerpoint/2010/main" val="2916859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Title 1"/>
          <p:cNvSpPr>
            <a:spLocks noGrp="1"/>
          </p:cNvSpPr>
          <p:nvPr>
            <p:ph type="title" idx="4294967295"/>
          </p:nvPr>
        </p:nvSpPr>
        <p:spPr>
          <a:xfrm>
            <a:off x="673100" y="0"/>
            <a:ext cx="7772400" cy="704850"/>
          </a:xfrm>
        </p:spPr>
        <p:txBody>
          <a:bodyPr/>
          <a:lstStyle/>
          <a:p>
            <a:r>
              <a:rPr lang="en-AU" sz="3600">
                <a:latin typeface="Tahoma" pitchFamily="34" charset="0"/>
                <a:cs typeface="Tahoma" pitchFamily="34" charset="0"/>
              </a:rPr>
              <a:t>Capital accumulation </a:t>
            </a:r>
          </a:p>
        </p:txBody>
      </p:sp>
      <p:sp>
        <p:nvSpPr>
          <p:cNvPr id="157699" name="Content Placeholder 2"/>
          <p:cNvSpPr>
            <a:spLocks noGrp="1"/>
          </p:cNvSpPr>
          <p:nvPr>
            <p:ph idx="4294967295"/>
          </p:nvPr>
        </p:nvSpPr>
        <p:spPr>
          <a:xfrm>
            <a:off x="107950" y="1416050"/>
            <a:ext cx="8839200" cy="5099050"/>
          </a:xfrm>
        </p:spPr>
        <p:txBody>
          <a:bodyPr/>
          <a:lstStyle/>
          <a:p>
            <a:pPr marL="190500" indent="-190500">
              <a:buFontTx/>
              <a:buNone/>
            </a:pPr>
            <a:r>
              <a:rPr lang="en-AU" sz="2000">
                <a:solidFill>
                  <a:srgbClr val="000000"/>
                </a:solidFill>
                <a:latin typeface="Consolas" pitchFamily="49" charset="0"/>
              </a:rPr>
              <a:t>Equation</a:t>
            </a:r>
            <a:r>
              <a:rPr lang="en-AU" sz="2000" b="0">
                <a:solidFill>
                  <a:srgbClr val="000000"/>
                </a:solidFill>
                <a:latin typeface="Consolas" pitchFamily="49" charset="0"/>
              </a:rPr>
              <a:t> </a:t>
            </a:r>
            <a:r>
              <a:rPr lang="en-AU" sz="2000" b="0">
                <a:solidFill>
                  <a:srgbClr val="008000"/>
                </a:solidFill>
                <a:latin typeface="Consolas" pitchFamily="49" charset="0"/>
              </a:rPr>
              <a:t>E_faccum</a:t>
            </a:r>
            <a:r>
              <a:rPr lang="en-AU" sz="2000" b="0">
                <a:solidFill>
                  <a:srgbClr val="000000"/>
                </a:solidFill>
                <a:latin typeface="Consolas" pitchFamily="49" charset="0"/>
              </a:rPr>
              <a:t> </a:t>
            </a:r>
            <a:r>
              <a:rPr lang="en-AU" sz="2000" b="0" i="1">
                <a:solidFill>
                  <a:srgbClr val="000000"/>
                </a:solidFill>
                <a:latin typeface="Consolas" pitchFamily="49" charset="0"/>
              </a:rPr>
              <a:t># Capital accumulation equation #</a:t>
            </a:r>
            <a:br>
              <a:rPr lang="en-AU" sz="2000" b="0">
                <a:solidFill>
                  <a:srgbClr val="000000"/>
                </a:solidFill>
                <a:latin typeface="Consolas" pitchFamily="49" charset="0"/>
              </a:rPr>
            </a:br>
            <a:r>
              <a:rPr lang="en-AU" sz="2000" b="0">
                <a:solidFill>
                  <a:srgbClr val="000000"/>
                </a:solidFill>
                <a:latin typeface="Consolas" pitchFamily="49" charset="0"/>
              </a:rPr>
              <a:t> (</a:t>
            </a:r>
            <a:r>
              <a:rPr lang="en-AU" sz="2000">
                <a:solidFill>
                  <a:srgbClr val="000000"/>
                </a:solidFill>
                <a:latin typeface="Consolas" pitchFamily="49" charset="0"/>
              </a:rPr>
              <a:t>all</a:t>
            </a:r>
            <a:r>
              <a:rPr lang="en-AU" sz="2000" b="0">
                <a:solidFill>
                  <a:srgbClr val="000000"/>
                </a:solidFill>
                <a:latin typeface="Consolas" pitchFamily="49" charset="0"/>
              </a:rPr>
              <a:t>,</a:t>
            </a:r>
            <a:r>
              <a:rPr lang="en-AU" sz="2000" b="0">
                <a:solidFill>
                  <a:srgbClr val="008000"/>
                </a:solidFill>
                <a:latin typeface="Consolas" pitchFamily="49" charset="0"/>
              </a:rPr>
              <a:t>i</a:t>
            </a:r>
            <a:r>
              <a:rPr lang="en-AU" sz="2000" b="0">
                <a:solidFill>
                  <a:srgbClr val="000000"/>
                </a:solidFill>
                <a:latin typeface="Consolas" pitchFamily="49" charset="0"/>
              </a:rPr>
              <a:t>,</a:t>
            </a:r>
            <a:r>
              <a:rPr lang="en-AU" sz="2000" b="0">
                <a:solidFill>
                  <a:srgbClr val="008000"/>
                </a:solidFill>
                <a:latin typeface="Consolas" pitchFamily="49" charset="0"/>
              </a:rPr>
              <a:t>IND</a:t>
            </a:r>
            <a:r>
              <a:rPr lang="en-AU" sz="2000" b="0">
                <a:solidFill>
                  <a:srgbClr val="000000"/>
                </a:solidFill>
                <a:latin typeface="Consolas" pitchFamily="49" charset="0"/>
              </a:rPr>
              <a:t>)(</a:t>
            </a:r>
            <a:r>
              <a:rPr lang="en-AU" sz="2000">
                <a:solidFill>
                  <a:srgbClr val="000000"/>
                </a:solidFill>
                <a:latin typeface="Consolas" pitchFamily="49" charset="0"/>
              </a:rPr>
              <a:t>all</a:t>
            </a:r>
            <a:r>
              <a:rPr lang="en-AU" sz="2000" b="0">
                <a:solidFill>
                  <a:srgbClr val="000000"/>
                </a:solidFill>
                <a:latin typeface="Consolas" pitchFamily="49" charset="0"/>
              </a:rPr>
              <a:t>,</a:t>
            </a:r>
            <a:r>
              <a:rPr lang="en-AU" sz="2000" b="0">
                <a:solidFill>
                  <a:srgbClr val="008000"/>
                </a:solidFill>
                <a:latin typeface="Consolas" pitchFamily="49" charset="0"/>
              </a:rPr>
              <a:t>d</a:t>
            </a:r>
            <a:r>
              <a:rPr lang="en-AU" sz="2000" b="0">
                <a:solidFill>
                  <a:srgbClr val="000000"/>
                </a:solidFill>
                <a:latin typeface="Consolas" pitchFamily="49" charset="0"/>
              </a:rPr>
              <a:t>,</a:t>
            </a:r>
            <a:r>
              <a:rPr lang="en-AU" sz="2000" b="0">
                <a:solidFill>
                  <a:srgbClr val="008000"/>
                </a:solidFill>
                <a:latin typeface="Consolas" pitchFamily="49" charset="0"/>
              </a:rPr>
              <a:t>DST</a:t>
            </a:r>
            <a:r>
              <a:rPr lang="en-AU" sz="2000" b="0">
                <a:solidFill>
                  <a:srgbClr val="000000"/>
                </a:solidFill>
                <a:latin typeface="Consolas" pitchFamily="49" charset="0"/>
              </a:rPr>
              <a:t>) 0.01*</a:t>
            </a:r>
            <a:r>
              <a:rPr lang="en-AU" sz="2000" b="0">
                <a:solidFill>
                  <a:srgbClr val="008000"/>
                </a:solidFill>
                <a:latin typeface="Consolas" pitchFamily="49" charset="0"/>
              </a:rPr>
              <a:t>CAPSTOK_OLDP</a:t>
            </a:r>
            <a:r>
              <a:rPr lang="en-AU" sz="2000" b="0">
                <a:solidFill>
                  <a:srgbClr val="000000"/>
                </a:solidFill>
                <a:latin typeface="Consolas" pitchFamily="49" charset="0"/>
              </a:rPr>
              <a:t>(</a:t>
            </a:r>
            <a:r>
              <a:rPr lang="en-AU" sz="2000" b="0">
                <a:solidFill>
                  <a:srgbClr val="008000"/>
                </a:solidFill>
                <a:latin typeface="Consolas" pitchFamily="49" charset="0"/>
              </a:rPr>
              <a:t>i</a:t>
            </a:r>
            <a:r>
              <a:rPr lang="en-AU" sz="2000" b="0">
                <a:solidFill>
                  <a:srgbClr val="000000"/>
                </a:solidFill>
                <a:latin typeface="Consolas" pitchFamily="49" charset="0"/>
              </a:rPr>
              <a:t>,</a:t>
            </a:r>
            <a:r>
              <a:rPr lang="en-AU" sz="2000" b="0">
                <a:solidFill>
                  <a:srgbClr val="008000"/>
                </a:solidFill>
                <a:latin typeface="Consolas" pitchFamily="49" charset="0"/>
              </a:rPr>
              <a:t>d</a:t>
            </a:r>
            <a:r>
              <a:rPr lang="en-AU" sz="2000" b="0">
                <a:solidFill>
                  <a:srgbClr val="000000"/>
                </a:solidFill>
                <a:latin typeface="Consolas" pitchFamily="49" charset="0"/>
              </a:rPr>
              <a:t>)*</a:t>
            </a:r>
            <a:r>
              <a:rPr lang="en-AU" sz="2000" b="0">
                <a:solidFill>
                  <a:srgbClr val="008000"/>
                </a:solidFill>
                <a:latin typeface="Consolas" pitchFamily="49" charset="0"/>
              </a:rPr>
              <a:t>xcap</a:t>
            </a:r>
            <a:r>
              <a:rPr lang="en-AU" sz="2000" b="0">
                <a:solidFill>
                  <a:srgbClr val="000000"/>
                </a:solidFill>
                <a:latin typeface="Consolas" pitchFamily="49" charset="0"/>
              </a:rPr>
              <a:t>(</a:t>
            </a:r>
            <a:r>
              <a:rPr lang="en-AU" sz="2000" b="0">
                <a:solidFill>
                  <a:srgbClr val="008000"/>
                </a:solidFill>
                <a:latin typeface="Consolas" pitchFamily="49" charset="0"/>
              </a:rPr>
              <a:t>i</a:t>
            </a:r>
            <a:r>
              <a:rPr lang="en-AU" sz="2000" b="0">
                <a:solidFill>
                  <a:srgbClr val="000000"/>
                </a:solidFill>
                <a:latin typeface="Consolas" pitchFamily="49" charset="0"/>
              </a:rPr>
              <a:t>,</a:t>
            </a:r>
            <a:r>
              <a:rPr lang="en-AU" sz="2000" b="0">
                <a:solidFill>
                  <a:srgbClr val="008000"/>
                </a:solidFill>
                <a:latin typeface="Consolas" pitchFamily="49" charset="0"/>
              </a:rPr>
              <a:t>d</a:t>
            </a:r>
            <a:r>
              <a:rPr lang="en-AU" sz="2000" b="0">
                <a:solidFill>
                  <a:srgbClr val="000000"/>
                </a:solidFill>
                <a:latin typeface="Consolas" pitchFamily="49" charset="0"/>
              </a:rPr>
              <a:t>)</a:t>
            </a:r>
            <a:br>
              <a:rPr lang="en-AU" sz="2000" b="0">
                <a:solidFill>
                  <a:srgbClr val="000000"/>
                </a:solidFill>
                <a:latin typeface="Consolas" pitchFamily="49" charset="0"/>
              </a:rPr>
            </a:br>
            <a:r>
              <a:rPr lang="en-AU" sz="2000" b="0">
                <a:solidFill>
                  <a:srgbClr val="000000"/>
                </a:solidFill>
                <a:latin typeface="Consolas" pitchFamily="49" charset="0"/>
              </a:rPr>
              <a:t>  = </a:t>
            </a:r>
            <a:r>
              <a:rPr lang="en-AU" sz="2000" b="0">
                <a:solidFill>
                  <a:srgbClr val="008000"/>
                </a:solidFill>
                <a:latin typeface="Consolas" pitchFamily="49" charset="0"/>
              </a:rPr>
              <a:t>CAPADD</a:t>
            </a:r>
            <a:r>
              <a:rPr lang="en-AU" sz="2000" b="0">
                <a:solidFill>
                  <a:srgbClr val="000000"/>
                </a:solidFill>
                <a:latin typeface="Consolas" pitchFamily="49" charset="0"/>
              </a:rPr>
              <a:t>(</a:t>
            </a:r>
            <a:r>
              <a:rPr lang="en-AU" sz="2000" b="0">
                <a:solidFill>
                  <a:srgbClr val="008000"/>
                </a:solidFill>
                <a:latin typeface="Consolas" pitchFamily="49" charset="0"/>
              </a:rPr>
              <a:t>i</a:t>
            </a:r>
            <a:r>
              <a:rPr lang="en-AU" sz="2000" b="0">
                <a:solidFill>
                  <a:srgbClr val="000000"/>
                </a:solidFill>
                <a:latin typeface="Consolas" pitchFamily="49" charset="0"/>
              </a:rPr>
              <a:t>,</a:t>
            </a:r>
            <a:r>
              <a:rPr lang="en-AU" sz="2000" b="0">
                <a:solidFill>
                  <a:srgbClr val="008000"/>
                </a:solidFill>
                <a:latin typeface="Consolas" pitchFamily="49" charset="0"/>
              </a:rPr>
              <a:t>d</a:t>
            </a:r>
            <a:r>
              <a:rPr lang="en-AU" sz="2000" b="0">
                <a:solidFill>
                  <a:srgbClr val="000000"/>
                </a:solidFill>
                <a:latin typeface="Consolas" pitchFamily="49" charset="0"/>
              </a:rPr>
              <a:t>)*</a:t>
            </a:r>
            <a:r>
              <a:rPr lang="en-AU" sz="2000" b="0">
                <a:solidFill>
                  <a:srgbClr val="008000"/>
                </a:solidFill>
                <a:latin typeface="Consolas" pitchFamily="49" charset="0"/>
              </a:rPr>
              <a:t>delUnity</a:t>
            </a:r>
            <a:r>
              <a:rPr lang="en-AU" sz="2000" b="0">
                <a:solidFill>
                  <a:srgbClr val="000000"/>
                </a:solidFill>
                <a:latin typeface="Consolas" pitchFamily="49" charset="0"/>
              </a:rPr>
              <a:t> +</a:t>
            </a:r>
            <a:r>
              <a:rPr lang="en-AU" sz="2000" b="0">
                <a:solidFill>
                  <a:srgbClr val="008000"/>
                </a:solidFill>
                <a:latin typeface="Consolas" pitchFamily="49" charset="0"/>
              </a:rPr>
              <a:t>faccum</a:t>
            </a:r>
            <a:r>
              <a:rPr lang="en-AU" sz="2000" b="0">
                <a:solidFill>
                  <a:srgbClr val="000000"/>
                </a:solidFill>
                <a:latin typeface="Consolas" pitchFamily="49" charset="0"/>
              </a:rPr>
              <a:t>(</a:t>
            </a:r>
            <a:r>
              <a:rPr lang="en-AU" sz="2000" b="0">
                <a:solidFill>
                  <a:srgbClr val="008000"/>
                </a:solidFill>
                <a:latin typeface="Consolas" pitchFamily="49" charset="0"/>
              </a:rPr>
              <a:t>i</a:t>
            </a:r>
            <a:r>
              <a:rPr lang="en-AU" sz="2000" b="0">
                <a:solidFill>
                  <a:srgbClr val="000000"/>
                </a:solidFill>
                <a:latin typeface="Consolas" pitchFamily="49" charset="0"/>
              </a:rPr>
              <a:t>,</a:t>
            </a:r>
            <a:r>
              <a:rPr lang="en-AU" sz="2000" b="0">
                <a:solidFill>
                  <a:srgbClr val="008000"/>
                </a:solidFill>
                <a:latin typeface="Consolas" pitchFamily="49" charset="0"/>
              </a:rPr>
              <a:t>d</a:t>
            </a:r>
            <a:r>
              <a:rPr lang="en-AU" sz="2000" b="0">
                <a:solidFill>
                  <a:srgbClr val="000000"/>
                </a:solidFill>
                <a:latin typeface="Consolas" pitchFamily="49" charset="0"/>
              </a:rPr>
              <a:t>);</a:t>
            </a:r>
            <a:br>
              <a:rPr lang="en-AU" sz="2400" b="0">
                <a:solidFill>
                  <a:srgbClr val="000000"/>
                </a:solidFill>
                <a:latin typeface="Consolas" pitchFamily="49" charset="0"/>
              </a:rPr>
            </a:br>
            <a:endParaRPr lang="en-AU" sz="2000" b="0">
              <a:solidFill>
                <a:srgbClr val="000000"/>
              </a:solidFill>
              <a:latin typeface="Consolas" pitchFamily="49" charset="0"/>
            </a:endParaRPr>
          </a:p>
          <a:p>
            <a:pPr marL="190500" indent="-190500"/>
            <a:r>
              <a:rPr lang="en-AU" sz="1800"/>
              <a:t> </a:t>
            </a:r>
            <a:r>
              <a:rPr lang="en-AU" sz="1800" b="0"/>
              <a:t>When above equation is active, faccum is exogenous and zero; delUnity is shocked to 1.0.Then RHS (like LHS) is the change in capital stock from last year investment.</a:t>
            </a:r>
            <a:br>
              <a:rPr lang="en-AU" sz="1800" b="0"/>
            </a:br>
            <a:endParaRPr lang="en-AU" sz="1800" b="0"/>
          </a:p>
          <a:p>
            <a:pPr marL="190500" indent="-190500"/>
            <a:r>
              <a:rPr lang="en-AU" sz="1800" b="0"/>
              <a:t> Both LHS and RHS are measured at start-of-period prices.</a:t>
            </a:r>
          </a:p>
          <a:p>
            <a:pPr marL="190500" indent="-190500"/>
            <a:endParaRPr lang="en-AU" sz="1800" b="0"/>
          </a:p>
          <a:p>
            <a:pPr marL="190500" indent="-190500"/>
            <a:r>
              <a:rPr lang="en-AU" sz="1800" b="0"/>
              <a:t>To switch off, make faccum endogenous; delUnity is exogenous but unshocked.</a:t>
            </a:r>
            <a:br>
              <a:rPr lang="en-AU" sz="1800" b="0"/>
            </a:br>
            <a:br>
              <a:rPr lang="en-AU" sz="1800" b="0">
                <a:solidFill>
                  <a:srgbClr val="000000"/>
                </a:solidFill>
                <a:latin typeface="Consolas" pitchFamily="49" charset="0"/>
              </a:rPr>
            </a:br>
            <a:endParaRPr lang="en-AU" b="0">
              <a:solidFill>
                <a:srgbClr val="000000"/>
              </a:solidFill>
              <a:latin typeface="Consolas" pitchFamily="49" charset="0"/>
            </a:endParaRPr>
          </a:p>
        </p:txBody>
      </p:sp>
      <p:sp>
        <p:nvSpPr>
          <p:cNvPr id="157700" name="Slide Number Placeholder 3"/>
          <p:cNvSpPr txBox="1">
            <a:spLocks noGrp="1"/>
          </p:cNvSpPr>
          <p:nvPr/>
        </p:nvSpPr>
        <p:spPr bwMode="auto">
          <a:xfrm>
            <a:off x="8458200" y="152400"/>
            <a:ext cx="533400" cy="457200"/>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A0A334A9-66BB-4E59-9F15-8B5D3C360B47}" type="slidenum">
              <a:rPr lang="en-US" sz="1400">
                <a:latin typeface="Times New Roman" pitchFamily="18" charset="0"/>
              </a:rPr>
              <a:pPr algn="r"/>
              <a:t>4</a:t>
            </a:fld>
            <a:endParaRPr lang="en-US" sz="1400">
              <a:latin typeface="Times New Roman" pitchFamily="18" charset="0"/>
            </a:endParaRPr>
          </a:p>
        </p:txBody>
      </p:sp>
    </p:spTree>
    <p:extLst>
      <p:ext uri="{BB962C8B-B14F-4D97-AF65-F5344CB8AC3E}">
        <p14:creationId xmlns:p14="http://schemas.microsoft.com/office/powerpoint/2010/main" val="40121690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Title 1"/>
          <p:cNvSpPr>
            <a:spLocks noGrp="1"/>
          </p:cNvSpPr>
          <p:nvPr>
            <p:ph type="title" idx="4294967295"/>
          </p:nvPr>
        </p:nvSpPr>
        <p:spPr>
          <a:xfrm>
            <a:off x="673100" y="139700"/>
            <a:ext cx="7772400" cy="698500"/>
          </a:xfrm>
        </p:spPr>
        <p:txBody>
          <a:bodyPr/>
          <a:lstStyle/>
          <a:p>
            <a:r>
              <a:rPr lang="en-AU" sz="3600">
                <a:latin typeface="Tahoma" pitchFamily="34" charset="0"/>
                <a:cs typeface="Tahoma" pitchFamily="34" charset="0"/>
              </a:rPr>
              <a:t>What drives investment ? </a:t>
            </a:r>
          </a:p>
        </p:txBody>
      </p:sp>
      <p:sp>
        <p:nvSpPr>
          <p:cNvPr id="158723" name="Content Placeholder 2"/>
          <p:cNvSpPr>
            <a:spLocks noGrp="1"/>
          </p:cNvSpPr>
          <p:nvPr>
            <p:ph idx="4294967295"/>
          </p:nvPr>
        </p:nvSpPr>
        <p:spPr>
          <a:xfrm>
            <a:off x="685800" y="1066800"/>
            <a:ext cx="7772400" cy="5029200"/>
          </a:xfrm>
        </p:spPr>
        <p:txBody>
          <a:bodyPr>
            <a:normAutofit fontScale="55000" lnSpcReduction="20000"/>
          </a:bodyPr>
          <a:lstStyle/>
          <a:p>
            <a:pPr marL="381000" lvl="2" indent="0">
              <a:spcBef>
                <a:spcPts val="1200"/>
              </a:spcBef>
              <a:spcAft>
                <a:spcPts val="300"/>
              </a:spcAft>
              <a:buFontTx/>
              <a:buNone/>
            </a:pPr>
            <a:r>
              <a:rPr lang="en-AU" sz="2000"/>
              <a:t>Basic Idea: investment a positive function of profits</a:t>
            </a:r>
            <a:endParaRPr lang="en-AU"/>
          </a:p>
          <a:p>
            <a:pPr marL="0" indent="0">
              <a:spcAft>
                <a:spcPts val="400"/>
              </a:spcAft>
              <a:buFontTx/>
              <a:buNone/>
            </a:pPr>
            <a:r>
              <a:rPr lang="en-AU" b="0"/>
              <a:t>Dropping industry and regional subscripts, and given</a:t>
            </a:r>
          </a:p>
          <a:p>
            <a:pPr marL="0" indent="0">
              <a:spcAft>
                <a:spcPts val="400"/>
              </a:spcAft>
              <a:buFontTx/>
              <a:buNone/>
            </a:pPr>
            <a:r>
              <a:rPr lang="en-AU" b="0"/>
              <a:t>	P</a:t>
            </a:r>
            <a:r>
              <a:rPr lang="en-AU" b="0" baseline="-25000"/>
              <a:t>k </a:t>
            </a:r>
            <a:r>
              <a:rPr lang="en-AU" b="0"/>
              <a:t>	unit rental price of capital</a:t>
            </a:r>
          </a:p>
          <a:p>
            <a:pPr marL="0" indent="0">
              <a:spcAft>
                <a:spcPts val="400"/>
              </a:spcAft>
              <a:buFontTx/>
              <a:buNone/>
            </a:pPr>
            <a:r>
              <a:rPr lang="en-AU" b="0">
                <a:latin typeface="Symbol" pitchFamily="18" charset="2"/>
              </a:rPr>
              <a:t>	P</a:t>
            </a:r>
            <a:r>
              <a:rPr lang="en-AU" b="0" baseline="-25000"/>
              <a:t> </a:t>
            </a:r>
            <a:r>
              <a:rPr lang="en-AU" b="0"/>
              <a:t>	unit asset price of capital</a:t>
            </a:r>
          </a:p>
          <a:p>
            <a:pPr marL="0" indent="0">
              <a:spcAft>
                <a:spcPts val="400"/>
              </a:spcAft>
              <a:buFontTx/>
              <a:buNone/>
            </a:pPr>
            <a:r>
              <a:rPr lang="en-AU" b="0"/>
              <a:t>	Y</a:t>
            </a:r>
            <a:r>
              <a:rPr lang="en-AU" b="0" baseline="-25000"/>
              <a:t> </a:t>
            </a:r>
            <a:r>
              <a:rPr lang="en-AU" b="0"/>
              <a:t>	investment</a:t>
            </a:r>
          </a:p>
          <a:p>
            <a:pPr marL="0" indent="0">
              <a:spcAft>
                <a:spcPts val="400"/>
              </a:spcAft>
              <a:buFontTx/>
              <a:buNone/>
            </a:pPr>
            <a:r>
              <a:rPr lang="en-AU" b="0"/>
              <a:t>	K	amount of capital</a:t>
            </a:r>
          </a:p>
          <a:p>
            <a:pPr marL="0" indent="0">
              <a:spcAft>
                <a:spcPts val="400"/>
              </a:spcAft>
              <a:buFontTx/>
              <a:buNone/>
            </a:pPr>
            <a:r>
              <a:rPr lang="en-AU" b="0"/>
              <a:t>We define </a:t>
            </a:r>
          </a:p>
          <a:p>
            <a:pPr marL="0" indent="0">
              <a:spcAft>
                <a:spcPts val="400"/>
              </a:spcAft>
              <a:buFontTx/>
              <a:buNone/>
            </a:pPr>
            <a:r>
              <a:rPr lang="en-AU" b="0"/>
              <a:t>	R	= P</a:t>
            </a:r>
            <a:r>
              <a:rPr lang="en-AU" b="0" baseline="-25000"/>
              <a:t>k</a:t>
            </a:r>
            <a:r>
              <a:rPr lang="en-AU" b="0"/>
              <a:t>/</a:t>
            </a:r>
            <a:r>
              <a:rPr lang="en-AU" b="0">
                <a:latin typeface="Symbol" pitchFamily="18" charset="2"/>
              </a:rPr>
              <a:t>P</a:t>
            </a:r>
            <a:r>
              <a:rPr lang="en-AU" b="0" baseline="-25000"/>
              <a:t> 	</a:t>
            </a:r>
            <a:r>
              <a:rPr lang="en-AU" b="0"/>
              <a:t>	actual gross rate of return</a:t>
            </a:r>
          </a:p>
          <a:p>
            <a:pPr marL="0" indent="0">
              <a:spcAft>
                <a:spcPts val="400"/>
              </a:spcAft>
              <a:buFontTx/>
              <a:buNone/>
            </a:pPr>
            <a:r>
              <a:rPr lang="en-AU" b="0"/>
              <a:t>	G	= Y/K</a:t>
            </a:r>
            <a:r>
              <a:rPr lang="en-AU" b="0" baseline="-25000"/>
              <a:t> 	</a:t>
            </a:r>
            <a:r>
              <a:rPr lang="en-AU" b="0"/>
              <a:t>	gross rate of capital growth next period</a:t>
            </a:r>
          </a:p>
          <a:p>
            <a:pPr marL="0" indent="0">
              <a:spcAft>
                <a:spcPts val="400"/>
              </a:spcAft>
              <a:buFontTx/>
              <a:buNone/>
            </a:pPr>
            <a:r>
              <a:rPr lang="en-AU" b="0"/>
              <a:t>	E	expected gross rate of return for next period</a:t>
            </a:r>
          </a:p>
          <a:p>
            <a:pPr marL="0" indent="0">
              <a:spcAft>
                <a:spcPts val="400"/>
              </a:spcAft>
              <a:buFontTx/>
              <a:buNone/>
            </a:pPr>
            <a:r>
              <a:rPr lang="en-AU" b="0"/>
              <a:t>Rates of growth of capital stock depend on expected rates of return:</a:t>
            </a:r>
          </a:p>
          <a:p>
            <a:pPr marL="0" indent="0">
              <a:spcAft>
                <a:spcPts val="400"/>
              </a:spcAft>
              <a:buFontTx/>
              <a:buNone/>
            </a:pPr>
            <a:r>
              <a:rPr lang="en-AU" b="0"/>
              <a:t>	G = F(E)   where F</a:t>
            </a:r>
            <a:r>
              <a:rPr lang="en-AU" b="0" baseline="-25000"/>
              <a:t>E</a:t>
            </a:r>
            <a:r>
              <a:rPr lang="en-AU" b="0"/>
              <a:t> &gt; 0</a:t>
            </a:r>
          </a:p>
          <a:p>
            <a:pPr marL="0" indent="0">
              <a:spcAft>
                <a:spcPts val="400"/>
              </a:spcAft>
              <a:buFontTx/>
              <a:buNone/>
            </a:pPr>
            <a:r>
              <a:rPr lang="en-AU" b="0"/>
              <a:t>Each industry has a trend growth rate and a normal rate of return</a:t>
            </a:r>
          </a:p>
          <a:p>
            <a:pPr marL="0" indent="0">
              <a:spcAft>
                <a:spcPts val="400"/>
              </a:spcAft>
              <a:buFontTx/>
              <a:buNone/>
            </a:pPr>
            <a:r>
              <a:rPr lang="en-AU" b="0"/>
              <a:t>	G/G</a:t>
            </a:r>
            <a:r>
              <a:rPr lang="en-AU" b="0" baseline="-25000"/>
              <a:t>trend</a:t>
            </a:r>
            <a:r>
              <a:rPr lang="en-AU" b="0"/>
              <a:t> = F(E/R</a:t>
            </a:r>
            <a:r>
              <a:rPr lang="en-AU" b="0" baseline="-25000"/>
              <a:t>normal</a:t>
            </a:r>
            <a:r>
              <a:rPr lang="en-AU" b="0"/>
              <a:t>) = F(M) where F</a:t>
            </a:r>
            <a:r>
              <a:rPr lang="en-AU" b="0" baseline="-25000"/>
              <a:t>E</a:t>
            </a:r>
            <a:r>
              <a:rPr lang="en-AU" b="0"/>
              <a:t> &gt; 0</a:t>
            </a:r>
          </a:p>
          <a:p>
            <a:pPr marL="0" indent="0">
              <a:spcAft>
                <a:spcPts val="400"/>
              </a:spcAft>
              <a:buFontTx/>
              <a:buNone/>
            </a:pPr>
            <a:r>
              <a:rPr lang="en-AU" b="0"/>
              <a:t>	M = E/R</a:t>
            </a:r>
            <a:r>
              <a:rPr lang="en-AU" b="0" baseline="-25000"/>
              <a:t>normal</a:t>
            </a:r>
            <a:endParaRPr lang="en-AU" b="0"/>
          </a:p>
          <a:p>
            <a:pPr marL="0" indent="0">
              <a:spcAft>
                <a:spcPts val="400"/>
              </a:spcAft>
              <a:buFontTx/>
              <a:buNone/>
            </a:pPr>
            <a:endParaRPr lang="en-AU" b="0"/>
          </a:p>
        </p:txBody>
      </p:sp>
      <p:sp>
        <p:nvSpPr>
          <p:cNvPr id="158724" name="Slide Number Placeholder 3"/>
          <p:cNvSpPr txBox="1">
            <a:spLocks noGrp="1"/>
          </p:cNvSpPr>
          <p:nvPr/>
        </p:nvSpPr>
        <p:spPr bwMode="auto">
          <a:xfrm>
            <a:off x="8458200" y="152400"/>
            <a:ext cx="533400" cy="457200"/>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72D34E4-F4C6-4A62-A6DC-685BE50F3D17}" type="slidenum">
              <a:rPr lang="en-US" sz="1400">
                <a:latin typeface="Times New Roman" pitchFamily="18" charset="0"/>
              </a:rPr>
              <a:pPr algn="r"/>
              <a:t>5</a:t>
            </a:fld>
            <a:endParaRPr lang="en-US" sz="1400">
              <a:latin typeface="Times New Roman" pitchFamily="18" charset="0"/>
            </a:endParaRPr>
          </a:p>
        </p:txBody>
      </p:sp>
    </p:spTree>
    <p:extLst>
      <p:ext uri="{BB962C8B-B14F-4D97-AF65-F5344CB8AC3E}">
        <p14:creationId xmlns:p14="http://schemas.microsoft.com/office/powerpoint/2010/main" val="1131958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Title 1"/>
          <p:cNvSpPr>
            <a:spLocks noGrp="1"/>
          </p:cNvSpPr>
          <p:nvPr>
            <p:ph type="title" idx="4294967295"/>
          </p:nvPr>
        </p:nvSpPr>
        <p:spPr>
          <a:xfrm>
            <a:off x="82550" y="139700"/>
            <a:ext cx="8585200" cy="654050"/>
          </a:xfrm>
        </p:spPr>
        <p:txBody>
          <a:bodyPr/>
          <a:lstStyle/>
          <a:p>
            <a:r>
              <a:rPr lang="en-AU" sz="3600">
                <a:latin typeface="Tahoma" pitchFamily="34" charset="0"/>
                <a:cs typeface="Tahoma" pitchFamily="34" charset="0"/>
              </a:rPr>
              <a:t>Logistic curve for investor caution </a:t>
            </a:r>
          </a:p>
        </p:txBody>
      </p:sp>
      <p:sp>
        <p:nvSpPr>
          <p:cNvPr id="159747" name="Slide Number Placeholder 3"/>
          <p:cNvSpPr txBox="1">
            <a:spLocks noGrp="1"/>
          </p:cNvSpPr>
          <p:nvPr/>
        </p:nvSpPr>
        <p:spPr bwMode="auto">
          <a:xfrm>
            <a:off x="8458200" y="152400"/>
            <a:ext cx="533400" cy="457200"/>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4EA6F8AA-0DA2-4D44-AED5-A35F6E516732}" type="slidenum">
              <a:rPr lang="en-US" sz="1400">
                <a:latin typeface="Times New Roman" pitchFamily="18" charset="0"/>
              </a:rPr>
              <a:pPr algn="r"/>
              <a:t>6</a:t>
            </a:fld>
            <a:endParaRPr lang="en-US" sz="1400">
              <a:latin typeface="Times New Roman" pitchFamily="18" charset="0"/>
            </a:endParaRPr>
          </a:p>
        </p:txBody>
      </p:sp>
      <p:sp>
        <p:nvSpPr>
          <p:cNvPr id="159748" name="Rectangle 8"/>
          <p:cNvSpPr>
            <a:spLocks noChangeArrowheads="1"/>
          </p:cNvSpPr>
          <p:nvPr/>
        </p:nvSpPr>
        <p:spPr bwMode="auto">
          <a:xfrm>
            <a:off x="3471863" y="6400800"/>
            <a:ext cx="21891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AU" b="1"/>
              <a:t>M = E/R</a:t>
            </a:r>
            <a:r>
              <a:rPr lang="en-AU" b="1" baseline="-25000"/>
              <a:t>normal</a:t>
            </a:r>
          </a:p>
        </p:txBody>
      </p:sp>
      <p:sp>
        <p:nvSpPr>
          <p:cNvPr id="159749" name="Rectangle 9"/>
          <p:cNvSpPr>
            <a:spLocks noChangeArrowheads="1"/>
          </p:cNvSpPr>
          <p:nvPr/>
        </p:nvSpPr>
        <p:spPr bwMode="auto">
          <a:xfrm>
            <a:off x="0" y="1708150"/>
            <a:ext cx="1366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AU" b="1"/>
              <a:t>G/G</a:t>
            </a:r>
            <a:r>
              <a:rPr lang="en-AU" b="1" baseline="-25000"/>
              <a:t>trend</a:t>
            </a:r>
          </a:p>
        </p:txBody>
      </p:sp>
      <p:graphicFrame>
        <p:nvGraphicFramePr>
          <p:cNvPr id="159750" name="Object 10"/>
          <p:cNvGraphicFramePr>
            <a:graphicFrameLocks noChangeAspect="1"/>
          </p:cNvGraphicFramePr>
          <p:nvPr/>
        </p:nvGraphicFramePr>
        <p:xfrm>
          <a:off x="1506538" y="1497013"/>
          <a:ext cx="7491412" cy="4722812"/>
        </p:xfrm>
        <a:graphic>
          <a:graphicData uri="http://schemas.openxmlformats.org/presentationml/2006/ole">
            <mc:AlternateContent xmlns:mc="http://schemas.openxmlformats.org/markup-compatibility/2006">
              <mc:Choice xmlns:v="urn:schemas-microsoft-com:vml" Requires="v">
                <p:oleObj spid="_x0000_s45059" name="Picture" r:id="rId3" imgW="5500116" imgH="3468624" progId="Word.Picture.8">
                  <p:embed/>
                </p:oleObj>
              </mc:Choice>
              <mc:Fallback>
                <p:oleObj name="Picture" r:id="rId3" imgW="5500116" imgH="3468624"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538" y="1497013"/>
                        <a:ext cx="7491412" cy="4722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9751" name="Line 12"/>
          <p:cNvSpPr>
            <a:spLocks noChangeShapeType="1"/>
          </p:cNvSpPr>
          <p:nvPr/>
        </p:nvSpPr>
        <p:spPr bwMode="auto">
          <a:xfrm>
            <a:off x="1035050" y="4241800"/>
            <a:ext cx="2946400" cy="1003300"/>
          </a:xfrm>
          <a:prstGeom prst="line">
            <a:avLst/>
          </a:prstGeom>
          <a:noFill/>
          <a:ln w="31750">
            <a:solidFill>
              <a:srgbClr val="CC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id-ID"/>
          </a:p>
        </p:txBody>
      </p:sp>
      <p:sp>
        <p:nvSpPr>
          <p:cNvPr id="159752" name="Rectangle 13"/>
          <p:cNvSpPr>
            <a:spLocks noChangeArrowheads="1"/>
          </p:cNvSpPr>
          <p:nvPr/>
        </p:nvSpPr>
        <p:spPr bwMode="auto">
          <a:xfrm>
            <a:off x="109538" y="3749675"/>
            <a:ext cx="1371600" cy="488950"/>
          </a:xfrm>
          <a:prstGeom prst="rect">
            <a:avLst/>
          </a:prstGeom>
          <a:solidFill>
            <a:schemeClr val="bg1"/>
          </a:solidFill>
          <a:ln w="31750">
            <a:solidFill>
              <a:srgbClr val="CC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AU" sz="1200" b="1"/>
              <a:t>Normal growth</a:t>
            </a:r>
            <a:br>
              <a:rPr lang="en-AU" sz="1200" b="1"/>
            </a:br>
            <a:r>
              <a:rPr lang="en-AU" sz="1200" b="1"/>
              <a:t>and returns</a:t>
            </a:r>
            <a:endParaRPr lang="en-AU" b="1" baseline="-25000"/>
          </a:p>
        </p:txBody>
      </p:sp>
      <p:sp>
        <p:nvSpPr>
          <p:cNvPr id="159753" name="Text Box 17"/>
          <p:cNvSpPr txBox="1">
            <a:spLocks noChangeArrowheads="1"/>
          </p:cNvSpPr>
          <p:nvPr/>
        </p:nvSpPr>
        <p:spPr bwMode="auto">
          <a:xfrm>
            <a:off x="4221163" y="1873250"/>
            <a:ext cx="3789362" cy="457200"/>
          </a:xfrm>
          <a:prstGeom prst="rect">
            <a:avLst/>
          </a:prstGeom>
          <a:solidFill>
            <a:schemeClr val="accent1"/>
          </a:solidFill>
          <a:ln>
            <a:noFill/>
          </a:ln>
          <a:effectLst/>
          <a:extLst>
            <a:ext uri="{91240B29-F687-4F45-9708-019B960494DF}">
              <a14:hiddenLine xmlns:a14="http://schemas.microsoft.com/office/drawing/2010/main" w="31750">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r>
              <a:rPr lang="en-AU"/>
              <a:t>G/G</a:t>
            </a:r>
            <a:r>
              <a:rPr lang="en-AU" baseline="-25000"/>
              <a:t>trend</a:t>
            </a:r>
            <a:r>
              <a:rPr lang="en-AU"/>
              <a:t> = Q.M</a:t>
            </a:r>
            <a:r>
              <a:rPr lang="en-AU" baseline="30000">
                <a:latin typeface="Symbol" pitchFamily="18" charset="2"/>
              </a:rPr>
              <a:t>a</a:t>
            </a:r>
            <a:r>
              <a:rPr lang="en-AU"/>
              <a:t>/(Q-1+M</a:t>
            </a:r>
            <a:r>
              <a:rPr lang="en-AU" baseline="30000">
                <a:latin typeface="Symbol" pitchFamily="18" charset="2"/>
              </a:rPr>
              <a:t>a</a:t>
            </a:r>
            <a:r>
              <a:rPr lang="en-AU"/>
              <a:t>) </a:t>
            </a:r>
          </a:p>
        </p:txBody>
      </p:sp>
    </p:spTree>
    <p:extLst>
      <p:ext uri="{BB962C8B-B14F-4D97-AF65-F5344CB8AC3E}">
        <p14:creationId xmlns:p14="http://schemas.microsoft.com/office/powerpoint/2010/main" val="7227148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Title 1"/>
          <p:cNvSpPr>
            <a:spLocks noGrp="1"/>
          </p:cNvSpPr>
          <p:nvPr>
            <p:ph type="title" idx="4294967295"/>
          </p:nvPr>
        </p:nvSpPr>
        <p:spPr>
          <a:xfrm>
            <a:off x="673100" y="139700"/>
            <a:ext cx="7772400" cy="495300"/>
          </a:xfrm>
        </p:spPr>
        <p:txBody>
          <a:bodyPr>
            <a:normAutofit fontScale="90000"/>
          </a:bodyPr>
          <a:lstStyle/>
          <a:p>
            <a:r>
              <a:rPr lang="en-AU" sz="3600">
                <a:latin typeface="Tahoma" pitchFamily="34" charset="0"/>
                <a:cs typeface="Tahoma" pitchFamily="34" charset="0"/>
              </a:rPr>
              <a:t>Expected rate of return</a:t>
            </a:r>
          </a:p>
        </p:txBody>
      </p:sp>
      <p:sp>
        <p:nvSpPr>
          <p:cNvPr id="160771" name="Content Placeholder 2"/>
          <p:cNvSpPr>
            <a:spLocks noGrp="1"/>
          </p:cNvSpPr>
          <p:nvPr>
            <p:ph idx="4294967295"/>
          </p:nvPr>
        </p:nvSpPr>
        <p:spPr>
          <a:xfrm>
            <a:off x="120650" y="1720850"/>
            <a:ext cx="8928100" cy="4375150"/>
          </a:xfrm>
        </p:spPr>
        <p:txBody>
          <a:bodyPr/>
          <a:lstStyle/>
          <a:p>
            <a:pPr marL="381000" lvl="2" indent="0">
              <a:spcBef>
                <a:spcPts val="1200"/>
              </a:spcBef>
              <a:spcAft>
                <a:spcPts val="300"/>
              </a:spcAft>
              <a:buFontTx/>
              <a:buNone/>
            </a:pPr>
            <a:r>
              <a:rPr lang="en-AU" sz="2000"/>
              <a:t>An average of recent and current rates:</a:t>
            </a:r>
          </a:p>
          <a:p>
            <a:pPr marL="0" indent="0">
              <a:spcAft>
                <a:spcPts val="400"/>
              </a:spcAft>
              <a:buFontTx/>
              <a:buNone/>
            </a:pPr>
            <a:r>
              <a:rPr lang="en-AU" sz="2000" b="0"/>
              <a:t>	E</a:t>
            </a:r>
            <a:r>
              <a:rPr lang="en-AU" sz="2000" b="0" baseline="-25000"/>
              <a:t>1</a:t>
            </a:r>
            <a:r>
              <a:rPr lang="en-AU" sz="2000" b="0"/>
              <a:t> = (1-a)E</a:t>
            </a:r>
            <a:r>
              <a:rPr lang="en-AU" sz="2000" b="0" baseline="-25000"/>
              <a:t>0</a:t>
            </a:r>
            <a:r>
              <a:rPr lang="en-AU" sz="2000" b="0"/>
              <a:t> + aR</a:t>
            </a:r>
            <a:r>
              <a:rPr lang="en-AU" sz="2000" b="0" baseline="-25000"/>
              <a:t>1</a:t>
            </a:r>
            <a:r>
              <a:rPr lang="en-AU" sz="2000" b="0"/>
              <a:t>	0 &lt; a &lt; 1</a:t>
            </a:r>
          </a:p>
          <a:p>
            <a:pPr marL="0" indent="0">
              <a:spcAft>
                <a:spcPts val="400"/>
              </a:spcAft>
              <a:buFontTx/>
              <a:buNone/>
            </a:pPr>
            <a:r>
              <a:rPr lang="en-AU" sz="2000" b="0"/>
              <a:t>so	E</a:t>
            </a:r>
            <a:r>
              <a:rPr lang="en-AU" sz="2000" b="0" baseline="-25000"/>
              <a:t>0</a:t>
            </a:r>
            <a:r>
              <a:rPr lang="en-AU" sz="2000" b="0"/>
              <a:t> + </a:t>
            </a:r>
            <a:r>
              <a:rPr lang="en-AU" sz="2000" b="0">
                <a:latin typeface="Symbol" pitchFamily="18" charset="2"/>
              </a:rPr>
              <a:t>D</a:t>
            </a:r>
            <a:r>
              <a:rPr lang="en-AU" sz="2000" b="0"/>
              <a:t>E = (1-a)E</a:t>
            </a:r>
            <a:r>
              <a:rPr lang="en-AU" sz="2000" b="0" baseline="-25000"/>
              <a:t>0</a:t>
            </a:r>
            <a:r>
              <a:rPr lang="en-AU" sz="2000" b="0"/>
              <a:t> + a(R</a:t>
            </a:r>
            <a:r>
              <a:rPr lang="en-AU" sz="2000" b="0" baseline="-25000"/>
              <a:t>0</a:t>
            </a:r>
            <a:r>
              <a:rPr lang="en-AU" sz="2000" b="0"/>
              <a:t>+</a:t>
            </a:r>
            <a:r>
              <a:rPr lang="en-AU" sz="2000" b="0">
                <a:latin typeface="Symbol" pitchFamily="18" charset="2"/>
              </a:rPr>
              <a:t>D</a:t>
            </a:r>
            <a:r>
              <a:rPr lang="en-AU" sz="2000" b="0"/>
              <a:t>R)</a:t>
            </a:r>
          </a:p>
          <a:p>
            <a:pPr marL="0" indent="0">
              <a:spcAft>
                <a:spcPts val="400"/>
              </a:spcAft>
              <a:buFontTx/>
              <a:buNone/>
            </a:pPr>
            <a:r>
              <a:rPr lang="en-AU" sz="2000" b="0"/>
              <a:t>so</a:t>
            </a:r>
            <a:r>
              <a:rPr lang="en-AU" sz="2000" b="0">
                <a:latin typeface="Symbol" pitchFamily="18" charset="2"/>
              </a:rPr>
              <a:t> 	D</a:t>
            </a:r>
            <a:r>
              <a:rPr lang="en-AU" sz="2000" b="0"/>
              <a:t>E = a(R</a:t>
            </a:r>
            <a:r>
              <a:rPr lang="en-AU" sz="2000" b="0" baseline="-25000"/>
              <a:t>0</a:t>
            </a:r>
            <a:r>
              <a:rPr lang="en-AU" sz="2000" b="0"/>
              <a:t>-E</a:t>
            </a:r>
            <a:r>
              <a:rPr lang="en-AU" sz="2000" b="0" baseline="-25000"/>
              <a:t>0</a:t>
            </a:r>
            <a:r>
              <a:rPr lang="en-AU" sz="2000" b="0"/>
              <a:t>+</a:t>
            </a:r>
            <a:r>
              <a:rPr lang="en-AU" sz="2000" b="0">
                <a:latin typeface="Symbol" pitchFamily="18" charset="2"/>
              </a:rPr>
              <a:t>D</a:t>
            </a:r>
            <a:r>
              <a:rPr lang="en-AU" sz="2000" b="0"/>
              <a:t>R)</a:t>
            </a:r>
          </a:p>
          <a:p>
            <a:pPr marL="0" indent="0">
              <a:spcAft>
                <a:spcPts val="400"/>
              </a:spcAft>
              <a:buFontTx/>
              <a:buNone/>
            </a:pPr>
            <a:endParaRPr lang="en-AU" b="0"/>
          </a:p>
          <a:p>
            <a:pPr marL="0" indent="0">
              <a:spcAft>
                <a:spcPts val="400"/>
              </a:spcAft>
              <a:buFontTx/>
              <a:buNone/>
            </a:pPr>
            <a:endParaRPr lang="en-AU" b="0"/>
          </a:p>
        </p:txBody>
      </p:sp>
      <p:sp>
        <p:nvSpPr>
          <p:cNvPr id="160772" name="Slide Number Placeholder 3"/>
          <p:cNvSpPr txBox="1">
            <a:spLocks noGrp="1"/>
          </p:cNvSpPr>
          <p:nvPr/>
        </p:nvSpPr>
        <p:spPr bwMode="auto">
          <a:xfrm>
            <a:off x="8458200" y="152400"/>
            <a:ext cx="533400" cy="457200"/>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A71519A6-F330-4400-B113-DD0097F402B8}" type="slidenum">
              <a:rPr lang="en-US" sz="1400">
                <a:latin typeface="Times New Roman" pitchFamily="18" charset="0"/>
              </a:rPr>
              <a:pPr algn="r"/>
              <a:t>7</a:t>
            </a:fld>
            <a:endParaRPr lang="en-US" sz="1400">
              <a:latin typeface="Times New Roman" pitchFamily="18" charset="0"/>
            </a:endParaRPr>
          </a:p>
        </p:txBody>
      </p:sp>
    </p:spTree>
    <p:extLst>
      <p:ext uri="{BB962C8B-B14F-4D97-AF65-F5344CB8AC3E}">
        <p14:creationId xmlns:p14="http://schemas.microsoft.com/office/powerpoint/2010/main" val="29441458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Title 1"/>
          <p:cNvSpPr>
            <a:spLocks noGrp="1"/>
          </p:cNvSpPr>
          <p:nvPr>
            <p:ph type="title" idx="4294967295"/>
          </p:nvPr>
        </p:nvSpPr>
        <p:spPr>
          <a:xfrm>
            <a:off x="673100" y="139700"/>
            <a:ext cx="7772400" cy="495300"/>
          </a:xfrm>
        </p:spPr>
        <p:txBody>
          <a:bodyPr>
            <a:normAutofit fontScale="90000"/>
          </a:bodyPr>
          <a:lstStyle/>
          <a:p>
            <a:r>
              <a:rPr lang="en-AU" sz="3600">
                <a:latin typeface="Tahoma" pitchFamily="34" charset="0"/>
                <a:cs typeface="Tahoma" pitchFamily="34" charset="0"/>
              </a:rPr>
              <a:t>Investment in the TAB file</a:t>
            </a:r>
          </a:p>
        </p:txBody>
      </p:sp>
      <p:sp>
        <p:nvSpPr>
          <p:cNvPr id="161795" name="Content Placeholder 2"/>
          <p:cNvSpPr>
            <a:spLocks noGrp="1"/>
          </p:cNvSpPr>
          <p:nvPr>
            <p:ph idx="4294967295"/>
          </p:nvPr>
        </p:nvSpPr>
        <p:spPr>
          <a:xfrm>
            <a:off x="120650" y="679450"/>
            <a:ext cx="8928100" cy="5416550"/>
          </a:xfrm>
        </p:spPr>
        <p:txBody>
          <a:bodyPr>
            <a:normAutofit fontScale="92500" lnSpcReduction="10000"/>
          </a:bodyPr>
          <a:lstStyle/>
          <a:p>
            <a:pPr marL="0" indent="0">
              <a:spcBef>
                <a:spcPts val="1200"/>
              </a:spcBef>
              <a:spcAft>
                <a:spcPts val="300"/>
              </a:spcAft>
              <a:buFontTx/>
              <a:buNone/>
            </a:pPr>
            <a:r>
              <a:rPr lang="en-AU" sz="1400">
                <a:solidFill>
                  <a:srgbClr val="000000"/>
                </a:solidFill>
                <a:latin typeface="Consolas" pitchFamily="49" charset="0"/>
              </a:rPr>
              <a:t>Variable</a:t>
            </a:r>
            <a:r>
              <a:rPr lang="en-AU" sz="1400" b="0">
                <a:solidFill>
                  <a:srgbClr val="000000"/>
                </a:solidFill>
                <a:latin typeface="Consolas" pitchFamily="49" charset="0"/>
              </a:rPr>
              <a:t> (</a:t>
            </a:r>
            <a:r>
              <a:rPr lang="en-AU" sz="1400">
                <a:solidFill>
                  <a:srgbClr val="000000"/>
                </a:solidFill>
                <a:latin typeface="Consolas" pitchFamily="49" charset="0"/>
              </a:rPr>
              <a:t>change</a:t>
            </a:r>
            <a:r>
              <a:rPr lang="en-AU" sz="1400" b="0">
                <a:solidFill>
                  <a:srgbClr val="000000"/>
                </a:solidFill>
                <a:latin typeface="Consolas" pitchFamily="49" charset="0"/>
              </a:rPr>
              <a:t>) (</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IND</a:t>
            </a:r>
            <a:r>
              <a:rPr lang="en-AU" sz="1400" b="0">
                <a:solidFill>
                  <a:srgbClr val="000000"/>
                </a:solidFill>
                <a:latin typeface="Consolas" pitchFamily="49" charset="0"/>
              </a:rPr>
              <a:t>)(</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DST</a:t>
            </a:r>
            <a:r>
              <a:rPr lang="en-AU" sz="1400" b="0">
                <a:solidFill>
                  <a:srgbClr val="000000"/>
                </a:solidFill>
                <a:latin typeface="Consolas" pitchFamily="49" charset="0"/>
              </a:rPr>
              <a:t>) </a:t>
            </a:r>
            <a:r>
              <a:rPr lang="en-AU" sz="1400" b="0">
                <a:solidFill>
                  <a:srgbClr val="008000"/>
                </a:solidFill>
                <a:latin typeface="Consolas" pitchFamily="49" charset="0"/>
              </a:rPr>
              <a:t>delgret</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br>
              <a:rPr lang="en-AU" sz="1400" b="0">
                <a:solidFill>
                  <a:srgbClr val="000000"/>
                </a:solidFill>
                <a:latin typeface="Consolas" pitchFamily="49" charset="0"/>
              </a:rPr>
            </a:br>
            <a:r>
              <a:rPr lang="en-AU" sz="1400" b="0">
                <a:solidFill>
                  <a:srgbClr val="000000"/>
                </a:solidFill>
                <a:latin typeface="Consolas" pitchFamily="49" charset="0"/>
              </a:rPr>
              <a:t> </a:t>
            </a:r>
            <a:r>
              <a:rPr lang="en-AU" sz="1400" b="0" i="1">
                <a:solidFill>
                  <a:srgbClr val="000000"/>
                </a:solidFill>
                <a:latin typeface="Consolas" pitchFamily="49" charset="0"/>
              </a:rPr>
              <a:t># Ordinary change in gross rate of return #</a:t>
            </a:r>
            <a:r>
              <a:rPr lang="en-AU" sz="1400" b="0">
                <a:solidFill>
                  <a:srgbClr val="000000"/>
                </a:solidFill>
                <a:latin typeface="Consolas" pitchFamily="49" charset="0"/>
              </a:rPr>
              <a:t>;</a:t>
            </a:r>
            <a:br>
              <a:rPr lang="en-AU" sz="1400" b="0">
                <a:solidFill>
                  <a:srgbClr val="000000"/>
                </a:solidFill>
                <a:latin typeface="Consolas" pitchFamily="49" charset="0"/>
              </a:rPr>
            </a:br>
            <a:r>
              <a:rPr lang="en-AU" sz="1400">
                <a:solidFill>
                  <a:srgbClr val="000000"/>
                </a:solidFill>
                <a:latin typeface="Consolas" pitchFamily="49" charset="0"/>
              </a:rPr>
              <a:t>Equation</a:t>
            </a:r>
            <a:r>
              <a:rPr lang="en-AU" sz="1400" b="0">
                <a:solidFill>
                  <a:srgbClr val="000000"/>
                </a:solidFill>
                <a:latin typeface="Consolas" pitchFamily="49" charset="0"/>
              </a:rPr>
              <a:t> </a:t>
            </a:r>
            <a:r>
              <a:rPr lang="en-AU" sz="1400" b="0">
                <a:solidFill>
                  <a:srgbClr val="008000"/>
                </a:solidFill>
                <a:latin typeface="Consolas" pitchFamily="49" charset="0"/>
              </a:rPr>
              <a:t>E_delgret</a:t>
            </a:r>
            <a:r>
              <a:rPr lang="en-AU" sz="1400" b="0">
                <a:solidFill>
                  <a:srgbClr val="000000"/>
                </a:solidFill>
                <a:latin typeface="Consolas" pitchFamily="49" charset="0"/>
              </a:rPr>
              <a:t> </a:t>
            </a:r>
            <a:r>
              <a:rPr lang="en-AU" sz="1400" b="0" i="1">
                <a:solidFill>
                  <a:srgbClr val="000000"/>
                </a:solidFill>
                <a:latin typeface="Consolas" pitchFamily="49" charset="0"/>
              </a:rPr>
              <a:t># Gross rate of return #</a:t>
            </a:r>
            <a:r>
              <a:rPr lang="en-AU" sz="1400" b="0">
                <a:solidFill>
                  <a:srgbClr val="000000"/>
                </a:solidFill>
                <a:latin typeface="Consolas" pitchFamily="49" charset="0"/>
              </a:rPr>
              <a:t> (</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IND</a:t>
            </a:r>
            <a:r>
              <a:rPr lang="en-AU" sz="1400" b="0">
                <a:solidFill>
                  <a:srgbClr val="000000"/>
                </a:solidFill>
                <a:latin typeface="Consolas" pitchFamily="49" charset="0"/>
              </a:rPr>
              <a:t>)(</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DST</a:t>
            </a:r>
            <a:r>
              <a:rPr lang="en-AU" sz="1400" b="0">
                <a:solidFill>
                  <a:srgbClr val="000000"/>
                </a:solidFill>
                <a:latin typeface="Consolas" pitchFamily="49" charset="0"/>
              </a:rPr>
              <a:t>)</a:t>
            </a:r>
            <a:br>
              <a:rPr lang="en-AU" sz="1400" b="0">
                <a:solidFill>
                  <a:srgbClr val="000000"/>
                </a:solidFill>
                <a:latin typeface="Consolas" pitchFamily="49" charset="0"/>
              </a:rPr>
            </a:br>
            <a:r>
              <a:rPr lang="en-AU" sz="1400" b="0">
                <a:solidFill>
                  <a:srgbClr val="000000"/>
                </a:solidFill>
                <a:latin typeface="Consolas" pitchFamily="49" charset="0"/>
              </a:rPr>
              <a:t>  </a:t>
            </a:r>
            <a:r>
              <a:rPr lang="en-AU" sz="1400" b="0">
                <a:solidFill>
                  <a:srgbClr val="008000"/>
                </a:solidFill>
                <a:latin typeface="Consolas" pitchFamily="49" charset="0"/>
              </a:rPr>
              <a:t>delgret</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)=0.01*</a:t>
            </a:r>
            <a:r>
              <a:rPr lang="en-AU" sz="1400" b="0">
                <a:solidFill>
                  <a:srgbClr val="008000"/>
                </a:solidFill>
                <a:latin typeface="Consolas" pitchFamily="49" charset="0"/>
              </a:rPr>
              <a:t>GROSSRET</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a:solidFill>
                  <a:srgbClr val="000000"/>
                </a:solidFill>
                <a:latin typeface="Consolas" pitchFamily="49" charset="0"/>
              </a:rPr>
              <a:t>[</a:t>
            </a:r>
            <a:r>
              <a:rPr lang="en-AU" sz="1400" b="0">
                <a:solidFill>
                  <a:srgbClr val="008000"/>
                </a:solidFill>
                <a:latin typeface="Consolas" pitchFamily="49" charset="0"/>
              </a:rPr>
              <a:t>pcap</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pinvitot</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a:solidFill>
                  <a:srgbClr val="000000"/>
                </a:solidFill>
                <a:latin typeface="Consolas" pitchFamily="49" charset="0"/>
              </a:rPr>
              <a:t>]</a:t>
            </a:r>
            <a:r>
              <a:rPr lang="en-AU" sz="1400" b="0">
                <a:solidFill>
                  <a:srgbClr val="000000"/>
                </a:solidFill>
                <a:latin typeface="Consolas" pitchFamily="49" charset="0"/>
              </a:rPr>
              <a:t>;</a:t>
            </a:r>
            <a:br>
              <a:rPr lang="en-AU" sz="1400" b="0">
                <a:solidFill>
                  <a:srgbClr val="000000"/>
                </a:solidFill>
                <a:latin typeface="Consolas" pitchFamily="49" charset="0"/>
              </a:rPr>
            </a:br>
            <a:r>
              <a:rPr lang="en-AU" sz="1400">
                <a:solidFill>
                  <a:srgbClr val="000000"/>
                </a:solidFill>
                <a:latin typeface="Consolas" pitchFamily="49" charset="0"/>
              </a:rPr>
              <a:t>Variable</a:t>
            </a:r>
            <a:br>
              <a:rPr lang="en-AU" sz="1400" b="0">
                <a:solidFill>
                  <a:srgbClr val="000000"/>
                </a:solidFill>
                <a:latin typeface="Consolas" pitchFamily="49" charset="0"/>
              </a:rPr>
            </a:br>
            <a:r>
              <a:rPr lang="en-AU" sz="1400" b="0">
                <a:solidFill>
                  <a:srgbClr val="000000"/>
                </a:solidFill>
                <a:latin typeface="Consolas" pitchFamily="49" charset="0"/>
              </a:rPr>
              <a:t> (</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IND</a:t>
            </a:r>
            <a:r>
              <a:rPr lang="en-AU" sz="1400" b="0">
                <a:solidFill>
                  <a:srgbClr val="000000"/>
                </a:solidFill>
                <a:latin typeface="Consolas" pitchFamily="49" charset="0"/>
              </a:rPr>
              <a:t>)(</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DST</a:t>
            </a:r>
            <a:r>
              <a:rPr lang="en-AU" sz="1400" b="0">
                <a:solidFill>
                  <a:srgbClr val="000000"/>
                </a:solidFill>
                <a:latin typeface="Consolas" pitchFamily="49" charset="0"/>
              </a:rPr>
              <a:t>) </a:t>
            </a:r>
            <a:r>
              <a:rPr lang="en-AU" sz="1400" b="0">
                <a:solidFill>
                  <a:srgbClr val="008000"/>
                </a:solidFill>
                <a:latin typeface="Consolas" pitchFamily="49" charset="0"/>
              </a:rPr>
              <a:t>gro</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 </a:t>
            </a:r>
            <a:r>
              <a:rPr lang="en-AU" sz="1400" b="0" i="1">
                <a:solidFill>
                  <a:srgbClr val="000000"/>
                </a:solidFill>
                <a:latin typeface="Consolas" pitchFamily="49" charset="0"/>
              </a:rPr>
              <a:t># Planned investment/capital ratio #</a:t>
            </a:r>
            <a:r>
              <a:rPr lang="en-AU" sz="1400" b="0">
                <a:solidFill>
                  <a:srgbClr val="000000"/>
                </a:solidFill>
                <a:latin typeface="Consolas" pitchFamily="49" charset="0"/>
              </a:rPr>
              <a:t>;</a:t>
            </a:r>
            <a:br>
              <a:rPr lang="en-AU" sz="1400" b="0">
                <a:solidFill>
                  <a:srgbClr val="000000"/>
                </a:solidFill>
                <a:latin typeface="Consolas" pitchFamily="49" charset="0"/>
              </a:rPr>
            </a:br>
            <a:r>
              <a:rPr lang="en-AU" sz="1400" b="0">
                <a:solidFill>
                  <a:srgbClr val="000000"/>
                </a:solidFill>
                <a:latin typeface="Consolas" pitchFamily="49" charset="0"/>
              </a:rPr>
              <a:t> (</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IND</a:t>
            </a:r>
            <a:r>
              <a:rPr lang="en-AU" sz="1400" b="0">
                <a:solidFill>
                  <a:srgbClr val="000000"/>
                </a:solidFill>
                <a:latin typeface="Consolas" pitchFamily="49" charset="0"/>
              </a:rPr>
              <a:t>)(</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DST</a:t>
            </a:r>
            <a:r>
              <a:rPr lang="en-AU" sz="1400" b="0">
                <a:solidFill>
                  <a:srgbClr val="000000"/>
                </a:solidFill>
                <a:latin typeface="Consolas" pitchFamily="49" charset="0"/>
              </a:rPr>
              <a:t>) </a:t>
            </a:r>
            <a:r>
              <a:rPr lang="en-AU" sz="1400" b="0">
                <a:solidFill>
                  <a:srgbClr val="008000"/>
                </a:solidFill>
                <a:latin typeface="Consolas" pitchFamily="49" charset="0"/>
              </a:rPr>
              <a:t>finv4</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 </a:t>
            </a:r>
            <a:r>
              <a:rPr lang="en-AU" sz="1400" b="0" i="1">
                <a:solidFill>
                  <a:srgbClr val="000000"/>
                </a:solidFill>
                <a:latin typeface="Consolas" pitchFamily="49" charset="0"/>
              </a:rPr>
              <a:t># Shifter to toggle long run investment rule #</a:t>
            </a:r>
            <a:r>
              <a:rPr lang="en-AU" sz="1400" b="0">
                <a:solidFill>
                  <a:srgbClr val="000000"/>
                </a:solidFill>
                <a:latin typeface="Consolas" pitchFamily="49" charset="0"/>
              </a:rPr>
              <a:t>;</a:t>
            </a:r>
            <a:br>
              <a:rPr lang="en-AU" sz="1400" b="0">
                <a:solidFill>
                  <a:srgbClr val="000000"/>
                </a:solidFill>
                <a:latin typeface="Consolas" pitchFamily="49" charset="0"/>
              </a:rPr>
            </a:br>
            <a:r>
              <a:rPr lang="en-AU" sz="1400">
                <a:solidFill>
                  <a:srgbClr val="000000"/>
                </a:solidFill>
                <a:latin typeface="Consolas" pitchFamily="49" charset="0"/>
              </a:rPr>
              <a:t>Equation</a:t>
            </a:r>
            <a:r>
              <a:rPr lang="en-AU" sz="1400" b="0">
                <a:solidFill>
                  <a:srgbClr val="000000"/>
                </a:solidFill>
                <a:latin typeface="Consolas" pitchFamily="49" charset="0"/>
              </a:rPr>
              <a:t> </a:t>
            </a:r>
            <a:r>
              <a:rPr lang="en-AU" sz="1400" b="0">
                <a:solidFill>
                  <a:srgbClr val="008000"/>
                </a:solidFill>
                <a:latin typeface="Consolas" pitchFamily="49" charset="0"/>
              </a:rPr>
              <a:t>E_finv4</a:t>
            </a:r>
            <a:r>
              <a:rPr lang="en-AU" sz="1400" b="0">
                <a:solidFill>
                  <a:srgbClr val="000000"/>
                </a:solidFill>
                <a:latin typeface="Consolas" pitchFamily="49" charset="0"/>
              </a:rPr>
              <a:t> </a:t>
            </a:r>
            <a:r>
              <a:rPr lang="en-AU" sz="1400" b="0" i="1">
                <a:solidFill>
                  <a:srgbClr val="000000"/>
                </a:solidFill>
                <a:latin typeface="Consolas" pitchFamily="49" charset="0"/>
              </a:rPr>
              <a:t># Planned investment/capital ratio #</a:t>
            </a:r>
            <a:br>
              <a:rPr lang="en-AU" sz="1400" b="0">
                <a:solidFill>
                  <a:srgbClr val="000000"/>
                </a:solidFill>
                <a:latin typeface="Consolas" pitchFamily="49" charset="0"/>
              </a:rPr>
            </a:br>
            <a:r>
              <a:rPr lang="en-AU" sz="1400" b="0">
                <a:solidFill>
                  <a:srgbClr val="000000"/>
                </a:solidFill>
                <a:latin typeface="Consolas" pitchFamily="49" charset="0"/>
              </a:rPr>
              <a:t> (</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IND</a:t>
            </a:r>
            <a:r>
              <a:rPr lang="en-AU" sz="1400" b="0">
                <a:solidFill>
                  <a:srgbClr val="000000"/>
                </a:solidFill>
                <a:latin typeface="Consolas" pitchFamily="49" charset="0"/>
              </a:rPr>
              <a:t>)(</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DST</a:t>
            </a:r>
            <a:r>
              <a:rPr lang="en-AU" sz="1400" b="0">
                <a:solidFill>
                  <a:srgbClr val="000000"/>
                </a:solidFill>
                <a:latin typeface="Consolas" pitchFamily="49" charset="0"/>
              </a:rPr>
              <a:t>) </a:t>
            </a:r>
            <a:r>
              <a:rPr lang="en-AU" sz="1400" b="0">
                <a:solidFill>
                  <a:srgbClr val="008000"/>
                </a:solidFill>
                <a:latin typeface="Consolas" pitchFamily="49" charset="0"/>
              </a:rPr>
              <a:t>gro</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xinvitot</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xcap</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finv4</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br>
              <a:rPr lang="en-AU" sz="1400" b="0">
                <a:solidFill>
                  <a:srgbClr val="000000"/>
                </a:solidFill>
                <a:latin typeface="Consolas" pitchFamily="49" charset="0"/>
              </a:rPr>
            </a:br>
            <a:endParaRPr lang="en-AU" sz="1400" b="0"/>
          </a:p>
          <a:p>
            <a:pPr marL="0" indent="0">
              <a:spcAft>
                <a:spcPts val="400"/>
              </a:spcAft>
              <a:buFontTx/>
              <a:buNone/>
            </a:pPr>
            <a:r>
              <a:rPr lang="en-AU" sz="1400">
                <a:solidFill>
                  <a:srgbClr val="000000"/>
                </a:solidFill>
                <a:latin typeface="Consolas" pitchFamily="49" charset="0"/>
              </a:rPr>
              <a:t>Variable</a:t>
            </a:r>
            <a:br>
              <a:rPr lang="en-AU" sz="1400" b="0">
                <a:solidFill>
                  <a:srgbClr val="000000"/>
                </a:solidFill>
                <a:latin typeface="Consolas" pitchFamily="49" charset="0"/>
              </a:rPr>
            </a:br>
            <a:r>
              <a:rPr lang="en-AU" sz="1400" b="0">
                <a:solidFill>
                  <a:srgbClr val="000000"/>
                </a:solidFill>
                <a:latin typeface="Consolas" pitchFamily="49" charset="0"/>
              </a:rPr>
              <a:t>(</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IND</a:t>
            </a:r>
            <a:r>
              <a:rPr lang="en-AU" sz="1400" b="0">
                <a:solidFill>
                  <a:srgbClr val="000000"/>
                </a:solidFill>
                <a:latin typeface="Consolas" pitchFamily="49" charset="0"/>
              </a:rPr>
              <a:t>)(</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DST</a:t>
            </a:r>
            <a:r>
              <a:rPr lang="en-AU" sz="1400" b="0">
                <a:solidFill>
                  <a:srgbClr val="000000"/>
                </a:solidFill>
                <a:latin typeface="Consolas" pitchFamily="49" charset="0"/>
              </a:rPr>
              <a:t>) </a:t>
            </a:r>
            <a:r>
              <a:rPr lang="en-AU" sz="1400" b="0">
                <a:solidFill>
                  <a:srgbClr val="008000"/>
                </a:solidFill>
                <a:latin typeface="Consolas" pitchFamily="49" charset="0"/>
              </a:rPr>
              <a:t>gretxp</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i="1">
                <a:solidFill>
                  <a:srgbClr val="000000"/>
                </a:solidFill>
                <a:latin typeface="Consolas" pitchFamily="49" charset="0"/>
              </a:rPr>
              <a:t>#Percent change in expected rate of return#</a:t>
            </a:r>
            <a:r>
              <a:rPr lang="en-AU" sz="1400" b="0">
                <a:solidFill>
                  <a:srgbClr val="000000"/>
                </a:solidFill>
                <a:latin typeface="Consolas" pitchFamily="49" charset="0"/>
              </a:rPr>
              <a:t>;</a:t>
            </a:r>
            <a:br>
              <a:rPr lang="en-AU" sz="1400" b="0">
                <a:solidFill>
                  <a:srgbClr val="000000"/>
                </a:solidFill>
                <a:latin typeface="Consolas" pitchFamily="49" charset="0"/>
              </a:rPr>
            </a:br>
            <a:r>
              <a:rPr lang="en-AU" sz="1400" b="0">
                <a:solidFill>
                  <a:srgbClr val="000000"/>
                </a:solidFill>
                <a:latin typeface="Consolas" pitchFamily="49" charset="0"/>
              </a:rPr>
              <a:t>(</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IND</a:t>
            </a:r>
            <a:r>
              <a:rPr lang="en-AU" sz="1400" b="0">
                <a:solidFill>
                  <a:srgbClr val="000000"/>
                </a:solidFill>
                <a:latin typeface="Consolas" pitchFamily="49" charset="0"/>
              </a:rPr>
              <a:t>)(</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DST</a:t>
            </a:r>
            <a:r>
              <a:rPr lang="en-AU" sz="1400" b="0">
                <a:solidFill>
                  <a:srgbClr val="000000"/>
                </a:solidFill>
                <a:latin typeface="Consolas" pitchFamily="49" charset="0"/>
              </a:rPr>
              <a:t>) </a:t>
            </a:r>
            <a:r>
              <a:rPr lang="en-AU" sz="1400" b="0">
                <a:solidFill>
                  <a:srgbClr val="008000"/>
                </a:solidFill>
                <a:latin typeface="Consolas" pitchFamily="49" charset="0"/>
              </a:rPr>
              <a:t>mratio</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i="1">
                <a:solidFill>
                  <a:srgbClr val="000000"/>
                </a:solidFill>
                <a:latin typeface="Consolas" pitchFamily="49" charset="0"/>
              </a:rPr>
              <a:t>#Ratio, (expected/normal) rate of return #</a:t>
            </a:r>
            <a:r>
              <a:rPr lang="en-AU" sz="1400" b="0">
                <a:solidFill>
                  <a:srgbClr val="000000"/>
                </a:solidFill>
                <a:latin typeface="Consolas" pitchFamily="49" charset="0"/>
              </a:rPr>
              <a:t>;</a:t>
            </a:r>
            <a:br>
              <a:rPr lang="en-AU" sz="1400" b="0">
                <a:solidFill>
                  <a:srgbClr val="000000"/>
                </a:solidFill>
                <a:latin typeface="Consolas" pitchFamily="49" charset="0"/>
              </a:rPr>
            </a:br>
            <a:endParaRPr lang="en-AU" sz="1400" b="0">
              <a:solidFill>
                <a:srgbClr val="000000"/>
              </a:solidFill>
              <a:latin typeface="Consolas" pitchFamily="49" charset="0"/>
            </a:endParaRPr>
          </a:p>
          <a:p>
            <a:pPr marL="0" indent="0">
              <a:spcAft>
                <a:spcPts val="400"/>
              </a:spcAft>
              <a:buFontTx/>
              <a:buNone/>
            </a:pPr>
            <a:r>
              <a:rPr lang="en-AU" sz="1400">
                <a:solidFill>
                  <a:srgbClr val="000000"/>
                </a:solidFill>
                <a:latin typeface="Consolas" pitchFamily="49" charset="0"/>
              </a:rPr>
              <a:t>Equation</a:t>
            </a:r>
            <a:r>
              <a:rPr lang="en-AU" sz="1400" b="0">
                <a:solidFill>
                  <a:srgbClr val="000000"/>
                </a:solidFill>
                <a:latin typeface="Consolas" pitchFamily="49" charset="0"/>
              </a:rPr>
              <a:t> </a:t>
            </a:r>
            <a:r>
              <a:rPr lang="en-AU" sz="1400" b="0">
                <a:solidFill>
                  <a:srgbClr val="008000"/>
                </a:solidFill>
                <a:latin typeface="Consolas" pitchFamily="49" charset="0"/>
              </a:rPr>
              <a:t>E_delgretexp</a:t>
            </a:r>
            <a:r>
              <a:rPr lang="en-AU" sz="1400" b="0">
                <a:solidFill>
                  <a:srgbClr val="000000"/>
                </a:solidFill>
                <a:latin typeface="Consolas" pitchFamily="49" charset="0"/>
              </a:rPr>
              <a:t> </a:t>
            </a:r>
            <a:r>
              <a:rPr lang="en-AU" sz="1400" b="0" i="1">
                <a:solidFill>
                  <a:srgbClr val="000000"/>
                </a:solidFill>
                <a:latin typeface="Consolas" pitchFamily="49" charset="0"/>
              </a:rPr>
              <a:t># Partial adjustment of expected rate of return #</a:t>
            </a:r>
            <a:br>
              <a:rPr lang="en-AU" sz="1400" b="0">
                <a:solidFill>
                  <a:srgbClr val="000000"/>
                </a:solidFill>
                <a:latin typeface="Consolas" pitchFamily="49" charset="0"/>
              </a:rPr>
            </a:br>
            <a:r>
              <a:rPr lang="en-AU" sz="1400" b="0">
                <a:solidFill>
                  <a:srgbClr val="000000"/>
                </a:solidFill>
                <a:latin typeface="Consolas" pitchFamily="49" charset="0"/>
              </a:rPr>
              <a:t> (</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IND</a:t>
            </a:r>
            <a:r>
              <a:rPr lang="en-AU" sz="1400" b="0">
                <a:solidFill>
                  <a:srgbClr val="000000"/>
                </a:solidFill>
                <a:latin typeface="Consolas" pitchFamily="49" charset="0"/>
              </a:rPr>
              <a:t>)(</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DST</a:t>
            </a:r>
            <a:r>
              <a:rPr lang="en-AU" sz="1400" b="0">
                <a:solidFill>
                  <a:srgbClr val="000000"/>
                </a:solidFill>
                <a:latin typeface="Consolas" pitchFamily="49" charset="0"/>
              </a:rPr>
              <a:t>) </a:t>
            </a:r>
            <a:r>
              <a:rPr lang="en-AU" sz="1400" b="0">
                <a:solidFill>
                  <a:srgbClr val="008000"/>
                </a:solidFill>
                <a:latin typeface="Consolas" pitchFamily="49" charset="0"/>
              </a:rPr>
              <a:t>delgretexp</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br>
              <a:rPr lang="en-AU" sz="1400" b="0">
                <a:solidFill>
                  <a:srgbClr val="000000"/>
                </a:solidFill>
                <a:latin typeface="Consolas" pitchFamily="49" charset="0"/>
              </a:rPr>
            </a:br>
            <a:r>
              <a:rPr lang="en-AU" sz="1400" b="0">
                <a:solidFill>
                  <a:srgbClr val="000000"/>
                </a:solidFill>
                <a:latin typeface="Consolas" pitchFamily="49" charset="0"/>
              </a:rPr>
              <a:t>      = 0.33*</a:t>
            </a:r>
            <a:r>
              <a:rPr lang="en-AU" sz="1400">
                <a:solidFill>
                  <a:srgbClr val="000000"/>
                </a:solidFill>
                <a:latin typeface="Consolas" pitchFamily="49" charset="0"/>
              </a:rPr>
              <a:t>[{</a:t>
            </a:r>
            <a:r>
              <a:rPr lang="en-AU" sz="1400" b="0">
                <a:solidFill>
                  <a:srgbClr val="008000"/>
                </a:solidFill>
                <a:latin typeface="Consolas" pitchFamily="49" charset="0"/>
              </a:rPr>
              <a:t>GROSSRET0</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GRETEXP0</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a:solidFill>
                  <a:srgbClr val="000000"/>
                </a:solidFill>
                <a:latin typeface="Consolas" pitchFamily="49" charset="0"/>
              </a:rPr>
              <a:t>}</a:t>
            </a:r>
            <a:r>
              <a:rPr lang="en-AU" sz="1400" b="0">
                <a:solidFill>
                  <a:srgbClr val="000000"/>
                </a:solidFill>
                <a:latin typeface="Consolas" pitchFamily="49" charset="0"/>
              </a:rPr>
              <a:t>*</a:t>
            </a:r>
            <a:r>
              <a:rPr lang="en-AU" sz="1400" b="0">
                <a:solidFill>
                  <a:srgbClr val="008000"/>
                </a:solidFill>
                <a:latin typeface="Consolas" pitchFamily="49" charset="0"/>
              </a:rPr>
              <a:t>delUnity</a:t>
            </a:r>
            <a:r>
              <a:rPr lang="en-AU" sz="1400" b="0">
                <a:solidFill>
                  <a:srgbClr val="000000"/>
                </a:solidFill>
                <a:latin typeface="Consolas" pitchFamily="49" charset="0"/>
              </a:rPr>
              <a:t> +</a:t>
            </a:r>
            <a:r>
              <a:rPr lang="en-AU" sz="1400" b="0">
                <a:solidFill>
                  <a:srgbClr val="008000"/>
                </a:solidFill>
                <a:latin typeface="Consolas" pitchFamily="49" charset="0"/>
              </a:rPr>
              <a:t>delgret</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a:solidFill>
                  <a:srgbClr val="000000"/>
                </a:solidFill>
                <a:latin typeface="Consolas" pitchFamily="49" charset="0"/>
              </a:rPr>
              <a:t>]</a:t>
            </a:r>
            <a:r>
              <a:rPr lang="en-AU" sz="1400" b="0">
                <a:solidFill>
                  <a:srgbClr val="000000"/>
                </a:solidFill>
                <a:latin typeface="Consolas" pitchFamily="49" charset="0"/>
              </a:rPr>
              <a:t>;</a:t>
            </a:r>
            <a:br>
              <a:rPr lang="en-AU" sz="1400" b="0">
                <a:solidFill>
                  <a:srgbClr val="000000"/>
                </a:solidFill>
                <a:latin typeface="Consolas" pitchFamily="49" charset="0"/>
              </a:rPr>
            </a:br>
            <a:r>
              <a:rPr lang="en-AU" sz="1400" b="0">
                <a:solidFill>
                  <a:srgbClr val="000000"/>
                </a:solidFill>
                <a:latin typeface="Consolas" pitchFamily="49" charset="0"/>
              </a:rPr>
              <a:t> </a:t>
            </a:r>
            <a:br>
              <a:rPr lang="en-AU" sz="1400" b="0">
                <a:solidFill>
                  <a:srgbClr val="000000"/>
                </a:solidFill>
                <a:latin typeface="Consolas" pitchFamily="49" charset="0"/>
              </a:rPr>
            </a:br>
            <a:r>
              <a:rPr lang="en-AU" sz="1400">
                <a:solidFill>
                  <a:srgbClr val="000000"/>
                </a:solidFill>
                <a:latin typeface="Consolas" pitchFamily="49" charset="0"/>
              </a:rPr>
              <a:t>Equation</a:t>
            </a:r>
            <a:r>
              <a:rPr lang="en-AU" sz="1400" b="0">
                <a:solidFill>
                  <a:srgbClr val="000000"/>
                </a:solidFill>
                <a:latin typeface="Consolas" pitchFamily="49" charset="0"/>
              </a:rPr>
              <a:t> </a:t>
            </a:r>
            <a:r>
              <a:rPr lang="en-AU" sz="1400" b="0">
                <a:solidFill>
                  <a:srgbClr val="008000"/>
                </a:solidFill>
                <a:latin typeface="Consolas" pitchFamily="49" charset="0"/>
              </a:rPr>
              <a:t>E_gretxp</a:t>
            </a:r>
            <a:r>
              <a:rPr lang="en-AU" sz="1400" b="0">
                <a:solidFill>
                  <a:srgbClr val="000000"/>
                </a:solidFill>
                <a:latin typeface="Consolas" pitchFamily="49" charset="0"/>
              </a:rPr>
              <a:t> </a:t>
            </a:r>
            <a:r>
              <a:rPr lang="en-AU" sz="1400" b="0" i="1">
                <a:solidFill>
                  <a:srgbClr val="000000"/>
                </a:solidFill>
                <a:latin typeface="Consolas" pitchFamily="49" charset="0"/>
              </a:rPr>
              <a:t># Percent change in expected rate of return #</a:t>
            </a:r>
            <a:br>
              <a:rPr lang="en-AU" sz="1400" b="0">
                <a:solidFill>
                  <a:srgbClr val="000000"/>
                </a:solidFill>
                <a:latin typeface="Consolas" pitchFamily="49" charset="0"/>
              </a:rPr>
            </a:br>
            <a:r>
              <a:rPr lang="en-AU" sz="1400" b="0">
                <a:solidFill>
                  <a:srgbClr val="000000"/>
                </a:solidFill>
                <a:latin typeface="Consolas" pitchFamily="49" charset="0"/>
              </a:rPr>
              <a:t> (</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IND</a:t>
            </a:r>
            <a:r>
              <a:rPr lang="en-AU" sz="1400" b="0">
                <a:solidFill>
                  <a:srgbClr val="000000"/>
                </a:solidFill>
                <a:latin typeface="Consolas" pitchFamily="49" charset="0"/>
              </a:rPr>
              <a:t>)(</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DST</a:t>
            </a:r>
            <a:r>
              <a:rPr lang="en-AU" sz="1400" b="0">
                <a:solidFill>
                  <a:srgbClr val="000000"/>
                </a:solidFill>
                <a:latin typeface="Consolas" pitchFamily="49" charset="0"/>
              </a:rPr>
              <a:t>) </a:t>
            </a:r>
            <a:r>
              <a:rPr lang="en-AU" sz="1400" b="0">
                <a:solidFill>
                  <a:srgbClr val="008000"/>
                </a:solidFill>
                <a:latin typeface="Consolas" pitchFamily="49" charset="0"/>
              </a:rPr>
              <a:t>delgretexp</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)=0.01*</a:t>
            </a:r>
            <a:r>
              <a:rPr lang="en-AU" sz="1400" b="0">
                <a:solidFill>
                  <a:srgbClr val="008000"/>
                </a:solidFill>
                <a:latin typeface="Consolas" pitchFamily="49" charset="0"/>
              </a:rPr>
              <a:t>GRETEXP</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gretxp</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br>
              <a:rPr lang="en-AU" sz="1400" b="0">
                <a:solidFill>
                  <a:srgbClr val="000000"/>
                </a:solidFill>
                <a:latin typeface="Consolas" pitchFamily="49" charset="0"/>
              </a:rPr>
            </a:br>
            <a:r>
              <a:rPr lang="en-AU" sz="1400" b="0">
                <a:solidFill>
                  <a:srgbClr val="000000"/>
                </a:solidFill>
                <a:latin typeface="Consolas" pitchFamily="49" charset="0"/>
              </a:rPr>
              <a:t> </a:t>
            </a:r>
            <a:br>
              <a:rPr lang="en-AU" sz="1400" b="0">
                <a:solidFill>
                  <a:srgbClr val="000000"/>
                </a:solidFill>
                <a:latin typeface="Consolas" pitchFamily="49" charset="0"/>
              </a:rPr>
            </a:br>
            <a:r>
              <a:rPr lang="en-AU" sz="1400">
                <a:solidFill>
                  <a:srgbClr val="000000"/>
                </a:solidFill>
                <a:latin typeface="Consolas" pitchFamily="49" charset="0"/>
              </a:rPr>
              <a:t>Equation</a:t>
            </a:r>
            <a:r>
              <a:rPr lang="en-AU" sz="1400" b="0">
                <a:solidFill>
                  <a:srgbClr val="000000"/>
                </a:solidFill>
                <a:latin typeface="Consolas" pitchFamily="49" charset="0"/>
              </a:rPr>
              <a:t> </a:t>
            </a:r>
            <a:r>
              <a:rPr lang="en-AU" sz="1400" b="0">
                <a:solidFill>
                  <a:srgbClr val="008000"/>
                </a:solidFill>
                <a:latin typeface="Consolas" pitchFamily="49" charset="0"/>
              </a:rPr>
              <a:t>E_mratio</a:t>
            </a:r>
            <a:r>
              <a:rPr lang="en-AU" sz="1400" b="0">
                <a:solidFill>
                  <a:srgbClr val="000000"/>
                </a:solidFill>
                <a:latin typeface="Consolas" pitchFamily="49" charset="0"/>
              </a:rPr>
              <a:t> </a:t>
            </a:r>
            <a:r>
              <a:rPr lang="en-AU" sz="1400" b="0" i="1">
                <a:solidFill>
                  <a:srgbClr val="000000"/>
                </a:solidFill>
                <a:latin typeface="Consolas" pitchFamily="49" charset="0"/>
              </a:rPr>
              <a:t># Ratio,(expected/normal) rate of return #</a:t>
            </a:r>
            <a:br>
              <a:rPr lang="en-AU" sz="1400" b="0">
                <a:solidFill>
                  <a:srgbClr val="000000"/>
                </a:solidFill>
                <a:latin typeface="Consolas" pitchFamily="49" charset="0"/>
              </a:rPr>
            </a:br>
            <a:r>
              <a:rPr lang="en-AU" sz="1400" b="0">
                <a:solidFill>
                  <a:srgbClr val="000000"/>
                </a:solidFill>
                <a:latin typeface="Consolas" pitchFamily="49" charset="0"/>
              </a:rPr>
              <a:t> (</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IND</a:t>
            </a:r>
            <a:r>
              <a:rPr lang="en-AU" sz="1400" b="0">
                <a:solidFill>
                  <a:srgbClr val="000000"/>
                </a:solidFill>
                <a:latin typeface="Consolas" pitchFamily="49" charset="0"/>
              </a:rPr>
              <a:t>)(</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DST</a:t>
            </a:r>
            <a:r>
              <a:rPr lang="en-AU" sz="1400" b="0">
                <a:solidFill>
                  <a:srgbClr val="000000"/>
                </a:solidFill>
                <a:latin typeface="Consolas" pitchFamily="49" charset="0"/>
              </a:rPr>
              <a:t>) </a:t>
            </a:r>
            <a:r>
              <a:rPr lang="en-AU" sz="1400" b="0">
                <a:solidFill>
                  <a:srgbClr val="008000"/>
                </a:solidFill>
                <a:latin typeface="Consolas" pitchFamily="49" charset="0"/>
              </a:rPr>
              <a:t>mratio</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gretxp</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rnorm</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br>
              <a:rPr lang="en-AU" sz="1400" b="0">
                <a:solidFill>
                  <a:srgbClr val="000000"/>
                </a:solidFill>
                <a:latin typeface="Consolas" pitchFamily="49" charset="0"/>
              </a:rPr>
            </a:br>
            <a:r>
              <a:rPr lang="en-AU" sz="1400" b="0">
                <a:solidFill>
                  <a:srgbClr val="000000"/>
                </a:solidFill>
                <a:latin typeface="Consolas" pitchFamily="49" charset="0"/>
              </a:rPr>
              <a:t> </a:t>
            </a:r>
            <a:br>
              <a:rPr lang="en-AU" sz="1400" b="0">
                <a:solidFill>
                  <a:srgbClr val="000000"/>
                </a:solidFill>
                <a:latin typeface="Consolas" pitchFamily="49" charset="0"/>
              </a:rPr>
            </a:br>
            <a:r>
              <a:rPr lang="en-AU" sz="1400">
                <a:solidFill>
                  <a:srgbClr val="000000"/>
                </a:solidFill>
                <a:latin typeface="Consolas" pitchFamily="49" charset="0"/>
              </a:rPr>
              <a:t>Equation</a:t>
            </a:r>
            <a:r>
              <a:rPr lang="en-AU" sz="1400" b="0">
                <a:solidFill>
                  <a:srgbClr val="000000"/>
                </a:solidFill>
                <a:latin typeface="Consolas" pitchFamily="49" charset="0"/>
              </a:rPr>
              <a:t> </a:t>
            </a:r>
            <a:r>
              <a:rPr lang="en-AU" sz="1400" b="0">
                <a:solidFill>
                  <a:srgbClr val="008000"/>
                </a:solidFill>
                <a:latin typeface="Consolas" pitchFamily="49" charset="0"/>
              </a:rPr>
              <a:t>E_gro</a:t>
            </a:r>
            <a:r>
              <a:rPr lang="en-AU" sz="1400" b="0">
                <a:solidFill>
                  <a:srgbClr val="000000"/>
                </a:solidFill>
                <a:latin typeface="Consolas" pitchFamily="49" charset="0"/>
              </a:rPr>
              <a:t> </a:t>
            </a:r>
            <a:r>
              <a:rPr lang="en-AU" sz="1400" b="0" i="1">
                <a:solidFill>
                  <a:srgbClr val="000000"/>
                </a:solidFill>
                <a:latin typeface="Consolas" pitchFamily="49" charset="0"/>
              </a:rPr>
              <a:t># Planned investment/capital ratio #</a:t>
            </a:r>
            <a:br>
              <a:rPr lang="en-AU" sz="1400" b="0">
                <a:solidFill>
                  <a:srgbClr val="000000"/>
                </a:solidFill>
                <a:latin typeface="Consolas" pitchFamily="49" charset="0"/>
              </a:rPr>
            </a:br>
            <a:r>
              <a:rPr lang="en-AU" sz="1400" b="0">
                <a:solidFill>
                  <a:srgbClr val="000000"/>
                </a:solidFill>
                <a:latin typeface="Consolas" pitchFamily="49" charset="0"/>
              </a:rPr>
              <a:t> (</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IND</a:t>
            </a:r>
            <a:r>
              <a:rPr lang="en-AU" sz="1400" b="0">
                <a:solidFill>
                  <a:srgbClr val="000000"/>
                </a:solidFill>
                <a:latin typeface="Consolas" pitchFamily="49" charset="0"/>
              </a:rPr>
              <a:t>)(</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DST</a:t>
            </a:r>
            <a:r>
              <a:rPr lang="en-AU" sz="1400" b="0">
                <a:solidFill>
                  <a:srgbClr val="000000"/>
                </a:solidFill>
                <a:latin typeface="Consolas" pitchFamily="49" charset="0"/>
              </a:rPr>
              <a:t>) </a:t>
            </a:r>
            <a:r>
              <a:rPr lang="en-AU" sz="1400" b="0">
                <a:solidFill>
                  <a:srgbClr val="008000"/>
                </a:solidFill>
                <a:latin typeface="Consolas" pitchFamily="49" charset="0"/>
              </a:rPr>
              <a:t>gro</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gtrend</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 + </a:t>
            </a:r>
            <a:r>
              <a:rPr lang="en-AU" sz="1400" b="0">
                <a:solidFill>
                  <a:srgbClr val="008000"/>
                </a:solidFill>
                <a:latin typeface="Consolas" pitchFamily="49" charset="0"/>
              </a:rPr>
              <a:t>invslack</a:t>
            </a:r>
            <a:br>
              <a:rPr lang="en-AU" sz="1400" b="0">
                <a:solidFill>
                  <a:srgbClr val="000000"/>
                </a:solidFill>
                <a:latin typeface="Consolas" pitchFamily="49" charset="0"/>
              </a:rPr>
            </a:br>
            <a:r>
              <a:rPr lang="en-AU" sz="1400" b="0">
                <a:solidFill>
                  <a:srgbClr val="000000"/>
                </a:solidFill>
                <a:latin typeface="Consolas" pitchFamily="49" charset="0"/>
              </a:rPr>
              <a:t>   + </a:t>
            </a:r>
            <a:r>
              <a:rPr lang="en-AU" sz="1400" b="0">
                <a:solidFill>
                  <a:srgbClr val="008000"/>
                </a:solidFill>
                <a:latin typeface="Consolas" pitchFamily="49" charset="0"/>
              </a:rPr>
              <a:t>ALPHA</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a:solidFill>
                  <a:srgbClr val="000000"/>
                </a:solidFill>
                <a:latin typeface="Consolas" pitchFamily="49" charset="0"/>
              </a:rPr>
              <a:t>[</a:t>
            </a:r>
            <a:r>
              <a:rPr lang="en-AU" sz="1400" b="0">
                <a:solidFill>
                  <a:srgbClr val="000000"/>
                </a:solidFill>
                <a:latin typeface="Consolas" pitchFamily="49" charset="0"/>
              </a:rPr>
              <a:t>1.0-(</a:t>
            </a:r>
            <a:r>
              <a:rPr lang="en-AU" sz="1400" b="0">
                <a:solidFill>
                  <a:srgbClr val="008000"/>
                </a:solidFill>
                <a:latin typeface="Consolas" pitchFamily="49" charset="0"/>
              </a:rPr>
              <a:t>GROSSGRO</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GROMAX</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a:solidFill>
                  <a:srgbClr val="000000"/>
                </a:solidFill>
                <a:latin typeface="Consolas" pitchFamily="49" charset="0"/>
              </a:rPr>
              <a:t>]</a:t>
            </a:r>
            <a:r>
              <a:rPr lang="en-AU" sz="1400" b="0">
                <a:solidFill>
                  <a:srgbClr val="000000"/>
                </a:solidFill>
                <a:latin typeface="Consolas" pitchFamily="49" charset="0"/>
              </a:rPr>
              <a:t>*</a:t>
            </a:r>
            <a:r>
              <a:rPr lang="en-AU" sz="1400" b="0">
                <a:solidFill>
                  <a:srgbClr val="008000"/>
                </a:solidFill>
                <a:latin typeface="Consolas" pitchFamily="49" charset="0"/>
              </a:rPr>
              <a:t>mratio</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br>
              <a:rPr lang="en-AU" sz="1400" b="0">
                <a:solidFill>
                  <a:srgbClr val="000000"/>
                </a:solidFill>
                <a:latin typeface="Consolas" pitchFamily="49" charset="0"/>
              </a:rPr>
            </a:br>
            <a:endParaRPr lang="en-AU" sz="1400" b="0"/>
          </a:p>
          <a:p>
            <a:pPr marL="0" indent="0">
              <a:spcAft>
                <a:spcPts val="400"/>
              </a:spcAft>
              <a:buFontTx/>
              <a:buNone/>
            </a:pPr>
            <a:endParaRPr lang="en-AU" sz="1400" b="0"/>
          </a:p>
          <a:p>
            <a:pPr marL="0" indent="0">
              <a:spcAft>
                <a:spcPts val="400"/>
              </a:spcAft>
              <a:buFontTx/>
              <a:buNone/>
            </a:pPr>
            <a:endParaRPr lang="en-AU" b="0"/>
          </a:p>
        </p:txBody>
      </p:sp>
      <p:sp>
        <p:nvSpPr>
          <p:cNvPr id="161796" name="Slide Number Placeholder 3"/>
          <p:cNvSpPr txBox="1">
            <a:spLocks noGrp="1"/>
          </p:cNvSpPr>
          <p:nvPr/>
        </p:nvSpPr>
        <p:spPr bwMode="auto">
          <a:xfrm>
            <a:off x="8458200" y="152400"/>
            <a:ext cx="533400" cy="457200"/>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FF9DA841-5FAB-4CDE-A80A-630FA8E1BFBC}" type="slidenum">
              <a:rPr lang="en-US" sz="1400">
                <a:latin typeface="Times New Roman" pitchFamily="18" charset="0"/>
              </a:rPr>
              <a:pPr algn="r"/>
              <a:t>8</a:t>
            </a:fld>
            <a:endParaRPr lang="en-US" sz="1400">
              <a:latin typeface="Times New Roman" pitchFamily="18" charset="0"/>
            </a:endParaRPr>
          </a:p>
        </p:txBody>
      </p:sp>
    </p:spTree>
    <p:extLst>
      <p:ext uri="{BB962C8B-B14F-4D97-AF65-F5344CB8AC3E}">
        <p14:creationId xmlns:p14="http://schemas.microsoft.com/office/powerpoint/2010/main" val="916867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Title 1"/>
          <p:cNvSpPr>
            <a:spLocks noGrp="1"/>
          </p:cNvSpPr>
          <p:nvPr>
            <p:ph type="title" idx="4294967295"/>
          </p:nvPr>
        </p:nvSpPr>
        <p:spPr>
          <a:xfrm>
            <a:off x="673100" y="139700"/>
            <a:ext cx="7772400" cy="698500"/>
          </a:xfrm>
        </p:spPr>
        <p:txBody>
          <a:bodyPr/>
          <a:lstStyle/>
          <a:p>
            <a:r>
              <a:rPr lang="en-AU" sz="3600">
                <a:latin typeface="Tahoma" pitchFamily="34" charset="0"/>
                <a:cs typeface="Tahoma" pitchFamily="34" charset="0"/>
              </a:rPr>
              <a:t>Wage adjustment equation </a:t>
            </a:r>
          </a:p>
        </p:txBody>
      </p:sp>
      <p:sp>
        <p:nvSpPr>
          <p:cNvPr id="162819" name="Content Placeholder 2"/>
          <p:cNvSpPr>
            <a:spLocks noGrp="1"/>
          </p:cNvSpPr>
          <p:nvPr>
            <p:ph idx="4294967295"/>
          </p:nvPr>
        </p:nvSpPr>
        <p:spPr>
          <a:xfrm>
            <a:off x="285750" y="1066800"/>
            <a:ext cx="8661400" cy="5708650"/>
          </a:xfrm>
        </p:spPr>
        <p:txBody>
          <a:bodyPr>
            <a:normAutofit fontScale="70000" lnSpcReduction="20000"/>
          </a:bodyPr>
          <a:lstStyle/>
          <a:p>
            <a:pPr marL="381000" lvl="2" indent="0">
              <a:spcBef>
                <a:spcPts val="1200"/>
              </a:spcBef>
              <a:spcAft>
                <a:spcPts val="300"/>
              </a:spcAft>
              <a:buFontTx/>
              <a:buNone/>
            </a:pPr>
            <a:r>
              <a:rPr lang="en-AU" sz="2000" dirty="0"/>
              <a:t>Basic Idea: wages rise if employment is above trend</a:t>
            </a:r>
            <a:endParaRPr lang="en-AU" dirty="0"/>
          </a:p>
          <a:p>
            <a:pPr marL="0" indent="0">
              <a:spcAft>
                <a:spcPts val="400"/>
              </a:spcAft>
              <a:buFontTx/>
              <a:buNone/>
            </a:pPr>
            <a:r>
              <a:rPr lang="en-AU" sz="2000" b="0" dirty="0"/>
              <a:t>If end-of-period employment exceeds some trend level by x% then real wages will rise, during the period, by </a:t>
            </a:r>
            <a:r>
              <a:rPr lang="en-AU" sz="2000" b="0" dirty="0" err="1">
                <a:latin typeface="Symbol" pitchFamily="18" charset="2"/>
              </a:rPr>
              <a:t>g</a:t>
            </a:r>
            <a:r>
              <a:rPr lang="en-AU" sz="2000" b="0" dirty="0" err="1"/>
              <a:t>.x</a:t>
            </a:r>
            <a:r>
              <a:rPr lang="en-AU" sz="2000" b="0" dirty="0"/>
              <a:t>%. </a:t>
            </a:r>
          </a:p>
          <a:p>
            <a:pPr marL="0" indent="0">
              <a:spcAft>
                <a:spcPts val="400"/>
              </a:spcAft>
              <a:buFontTx/>
              <a:buNone/>
            </a:pPr>
            <a:r>
              <a:rPr lang="en-AU" sz="2000" b="0" dirty="0"/>
              <a:t>Since employment is negatively related to real wages, this mechanism causes employment to adjust towards the trend level (level corresponding to NAIRU).</a:t>
            </a:r>
          </a:p>
          <a:p>
            <a:pPr marL="0" indent="0">
              <a:spcAft>
                <a:spcPts val="400"/>
              </a:spcAft>
              <a:buFontTx/>
              <a:buNone/>
            </a:pPr>
            <a:r>
              <a:rPr lang="en-AU" sz="2000" b="0" dirty="0"/>
              <a:t>With	L	actual employment</a:t>
            </a:r>
          </a:p>
          <a:p>
            <a:pPr marL="0" indent="0">
              <a:spcAft>
                <a:spcPts val="400"/>
              </a:spcAft>
              <a:buFontTx/>
              <a:buNone/>
            </a:pPr>
            <a:r>
              <a:rPr lang="en-AU" sz="2000" b="0" dirty="0"/>
              <a:t>	T	trend employment</a:t>
            </a:r>
          </a:p>
          <a:p>
            <a:pPr marL="0" indent="0">
              <a:spcAft>
                <a:spcPts val="400"/>
              </a:spcAft>
              <a:buFontTx/>
              <a:buNone/>
            </a:pPr>
            <a:r>
              <a:rPr lang="en-AU" sz="2000" b="0" dirty="0"/>
              <a:t>	W	real wage</a:t>
            </a:r>
          </a:p>
          <a:p>
            <a:pPr marL="0" indent="0">
              <a:spcAft>
                <a:spcPts val="400"/>
              </a:spcAft>
              <a:buFontTx/>
              <a:buNone/>
            </a:pPr>
            <a:r>
              <a:rPr lang="en-US" sz="2000" b="0" dirty="0"/>
              <a:t>We have:</a:t>
            </a:r>
          </a:p>
          <a:p>
            <a:pPr marL="0" indent="0">
              <a:spcAft>
                <a:spcPts val="400"/>
              </a:spcAft>
              <a:buFontTx/>
              <a:buNone/>
            </a:pPr>
            <a:r>
              <a:rPr lang="en-US" sz="2000" b="0" dirty="0"/>
              <a:t>	</a:t>
            </a:r>
            <a:r>
              <a:rPr lang="en-AU" sz="2000" b="0" dirty="0">
                <a:latin typeface="Symbol" pitchFamily="18" charset="2"/>
              </a:rPr>
              <a:t>D</a:t>
            </a:r>
            <a:r>
              <a:rPr lang="en-AU" sz="2000" b="0" dirty="0"/>
              <a:t>W/W</a:t>
            </a:r>
            <a:r>
              <a:rPr lang="en-AU" sz="2000" b="0" baseline="-25000" dirty="0"/>
              <a:t>0</a:t>
            </a:r>
            <a:r>
              <a:rPr lang="en-AU" sz="2000" b="0" dirty="0"/>
              <a:t> = </a:t>
            </a:r>
            <a:r>
              <a:rPr lang="en-AU" sz="2000" b="0" dirty="0">
                <a:latin typeface="Symbol" pitchFamily="18" charset="2"/>
              </a:rPr>
              <a:t>g</a:t>
            </a:r>
            <a:r>
              <a:rPr lang="en-AU" sz="2000" b="0" dirty="0"/>
              <a:t>[(L</a:t>
            </a:r>
            <a:r>
              <a:rPr lang="en-AU" sz="2000" b="0" baseline="-25000" dirty="0"/>
              <a:t>0</a:t>
            </a:r>
            <a:r>
              <a:rPr lang="en-AU" sz="2000" b="0" dirty="0"/>
              <a:t>/T</a:t>
            </a:r>
            <a:r>
              <a:rPr lang="en-AU" sz="2000" b="0" baseline="-25000" dirty="0"/>
              <a:t>0</a:t>
            </a:r>
            <a:r>
              <a:rPr lang="en-AU" sz="2000" b="0" dirty="0"/>
              <a:t>)-1] + </a:t>
            </a:r>
            <a:r>
              <a:rPr lang="en-AU" sz="2000" b="0" dirty="0" err="1">
                <a:latin typeface="Symbol" pitchFamily="18" charset="2"/>
              </a:rPr>
              <a:t>gD</a:t>
            </a:r>
            <a:r>
              <a:rPr lang="en-AU" sz="2000" b="0" dirty="0"/>
              <a:t>(L/T)</a:t>
            </a:r>
          </a:p>
          <a:p>
            <a:pPr marL="0" indent="0">
              <a:buFontTx/>
              <a:buNone/>
            </a:pPr>
            <a:r>
              <a:rPr lang="en-AU" dirty="0">
                <a:solidFill>
                  <a:srgbClr val="000000"/>
                </a:solidFill>
                <a:latin typeface="Consolas" pitchFamily="49" charset="0"/>
              </a:rPr>
              <a:t>(</a:t>
            </a:r>
            <a:r>
              <a:rPr lang="en-AU" dirty="0" err="1">
                <a:solidFill>
                  <a:srgbClr val="000000"/>
                </a:solidFill>
                <a:latin typeface="Consolas" pitchFamily="49" charset="0"/>
              </a:rPr>
              <a:t>all</a:t>
            </a:r>
            <a:r>
              <a:rPr lang="en-AU" b="0" dirty="0" err="1">
                <a:solidFill>
                  <a:srgbClr val="000000"/>
                </a:solidFill>
                <a:latin typeface="Consolas" pitchFamily="49" charset="0"/>
              </a:rPr>
              <a:t>,</a:t>
            </a:r>
            <a:r>
              <a:rPr lang="en-AU" b="0" dirty="0" err="1">
                <a:solidFill>
                  <a:srgbClr val="008000"/>
                </a:solidFill>
                <a:latin typeface="Consolas" pitchFamily="49" charset="0"/>
              </a:rPr>
              <a:t>o</a:t>
            </a:r>
            <a:r>
              <a:rPr lang="en-AU" b="0" dirty="0" err="1">
                <a:solidFill>
                  <a:srgbClr val="000000"/>
                </a:solidFill>
                <a:latin typeface="Consolas" pitchFamily="49" charset="0"/>
              </a:rPr>
              <a:t>,</a:t>
            </a:r>
            <a:r>
              <a:rPr lang="en-AU" b="0" dirty="0" err="1">
                <a:solidFill>
                  <a:srgbClr val="008000"/>
                </a:solidFill>
                <a:latin typeface="Consolas" pitchFamily="49" charset="0"/>
              </a:rPr>
              <a:t>OCC</a:t>
            </a:r>
            <a:r>
              <a:rPr lang="en-AU" b="0" dirty="0">
                <a:solidFill>
                  <a:srgbClr val="000000"/>
                </a:solidFill>
                <a:latin typeface="Consolas" pitchFamily="49" charset="0"/>
              </a:rPr>
              <a:t>)  </a:t>
            </a:r>
            <a:r>
              <a:rPr lang="en-AU" b="0" dirty="0" err="1">
                <a:solidFill>
                  <a:srgbClr val="008000"/>
                </a:solidFill>
                <a:latin typeface="Consolas" pitchFamily="49" charset="0"/>
              </a:rPr>
              <a:t>delempratio</a:t>
            </a:r>
            <a:r>
              <a:rPr lang="en-AU" b="0" dirty="0">
                <a:solidFill>
                  <a:srgbClr val="000000"/>
                </a:solidFill>
                <a:latin typeface="Consolas" pitchFamily="49" charset="0"/>
              </a:rPr>
              <a:t>(</a:t>
            </a:r>
            <a:r>
              <a:rPr lang="en-AU" b="0" dirty="0">
                <a:solidFill>
                  <a:srgbClr val="008000"/>
                </a:solidFill>
                <a:latin typeface="Consolas" pitchFamily="49" charset="0"/>
              </a:rPr>
              <a:t>o</a:t>
            </a:r>
            <a:r>
              <a:rPr lang="en-AU" b="0" dirty="0">
                <a:solidFill>
                  <a:srgbClr val="000000"/>
                </a:solidFill>
                <a:latin typeface="Consolas" pitchFamily="49" charset="0"/>
              </a:rPr>
              <a:t>) = 0.01*</a:t>
            </a:r>
            <a:r>
              <a:rPr lang="en-AU" b="0" dirty="0">
                <a:solidFill>
                  <a:srgbClr val="008000"/>
                </a:solidFill>
                <a:latin typeface="Consolas" pitchFamily="49" charset="0"/>
              </a:rPr>
              <a:t>EMPRAT</a:t>
            </a:r>
            <a:r>
              <a:rPr lang="en-AU" b="0" dirty="0">
                <a:solidFill>
                  <a:srgbClr val="000000"/>
                </a:solidFill>
                <a:latin typeface="Consolas" pitchFamily="49" charset="0"/>
              </a:rPr>
              <a:t>(</a:t>
            </a:r>
            <a:r>
              <a:rPr lang="en-AU" b="0" dirty="0">
                <a:solidFill>
                  <a:srgbClr val="008000"/>
                </a:solidFill>
                <a:latin typeface="Consolas" pitchFamily="49" charset="0"/>
              </a:rPr>
              <a:t>o</a:t>
            </a:r>
            <a:r>
              <a:rPr lang="en-AU" b="0" dirty="0">
                <a:solidFill>
                  <a:srgbClr val="000000"/>
                </a:solidFill>
                <a:latin typeface="Consolas" pitchFamily="49" charset="0"/>
              </a:rPr>
              <a:t>)*</a:t>
            </a:r>
            <a:r>
              <a:rPr lang="en-AU" dirty="0">
                <a:solidFill>
                  <a:srgbClr val="000000"/>
                </a:solidFill>
                <a:latin typeface="Consolas" pitchFamily="49" charset="0"/>
              </a:rPr>
              <a:t>[</a:t>
            </a:r>
            <a:r>
              <a:rPr lang="en-AU" b="0" dirty="0" err="1">
                <a:solidFill>
                  <a:srgbClr val="008000"/>
                </a:solidFill>
                <a:latin typeface="Consolas" pitchFamily="49" charset="0"/>
              </a:rPr>
              <a:t>xlab_id</a:t>
            </a:r>
            <a:r>
              <a:rPr lang="en-AU" b="0" dirty="0">
                <a:solidFill>
                  <a:srgbClr val="000000"/>
                </a:solidFill>
                <a:latin typeface="Consolas" pitchFamily="49" charset="0"/>
              </a:rPr>
              <a:t>(</a:t>
            </a:r>
            <a:r>
              <a:rPr lang="en-AU" b="0" dirty="0">
                <a:solidFill>
                  <a:srgbClr val="008000"/>
                </a:solidFill>
                <a:latin typeface="Consolas" pitchFamily="49" charset="0"/>
              </a:rPr>
              <a:t>o</a:t>
            </a:r>
            <a:r>
              <a:rPr lang="en-AU" b="0" dirty="0">
                <a:solidFill>
                  <a:srgbClr val="000000"/>
                </a:solidFill>
                <a:latin typeface="Consolas" pitchFamily="49" charset="0"/>
              </a:rPr>
              <a:t>)-</a:t>
            </a:r>
            <a:r>
              <a:rPr lang="en-AU" b="0" dirty="0" err="1">
                <a:solidFill>
                  <a:srgbClr val="008000"/>
                </a:solidFill>
                <a:latin typeface="Consolas" pitchFamily="49" charset="0"/>
              </a:rPr>
              <a:t>emptrend</a:t>
            </a:r>
            <a:r>
              <a:rPr lang="en-AU" b="0" dirty="0">
                <a:solidFill>
                  <a:srgbClr val="000000"/>
                </a:solidFill>
                <a:latin typeface="Consolas" pitchFamily="49" charset="0"/>
              </a:rPr>
              <a:t>(</a:t>
            </a:r>
            <a:r>
              <a:rPr lang="en-AU" b="0" dirty="0">
                <a:solidFill>
                  <a:srgbClr val="008000"/>
                </a:solidFill>
                <a:latin typeface="Consolas" pitchFamily="49" charset="0"/>
              </a:rPr>
              <a:t>o</a:t>
            </a:r>
            <a:r>
              <a:rPr lang="en-AU" b="0" dirty="0">
                <a:solidFill>
                  <a:srgbClr val="000000"/>
                </a:solidFill>
                <a:latin typeface="Consolas" pitchFamily="49" charset="0"/>
              </a:rPr>
              <a:t>)</a:t>
            </a:r>
            <a:r>
              <a:rPr lang="en-AU" dirty="0">
                <a:solidFill>
                  <a:srgbClr val="000000"/>
                </a:solidFill>
                <a:latin typeface="Consolas" pitchFamily="49" charset="0"/>
              </a:rPr>
              <a:t>]</a:t>
            </a:r>
            <a:r>
              <a:rPr lang="en-AU" b="0" dirty="0">
                <a:solidFill>
                  <a:srgbClr val="000000"/>
                </a:solidFill>
                <a:latin typeface="Consolas" pitchFamily="49" charset="0"/>
              </a:rPr>
              <a:t>;</a:t>
            </a:r>
            <a:br>
              <a:rPr lang="en-AU" b="0" dirty="0">
                <a:solidFill>
                  <a:srgbClr val="000000"/>
                </a:solidFill>
                <a:latin typeface="Consolas" pitchFamily="49" charset="0"/>
              </a:rPr>
            </a:br>
            <a:r>
              <a:rPr lang="en-AU" dirty="0">
                <a:solidFill>
                  <a:srgbClr val="000000"/>
                </a:solidFill>
                <a:latin typeface="Consolas" pitchFamily="49" charset="0"/>
              </a:rPr>
              <a:t>(</a:t>
            </a:r>
            <a:r>
              <a:rPr lang="en-AU" dirty="0" err="1">
                <a:solidFill>
                  <a:srgbClr val="000000"/>
                </a:solidFill>
                <a:latin typeface="Consolas" pitchFamily="49" charset="0"/>
              </a:rPr>
              <a:t>all</a:t>
            </a:r>
            <a:r>
              <a:rPr lang="en-AU" b="0" dirty="0" err="1">
                <a:solidFill>
                  <a:srgbClr val="000000"/>
                </a:solidFill>
                <a:latin typeface="Consolas" pitchFamily="49" charset="0"/>
              </a:rPr>
              <a:t>,</a:t>
            </a:r>
            <a:r>
              <a:rPr lang="en-AU" b="0" dirty="0" err="1">
                <a:solidFill>
                  <a:srgbClr val="008000"/>
                </a:solidFill>
                <a:latin typeface="Consolas" pitchFamily="49" charset="0"/>
              </a:rPr>
              <a:t>o</a:t>
            </a:r>
            <a:r>
              <a:rPr lang="en-AU" b="0" dirty="0" err="1">
                <a:solidFill>
                  <a:srgbClr val="000000"/>
                </a:solidFill>
                <a:latin typeface="Consolas" pitchFamily="49" charset="0"/>
              </a:rPr>
              <a:t>,</a:t>
            </a:r>
            <a:r>
              <a:rPr lang="en-AU" b="0" dirty="0" err="1">
                <a:solidFill>
                  <a:srgbClr val="008000"/>
                </a:solidFill>
                <a:latin typeface="Consolas" pitchFamily="49" charset="0"/>
              </a:rPr>
              <a:t>OCC</a:t>
            </a:r>
            <a:r>
              <a:rPr lang="en-AU" b="0" dirty="0">
                <a:solidFill>
                  <a:srgbClr val="000000"/>
                </a:solidFill>
                <a:latin typeface="Consolas" pitchFamily="49" charset="0"/>
              </a:rPr>
              <a:t>)  </a:t>
            </a:r>
            <a:r>
              <a:rPr lang="en-AU" b="0" dirty="0" err="1">
                <a:solidFill>
                  <a:srgbClr val="008000"/>
                </a:solidFill>
                <a:latin typeface="Consolas" pitchFamily="49" charset="0"/>
              </a:rPr>
              <a:t>delwagerate</a:t>
            </a:r>
            <a:r>
              <a:rPr lang="en-AU" b="0" dirty="0">
                <a:solidFill>
                  <a:srgbClr val="000000"/>
                </a:solidFill>
                <a:latin typeface="Consolas" pitchFamily="49" charset="0"/>
              </a:rPr>
              <a:t>(</a:t>
            </a:r>
            <a:r>
              <a:rPr lang="en-AU" b="0" dirty="0">
                <a:solidFill>
                  <a:srgbClr val="008000"/>
                </a:solidFill>
                <a:latin typeface="Consolas" pitchFamily="49" charset="0"/>
              </a:rPr>
              <a:t>o</a:t>
            </a:r>
            <a:r>
              <a:rPr lang="en-AU" b="0" dirty="0">
                <a:solidFill>
                  <a:srgbClr val="000000"/>
                </a:solidFill>
                <a:latin typeface="Consolas" pitchFamily="49" charset="0"/>
              </a:rPr>
              <a:t>) = </a:t>
            </a:r>
            <a:r>
              <a:rPr lang="en-AU" b="0" dirty="0" err="1">
                <a:solidFill>
                  <a:srgbClr val="008000"/>
                </a:solidFill>
                <a:latin typeface="Consolas" pitchFamily="49" charset="0"/>
              </a:rPr>
              <a:t>delfwage</a:t>
            </a:r>
            <a:r>
              <a:rPr lang="en-AU" b="0" dirty="0">
                <a:solidFill>
                  <a:srgbClr val="000000"/>
                </a:solidFill>
                <a:latin typeface="Consolas" pitchFamily="49" charset="0"/>
              </a:rPr>
              <a:t>(</a:t>
            </a:r>
            <a:r>
              <a:rPr lang="en-AU" b="0" dirty="0">
                <a:solidFill>
                  <a:srgbClr val="008000"/>
                </a:solidFill>
                <a:latin typeface="Consolas" pitchFamily="49" charset="0"/>
              </a:rPr>
              <a:t>o</a:t>
            </a:r>
            <a:r>
              <a:rPr lang="en-AU" b="0" dirty="0">
                <a:solidFill>
                  <a:srgbClr val="000000"/>
                </a:solidFill>
                <a:latin typeface="Consolas" pitchFamily="49" charset="0"/>
              </a:rPr>
              <a:t>) + </a:t>
            </a:r>
            <a:r>
              <a:rPr lang="en-AU" b="0" dirty="0" err="1">
                <a:solidFill>
                  <a:srgbClr val="008000"/>
                </a:solidFill>
                <a:latin typeface="Consolas" pitchFamily="49" charset="0"/>
              </a:rPr>
              <a:t>delfwage_o</a:t>
            </a:r>
            <a:r>
              <a:rPr lang="en-AU" b="0" dirty="0">
                <a:solidFill>
                  <a:srgbClr val="000000"/>
                </a:solidFill>
                <a:latin typeface="Consolas" pitchFamily="49" charset="0"/>
              </a:rPr>
              <a:t> +</a:t>
            </a:r>
            <a:br>
              <a:rPr lang="en-AU" b="0" dirty="0">
                <a:solidFill>
                  <a:srgbClr val="000000"/>
                </a:solidFill>
                <a:latin typeface="Consolas" pitchFamily="49" charset="0"/>
              </a:rPr>
            </a:br>
            <a:r>
              <a:rPr lang="en-AU" b="0" dirty="0">
                <a:solidFill>
                  <a:srgbClr val="000000"/>
                </a:solidFill>
                <a:latin typeface="Consolas" pitchFamily="49" charset="0"/>
              </a:rPr>
              <a:t>            </a:t>
            </a:r>
            <a:r>
              <a:rPr lang="en-AU" b="0" dirty="0">
                <a:solidFill>
                  <a:srgbClr val="008000"/>
                </a:solidFill>
                <a:latin typeface="Consolas" pitchFamily="49" charset="0"/>
              </a:rPr>
              <a:t>ELASTWAGE</a:t>
            </a:r>
            <a:r>
              <a:rPr lang="en-AU" b="0" dirty="0">
                <a:solidFill>
                  <a:srgbClr val="000000"/>
                </a:solidFill>
                <a:latin typeface="Consolas" pitchFamily="49" charset="0"/>
              </a:rPr>
              <a:t>(</a:t>
            </a:r>
            <a:r>
              <a:rPr lang="en-AU" b="0" dirty="0">
                <a:solidFill>
                  <a:srgbClr val="008000"/>
                </a:solidFill>
                <a:latin typeface="Consolas" pitchFamily="49" charset="0"/>
              </a:rPr>
              <a:t>o</a:t>
            </a:r>
            <a:r>
              <a:rPr lang="en-AU" b="0" dirty="0">
                <a:solidFill>
                  <a:srgbClr val="000000"/>
                </a:solidFill>
                <a:latin typeface="Consolas" pitchFamily="49" charset="0"/>
              </a:rPr>
              <a:t>)*</a:t>
            </a:r>
            <a:r>
              <a:rPr lang="en-AU" dirty="0">
                <a:solidFill>
                  <a:srgbClr val="000000"/>
                </a:solidFill>
                <a:latin typeface="Consolas" pitchFamily="49" charset="0"/>
              </a:rPr>
              <a:t>{[</a:t>
            </a:r>
            <a:r>
              <a:rPr lang="en-AU" b="0" dirty="0">
                <a:solidFill>
                  <a:srgbClr val="008000"/>
                </a:solidFill>
                <a:latin typeface="Consolas" pitchFamily="49" charset="0"/>
              </a:rPr>
              <a:t>EMPRAT0</a:t>
            </a:r>
            <a:r>
              <a:rPr lang="en-AU" b="0" dirty="0">
                <a:solidFill>
                  <a:srgbClr val="000000"/>
                </a:solidFill>
                <a:latin typeface="Consolas" pitchFamily="49" charset="0"/>
              </a:rPr>
              <a:t>(</a:t>
            </a:r>
            <a:r>
              <a:rPr lang="en-AU" b="0" dirty="0">
                <a:solidFill>
                  <a:srgbClr val="008000"/>
                </a:solidFill>
                <a:latin typeface="Consolas" pitchFamily="49" charset="0"/>
              </a:rPr>
              <a:t>o</a:t>
            </a:r>
            <a:r>
              <a:rPr lang="en-AU" b="0" dirty="0">
                <a:solidFill>
                  <a:srgbClr val="000000"/>
                </a:solidFill>
                <a:latin typeface="Consolas" pitchFamily="49" charset="0"/>
              </a:rPr>
              <a:t>)-1.0</a:t>
            </a:r>
            <a:r>
              <a:rPr lang="en-AU" dirty="0">
                <a:solidFill>
                  <a:srgbClr val="000000"/>
                </a:solidFill>
                <a:latin typeface="Consolas" pitchFamily="49" charset="0"/>
              </a:rPr>
              <a:t>]</a:t>
            </a:r>
            <a:r>
              <a:rPr lang="en-AU" b="0" dirty="0">
                <a:solidFill>
                  <a:srgbClr val="000000"/>
                </a:solidFill>
                <a:latin typeface="Consolas" pitchFamily="49" charset="0"/>
              </a:rPr>
              <a:t>*</a:t>
            </a:r>
            <a:r>
              <a:rPr lang="en-AU" b="0" dirty="0" err="1">
                <a:solidFill>
                  <a:srgbClr val="008000"/>
                </a:solidFill>
                <a:latin typeface="Consolas" pitchFamily="49" charset="0"/>
              </a:rPr>
              <a:t>delUnity</a:t>
            </a:r>
            <a:r>
              <a:rPr lang="en-AU" b="0" dirty="0" err="1">
                <a:solidFill>
                  <a:srgbClr val="000000"/>
                </a:solidFill>
                <a:latin typeface="Consolas" pitchFamily="49" charset="0"/>
              </a:rPr>
              <a:t>+</a:t>
            </a:r>
            <a:r>
              <a:rPr lang="en-AU" b="0" dirty="0" err="1">
                <a:solidFill>
                  <a:srgbClr val="008000"/>
                </a:solidFill>
                <a:latin typeface="Consolas" pitchFamily="49" charset="0"/>
              </a:rPr>
              <a:t>delempratio</a:t>
            </a:r>
            <a:r>
              <a:rPr lang="en-AU" b="0" dirty="0">
                <a:solidFill>
                  <a:srgbClr val="000000"/>
                </a:solidFill>
                <a:latin typeface="Consolas" pitchFamily="49" charset="0"/>
              </a:rPr>
              <a:t>(</a:t>
            </a:r>
            <a:r>
              <a:rPr lang="en-AU" b="0" dirty="0">
                <a:solidFill>
                  <a:srgbClr val="008000"/>
                </a:solidFill>
                <a:latin typeface="Consolas" pitchFamily="49" charset="0"/>
              </a:rPr>
              <a:t>o</a:t>
            </a:r>
            <a:r>
              <a:rPr lang="en-AU" b="0" dirty="0">
                <a:solidFill>
                  <a:srgbClr val="000000"/>
                </a:solidFill>
                <a:latin typeface="Consolas" pitchFamily="49" charset="0"/>
              </a:rPr>
              <a:t>)</a:t>
            </a:r>
            <a:r>
              <a:rPr lang="en-AU" dirty="0">
                <a:solidFill>
                  <a:srgbClr val="000000"/>
                </a:solidFill>
                <a:latin typeface="Consolas" pitchFamily="49" charset="0"/>
              </a:rPr>
              <a:t>}</a:t>
            </a:r>
            <a:r>
              <a:rPr lang="en-AU" b="0" dirty="0">
                <a:solidFill>
                  <a:srgbClr val="000000"/>
                </a:solidFill>
                <a:latin typeface="Consolas" pitchFamily="49" charset="0"/>
              </a:rPr>
              <a:t>;</a:t>
            </a:r>
          </a:p>
          <a:p>
            <a:pPr marL="0" indent="0">
              <a:buFontTx/>
              <a:buNone/>
            </a:pPr>
            <a:endParaRPr lang="en-AU" b="0" dirty="0">
              <a:solidFill>
                <a:srgbClr val="000000"/>
              </a:solidFill>
              <a:latin typeface="Consolas" pitchFamily="49" charset="0"/>
            </a:endParaRPr>
          </a:p>
          <a:p>
            <a:pPr marL="0" indent="0">
              <a:buFontTx/>
              <a:buNone/>
            </a:pPr>
            <a:r>
              <a:rPr lang="en-AU" dirty="0">
                <a:solidFill>
                  <a:srgbClr val="000000"/>
                </a:solidFill>
              </a:rPr>
              <a:t>Implemented as a NATIONAL mechanism by skill type.</a:t>
            </a:r>
            <a:endParaRPr lang="en-AU" b="0" dirty="0">
              <a:solidFill>
                <a:srgbClr val="000000"/>
              </a:solidFill>
              <a:latin typeface="Consolas" pitchFamily="49" charset="0"/>
            </a:endParaRPr>
          </a:p>
          <a:p>
            <a:pPr marL="0" indent="0">
              <a:buFontTx/>
              <a:buNone/>
            </a:pPr>
            <a:br>
              <a:rPr lang="en-AU" b="0" dirty="0">
                <a:solidFill>
                  <a:srgbClr val="000000"/>
                </a:solidFill>
                <a:latin typeface="Consolas" pitchFamily="49" charset="0"/>
              </a:rPr>
            </a:br>
            <a:endParaRPr lang="en-AU" b="0" dirty="0">
              <a:solidFill>
                <a:srgbClr val="000000"/>
              </a:solidFill>
              <a:latin typeface="Consolas" pitchFamily="49" charset="0"/>
            </a:endParaRPr>
          </a:p>
        </p:txBody>
      </p:sp>
      <p:sp>
        <p:nvSpPr>
          <p:cNvPr id="162820" name="Slide Number Placeholder 3"/>
          <p:cNvSpPr txBox="1">
            <a:spLocks noGrp="1"/>
          </p:cNvSpPr>
          <p:nvPr/>
        </p:nvSpPr>
        <p:spPr bwMode="auto">
          <a:xfrm>
            <a:off x="8458200" y="152400"/>
            <a:ext cx="533400" cy="457200"/>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4EBCD76E-0416-4133-BAD8-EDEBB274C5B1}" type="slidenum">
              <a:rPr lang="en-US" sz="1400">
                <a:latin typeface="Times New Roman" pitchFamily="18" charset="0"/>
              </a:rPr>
              <a:pPr algn="r"/>
              <a:t>9</a:t>
            </a:fld>
            <a:endParaRPr lang="en-US" sz="1400">
              <a:latin typeface="Times New Roman" pitchFamily="18" charset="0"/>
            </a:endParaRPr>
          </a:p>
        </p:txBody>
      </p:sp>
    </p:spTree>
    <p:extLst>
      <p:ext uri="{BB962C8B-B14F-4D97-AF65-F5344CB8AC3E}">
        <p14:creationId xmlns:p14="http://schemas.microsoft.com/office/powerpoint/2010/main" val="33791929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idx="4294967295"/>
          </p:nvPr>
        </p:nvSpPr>
        <p:spPr>
          <a:xfrm>
            <a:off x="684213" y="1412875"/>
            <a:ext cx="7772400" cy="1470025"/>
          </a:xfrm>
        </p:spPr>
        <p:txBody>
          <a:bodyPr/>
          <a:lstStyle/>
          <a:p>
            <a:pPr eaLnBrk="1" hangingPunct="1"/>
            <a:r>
              <a:rPr lang="en-AU" dirty="0"/>
              <a:t>Forecasting and policy analysis</a:t>
            </a:r>
            <a:br>
              <a:rPr lang="id-ID" dirty="0"/>
            </a:br>
            <a:r>
              <a:rPr lang="id-ID" sz="3200" dirty="0"/>
              <a:t>By Louise Roose (CoPS)</a:t>
            </a:r>
            <a:endParaRPr lang="en-AU" dirty="0"/>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r" eaLnBrk="1" hangingPunct="1"/>
            <a:fld id="{DCE7E7F1-0630-4B46-B4B6-6D4E7D55F9AE}" type="slidenum">
              <a:rPr lang="en-AU" sz="1200">
                <a:solidFill>
                  <a:srgbClr val="898989"/>
                </a:solidFill>
              </a:rPr>
              <a:pPr algn="r" eaLnBrk="1" hangingPunct="1"/>
              <a:t>10</a:t>
            </a:fld>
            <a:endParaRPr lang="en-AU" sz="1200">
              <a:solidFill>
                <a:srgbClr val="898989"/>
              </a:solidFill>
            </a:endParaRPr>
          </a:p>
        </p:txBody>
      </p:sp>
      <p:sp>
        <p:nvSpPr>
          <p:cNvPr id="2052" name="Text Box 4"/>
          <p:cNvSpPr txBox="1">
            <a:spLocks noChangeArrowheads="1"/>
          </p:cNvSpPr>
          <p:nvPr/>
        </p:nvSpPr>
        <p:spPr bwMode="auto">
          <a:xfrm>
            <a:off x="7885113" y="196850"/>
            <a:ext cx="1079500"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AU" sz="1000">
                <a:latin typeface="Arial" charset="0"/>
              </a:rPr>
              <a:t>ForePol</a:t>
            </a:r>
            <a:r>
              <a:rPr lang="en-AU" sz="1000"/>
              <a:t>.ppt</a:t>
            </a:r>
            <a:endParaRPr lang="en-AU"/>
          </a:p>
        </p:txBody>
      </p:sp>
      <p:pic>
        <p:nvPicPr>
          <p:cNvPr id="205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6100" y="3863975"/>
            <a:ext cx="4178300" cy="294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4" name="Picture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4064000"/>
            <a:ext cx="4519613" cy="2549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idx="4294967295"/>
          </p:nvPr>
        </p:nvSpPr>
        <p:spPr/>
        <p:txBody>
          <a:bodyPr/>
          <a:lstStyle/>
          <a:p>
            <a:pPr eaLnBrk="1" hangingPunct="1"/>
            <a:r>
              <a:rPr lang="en-AU"/>
              <a:t>Before the lecture….</a:t>
            </a:r>
          </a:p>
        </p:txBody>
      </p:sp>
      <p:sp>
        <p:nvSpPr>
          <p:cNvPr id="3075" name="Content Placeholder 2"/>
          <p:cNvSpPr>
            <a:spLocks noGrp="1"/>
          </p:cNvSpPr>
          <p:nvPr>
            <p:ph idx="4294967295"/>
          </p:nvPr>
        </p:nvSpPr>
        <p:spPr/>
        <p:txBody>
          <a:bodyPr/>
          <a:lstStyle/>
          <a:p>
            <a:pPr eaLnBrk="1" hangingPunct="1"/>
            <a:r>
              <a:rPr lang="en-AU" sz="2400"/>
              <a:t>Run the base for Exercise 3 before the lecture starts!</a:t>
            </a:r>
          </a:p>
          <a:p>
            <a:pPr eaLnBrk="1" hangingPunct="1"/>
            <a:endParaRPr lang="en-AU" sz="2400"/>
          </a:p>
          <a:p>
            <a:pPr eaLnBrk="1" hangingPunct="1"/>
            <a:r>
              <a:rPr lang="en-AU" sz="2400"/>
              <a:t>The instructors will help you to restore the simulation ingredients</a:t>
            </a:r>
          </a:p>
          <a:p>
            <a:pPr eaLnBrk="1" hangingPunct="1"/>
            <a:endParaRPr lang="en-AU" sz="2400"/>
          </a:p>
          <a:p>
            <a:pPr eaLnBrk="1" hangingPunct="1"/>
            <a:r>
              <a:rPr lang="en-AU" sz="2400"/>
              <a:t>Why? Dynamic simulations can take some time to run. While the lecture is presented, you will run the base to save some time</a:t>
            </a:r>
          </a:p>
          <a:p>
            <a:pPr eaLnBrk="1" hangingPunct="1"/>
            <a:endParaRPr lang="en-AU" sz="2400"/>
          </a:p>
          <a:p>
            <a:pPr eaLnBrk="1" hangingPunct="1"/>
            <a:r>
              <a:rPr lang="en-AU" sz="2400"/>
              <a:t>How? Ask the instructor!</a:t>
            </a:r>
          </a:p>
          <a:p>
            <a:pPr eaLnBrk="1" hangingPunct="1"/>
            <a:endParaRPr lang="en-AU" sz="2800"/>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r" eaLnBrk="1" hangingPunct="1"/>
            <a:fld id="{2FF3F81A-C2C1-478C-8818-FEC97EE3CA86}" type="slidenum">
              <a:rPr lang="en-AU" sz="1200">
                <a:solidFill>
                  <a:srgbClr val="898989"/>
                </a:solidFill>
              </a:rPr>
              <a:pPr algn="r" eaLnBrk="1" hangingPunct="1"/>
              <a:t>11</a:t>
            </a:fld>
            <a:endParaRPr lang="en-AU" sz="1200">
              <a:solidFill>
                <a:srgbClr val="898989"/>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idx="4294967295"/>
          </p:nvPr>
        </p:nvSpPr>
        <p:spPr/>
        <p:txBody>
          <a:bodyPr/>
          <a:lstStyle/>
          <a:p>
            <a:pPr eaLnBrk="1" hangingPunct="1"/>
            <a:r>
              <a:rPr lang="en-AU"/>
              <a:t>Dynamic modelling with IndoTERM</a:t>
            </a:r>
          </a:p>
        </p:txBody>
      </p:sp>
      <p:sp>
        <p:nvSpPr>
          <p:cNvPr id="4099" name="Content Placeholder 2"/>
          <p:cNvSpPr>
            <a:spLocks noGrp="1"/>
          </p:cNvSpPr>
          <p:nvPr>
            <p:ph idx="4294967295"/>
          </p:nvPr>
        </p:nvSpPr>
        <p:spPr>
          <a:xfrm>
            <a:off x="457200" y="1600200"/>
            <a:ext cx="8229600" cy="4781550"/>
          </a:xfrm>
        </p:spPr>
        <p:txBody>
          <a:bodyPr/>
          <a:lstStyle/>
          <a:p>
            <a:pPr eaLnBrk="1" hangingPunct="1"/>
            <a:r>
              <a:rPr lang="en-AU"/>
              <a:t>Base simulation</a:t>
            </a:r>
          </a:p>
          <a:p>
            <a:pPr lvl="1" eaLnBrk="1" hangingPunct="1">
              <a:buFont typeface="Wingdings" pitchFamily="2" charset="2"/>
              <a:buChar char="v"/>
            </a:pPr>
            <a:r>
              <a:rPr lang="en-AU" sz="1800"/>
              <a:t>Models the growth of the economy in the absence of a policy under consideration</a:t>
            </a:r>
          </a:p>
          <a:p>
            <a:pPr lvl="1" eaLnBrk="1" hangingPunct="1">
              <a:buFont typeface="Wingdings" pitchFamily="2" charset="2"/>
              <a:buChar char="v"/>
            </a:pPr>
            <a:r>
              <a:rPr lang="en-AU" sz="1800"/>
              <a:t>Typically introduce exogenous data on some naturally endogenous variables</a:t>
            </a:r>
          </a:p>
          <a:p>
            <a:pPr lvl="1" eaLnBrk="1" hangingPunct="1">
              <a:buFont typeface="Wingdings" pitchFamily="2" charset="2"/>
              <a:buChar char="v"/>
            </a:pPr>
            <a:r>
              <a:rPr lang="en-AU" sz="1800"/>
              <a:t>Need a forecast closure to accommodate exogenous data</a:t>
            </a:r>
          </a:p>
          <a:p>
            <a:pPr eaLnBrk="1" hangingPunct="1"/>
            <a:r>
              <a:rPr lang="en-AU"/>
              <a:t>Base rerun</a:t>
            </a:r>
          </a:p>
          <a:p>
            <a:pPr lvl="1" eaLnBrk="1" hangingPunct="1">
              <a:buFont typeface="Wingdings" pitchFamily="2" charset="2"/>
              <a:buChar char="v"/>
            </a:pPr>
            <a:r>
              <a:rPr lang="en-AU" sz="1800"/>
              <a:t>Reproduces the baseline with the policy closure where naturally endogenous variables are endogenous and naturally exogenous variables are returned to the exogenous list</a:t>
            </a:r>
          </a:p>
          <a:p>
            <a:pPr eaLnBrk="1" hangingPunct="1"/>
            <a:r>
              <a:rPr lang="en-AU"/>
              <a:t>Policy simulation</a:t>
            </a:r>
          </a:p>
          <a:p>
            <a:pPr marL="685800" lvl="2" indent="-285750" eaLnBrk="1" hangingPunct="1">
              <a:buFont typeface="Wingdings" pitchFamily="2" charset="2"/>
              <a:buChar char="v"/>
            </a:pPr>
            <a:r>
              <a:rPr lang="en-AU" sz="1800"/>
              <a:t>Generates a forecast that incorporates all the exogenous features of the baseline, and now includes policy-related shocks reflecting the details of the policy under consideration</a:t>
            </a:r>
          </a:p>
          <a:p>
            <a:pPr eaLnBrk="1" hangingPunct="1"/>
            <a:endParaRPr lang="en-AU"/>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r" eaLnBrk="1" hangingPunct="1"/>
            <a:fld id="{7579F33F-07C6-4D1F-AE85-F37193659A5F}" type="slidenum">
              <a:rPr lang="en-AU" sz="1200">
                <a:solidFill>
                  <a:srgbClr val="898989"/>
                </a:solidFill>
              </a:rPr>
              <a:pPr algn="r" eaLnBrk="1" hangingPunct="1"/>
              <a:t>12</a:t>
            </a:fld>
            <a:endParaRPr lang="en-AU" sz="1200">
              <a:solidFill>
                <a:srgbClr val="898989"/>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p:txBody>
          <a:bodyPr/>
          <a:lstStyle/>
          <a:p>
            <a:pPr eaLnBrk="1" hangingPunct="1"/>
            <a:r>
              <a:rPr lang="en-US" sz="4000"/>
              <a:t>Base, Rerun and Policy</a:t>
            </a:r>
          </a:p>
        </p:txBody>
      </p:sp>
      <p:sp>
        <p:nvSpPr>
          <p:cNvPr id="5123" name="Line 4"/>
          <p:cNvSpPr>
            <a:spLocks noChangeShapeType="1"/>
          </p:cNvSpPr>
          <p:nvPr/>
        </p:nvSpPr>
        <p:spPr bwMode="auto">
          <a:xfrm>
            <a:off x="971550" y="5589588"/>
            <a:ext cx="6913563"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5124" name="Line 5"/>
          <p:cNvSpPr>
            <a:spLocks noChangeShapeType="1"/>
          </p:cNvSpPr>
          <p:nvPr/>
        </p:nvSpPr>
        <p:spPr bwMode="auto">
          <a:xfrm flipV="1">
            <a:off x="3132138" y="1557338"/>
            <a:ext cx="0" cy="40322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5125" name="Text Box 6"/>
          <p:cNvSpPr txBox="1">
            <a:spLocks noChangeArrowheads="1"/>
          </p:cNvSpPr>
          <p:nvPr/>
        </p:nvSpPr>
        <p:spPr bwMode="auto">
          <a:xfrm>
            <a:off x="2981325" y="1239838"/>
            <a:ext cx="5699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a:t>L</a:t>
            </a:r>
          </a:p>
        </p:txBody>
      </p:sp>
      <p:sp>
        <p:nvSpPr>
          <p:cNvPr id="110600" name="Line 8"/>
          <p:cNvSpPr>
            <a:spLocks noChangeShapeType="1"/>
          </p:cNvSpPr>
          <p:nvPr/>
        </p:nvSpPr>
        <p:spPr bwMode="auto">
          <a:xfrm>
            <a:off x="3717925" y="5375275"/>
            <a:ext cx="11113" cy="427038"/>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110602" name="Freeform 10"/>
          <p:cNvSpPr>
            <a:spLocks/>
          </p:cNvSpPr>
          <p:nvPr/>
        </p:nvSpPr>
        <p:spPr bwMode="auto">
          <a:xfrm>
            <a:off x="3162300" y="2763838"/>
            <a:ext cx="4376738" cy="966787"/>
          </a:xfrm>
          <a:custGeom>
            <a:avLst/>
            <a:gdLst>
              <a:gd name="T0" fmla="*/ 0 w 2757"/>
              <a:gd name="T1" fmla="*/ 2147483647 h 609"/>
              <a:gd name="T2" fmla="*/ 2147483647 w 2757"/>
              <a:gd name="T3" fmla="*/ 2147483647 h 609"/>
              <a:gd name="T4" fmla="*/ 2147483647 w 2757"/>
              <a:gd name="T5" fmla="*/ 2147483647 h 609"/>
              <a:gd name="T6" fmla="*/ 2147483647 w 2757"/>
              <a:gd name="T7" fmla="*/ 2147483647 h 609"/>
              <a:gd name="T8" fmla="*/ 2147483647 w 2757"/>
              <a:gd name="T9" fmla="*/ 2147483647 h 609"/>
              <a:gd name="T10" fmla="*/ 2147483647 w 2757"/>
              <a:gd name="T11" fmla="*/ 2147483647 h 609"/>
              <a:gd name="T12" fmla="*/ 2147483647 w 2757"/>
              <a:gd name="T13" fmla="*/ 0 h 60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57" h="609">
                <a:moveTo>
                  <a:pt x="0" y="609"/>
                </a:moveTo>
                <a:cubicBezTo>
                  <a:pt x="61" y="585"/>
                  <a:pt x="195" y="500"/>
                  <a:pt x="363" y="467"/>
                </a:cubicBezTo>
                <a:cubicBezTo>
                  <a:pt x="531" y="434"/>
                  <a:pt x="836" y="447"/>
                  <a:pt x="1010" y="409"/>
                </a:cubicBezTo>
                <a:cubicBezTo>
                  <a:pt x="1184" y="371"/>
                  <a:pt x="1260" y="270"/>
                  <a:pt x="1406" y="237"/>
                </a:cubicBezTo>
                <a:cubicBezTo>
                  <a:pt x="1552" y="204"/>
                  <a:pt x="1761" y="233"/>
                  <a:pt x="1886" y="211"/>
                </a:cubicBezTo>
                <a:cubicBezTo>
                  <a:pt x="2011" y="189"/>
                  <a:pt x="2010" y="137"/>
                  <a:pt x="2155" y="102"/>
                </a:cubicBezTo>
                <a:cubicBezTo>
                  <a:pt x="2300" y="67"/>
                  <a:pt x="2632" y="21"/>
                  <a:pt x="2757" y="0"/>
                </a:cubicBezTo>
              </a:path>
            </a:pathLst>
          </a:custGeom>
          <a:noFill/>
          <a:ln w="12700">
            <a:solidFill>
              <a:srgbClr val="0000FF"/>
            </a:solidFill>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grpSp>
        <p:nvGrpSpPr>
          <p:cNvPr id="110614" name="Group 22"/>
          <p:cNvGrpSpPr>
            <a:grpSpLocks/>
          </p:cNvGrpSpPr>
          <p:nvPr/>
        </p:nvGrpSpPr>
        <p:grpSpPr bwMode="auto">
          <a:xfrm>
            <a:off x="4694238" y="2700338"/>
            <a:ext cx="3727450" cy="1706562"/>
            <a:chOff x="2957" y="1701"/>
            <a:chExt cx="2348" cy="1075"/>
          </a:xfrm>
        </p:grpSpPr>
        <p:sp>
          <p:nvSpPr>
            <p:cNvPr id="5135" name="Line 12"/>
            <p:cNvSpPr>
              <a:spLocks noChangeShapeType="1"/>
            </p:cNvSpPr>
            <p:nvPr/>
          </p:nvSpPr>
          <p:spPr bwMode="auto">
            <a:xfrm>
              <a:off x="3362" y="1701"/>
              <a:ext cx="0" cy="294"/>
            </a:xfrm>
            <a:prstGeom prst="line">
              <a:avLst/>
            </a:prstGeom>
            <a:noFill/>
            <a:ln w="9525">
              <a:solidFill>
                <a:srgbClr val="FF66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5136" name="Line 13"/>
            <p:cNvSpPr>
              <a:spLocks noChangeShapeType="1"/>
            </p:cNvSpPr>
            <p:nvPr/>
          </p:nvSpPr>
          <p:spPr bwMode="auto">
            <a:xfrm>
              <a:off x="3365" y="1901"/>
              <a:ext cx="950" cy="518"/>
            </a:xfrm>
            <a:prstGeom prst="line">
              <a:avLst/>
            </a:prstGeom>
            <a:noFill/>
            <a:ln w="9525">
              <a:solidFill>
                <a:srgbClr val="FF6600"/>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5137" name="Text Box 14"/>
            <p:cNvSpPr txBox="1">
              <a:spLocks noChangeArrowheads="1"/>
            </p:cNvSpPr>
            <p:nvPr/>
          </p:nvSpPr>
          <p:spPr bwMode="auto">
            <a:xfrm>
              <a:off x="2957" y="2410"/>
              <a:ext cx="2348"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sz="1600">
                  <a:solidFill>
                    <a:srgbClr val="FF9933"/>
                  </a:solidFill>
                </a:rPr>
                <a:t>Results reported as deviations from basecase</a:t>
              </a:r>
            </a:p>
          </p:txBody>
        </p:sp>
      </p:grpSp>
      <p:sp>
        <p:nvSpPr>
          <p:cNvPr id="110607" name="Text Box 15"/>
          <p:cNvSpPr txBox="1">
            <a:spLocks noChangeArrowheads="1"/>
          </p:cNvSpPr>
          <p:nvPr/>
        </p:nvSpPr>
        <p:spPr bwMode="auto">
          <a:xfrm>
            <a:off x="3687763" y="5151438"/>
            <a:ext cx="433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sz="1600">
                <a:solidFill>
                  <a:srgbClr val="FF0000"/>
                </a:solidFill>
              </a:rPr>
              <a:t>Once-off increase in productivity (A), 2013</a:t>
            </a:r>
          </a:p>
        </p:txBody>
      </p:sp>
      <p:sp>
        <p:nvSpPr>
          <p:cNvPr id="110608" name="Text Box 16"/>
          <p:cNvSpPr txBox="1">
            <a:spLocks noChangeArrowheads="1"/>
          </p:cNvSpPr>
          <p:nvPr/>
        </p:nvSpPr>
        <p:spPr bwMode="auto">
          <a:xfrm>
            <a:off x="677863" y="2066925"/>
            <a:ext cx="2447925" cy="3724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63525" indent="-263525"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sz="1400">
                <a:solidFill>
                  <a:srgbClr val="0000FF"/>
                </a:solidFill>
                <a:latin typeface="Arial" charset="0"/>
              </a:rPr>
              <a:t>1.	</a:t>
            </a:r>
            <a:r>
              <a:rPr lang="en-US" sz="1400" u="sng">
                <a:solidFill>
                  <a:srgbClr val="0000FF"/>
                </a:solidFill>
                <a:latin typeface="Arial" charset="0"/>
              </a:rPr>
              <a:t>Run Base</a:t>
            </a:r>
            <a:r>
              <a:rPr lang="en-US" sz="1400">
                <a:solidFill>
                  <a:srgbClr val="0000FF"/>
                </a:solidFill>
                <a:latin typeface="Arial" charset="0"/>
              </a:rPr>
              <a:t>. Forecast variables (eg L) exogenous, structurals (eg A) endogenous.</a:t>
            </a:r>
          </a:p>
          <a:p>
            <a:pPr eaLnBrk="1" hangingPunct="1">
              <a:spcBef>
                <a:spcPct val="50000"/>
              </a:spcBef>
            </a:pPr>
            <a:r>
              <a:rPr lang="en-US" sz="1400">
                <a:solidFill>
                  <a:srgbClr val="008000"/>
                </a:solidFill>
                <a:latin typeface="Arial" charset="0"/>
              </a:rPr>
              <a:t>2. 	</a:t>
            </a:r>
            <a:r>
              <a:rPr lang="en-US" sz="1400" u="sng">
                <a:solidFill>
                  <a:srgbClr val="008000"/>
                </a:solidFill>
                <a:latin typeface="Arial" charset="0"/>
              </a:rPr>
              <a:t>Rerun Base</a:t>
            </a:r>
            <a:r>
              <a:rPr lang="en-US" sz="1400">
                <a:solidFill>
                  <a:srgbClr val="008000"/>
                </a:solidFill>
                <a:latin typeface="Arial" charset="0"/>
              </a:rPr>
              <a:t>. Forecast variables (eg L) endogenous, structurals (eg A) exogenous</a:t>
            </a:r>
            <a:r>
              <a:rPr lang="en-US" sz="1400">
                <a:latin typeface="Arial" charset="0"/>
              </a:rPr>
              <a:t>.</a:t>
            </a:r>
          </a:p>
          <a:p>
            <a:pPr eaLnBrk="1" hangingPunct="1">
              <a:spcBef>
                <a:spcPct val="50000"/>
              </a:spcBef>
            </a:pPr>
            <a:r>
              <a:rPr lang="en-US" sz="1400">
                <a:solidFill>
                  <a:srgbClr val="FF0000"/>
                </a:solidFill>
                <a:latin typeface="Arial" charset="0"/>
              </a:rPr>
              <a:t>3.	</a:t>
            </a:r>
            <a:r>
              <a:rPr lang="en-US" sz="1400" u="sng">
                <a:solidFill>
                  <a:srgbClr val="FF0000"/>
                </a:solidFill>
                <a:latin typeface="Arial" charset="0"/>
              </a:rPr>
              <a:t>Run Policy</a:t>
            </a:r>
            <a:r>
              <a:rPr lang="en-US" sz="1400">
                <a:solidFill>
                  <a:srgbClr val="FF0000"/>
                </a:solidFill>
                <a:latin typeface="Arial" charset="0"/>
              </a:rPr>
              <a:t>. All structurals exogenous &amp; equal to Base/Basererun values + the policy shocks.</a:t>
            </a:r>
          </a:p>
          <a:p>
            <a:pPr eaLnBrk="1" hangingPunct="1">
              <a:spcBef>
                <a:spcPct val="50000"/>
              </a:spcBef>
              <a:buFontTx/>
              <a:buChar char="•"/>
            </a:pPr>
            <a:endParaRPr lang="en-US">
              <a:latin typeface="Arial" charset="0"/>
            </a:endParaRPr>
          </a:p>
          <a:p>
            <a:pPr eaLnBrk="1" hangingPunct="1">
              <a:spcBef>
                <a:spcPct val="50000"/>
              </a:spcBef>
            </a:pPr>
            <a:endParaRPr lang="en-US">
              <a:latin typeface="Arial" charset="0"/>
            </a:endParaRPr>
          </a:p>
        </p:txBody>
      </p:sp>
      <p:sp>
        <p:nvSpPr>
          <p:cNvPr id="110610" name="Freeform 18"/>
          <p:cNvSpPr>
            <a:spLocks/>
          </p:cNvSpPr>
          <p:nvPr/>
        </p:nvSpPr>
        <p:spPr bwMode="auto">
          <a:xfrm>
            <a:off x="3159125" y="2789238"/>
            <a:ext cx="4376738" cy="966787"/>
          </a:xfrm>
          <a:custGeom>
            <a:avLst/>
            <a:gdLst>
              <a:gd name="T0" fmla="*/ 0 w 2757"/>
              <a:gd name="T1" fmla="*/ 2147483647 h 609"/>
              <a:gd name="T2" fmla="*/ 2147483647 w 2757"/>
              <a:gd name="T3" fmla="*/ 2147483647 h 609"/>
              <a:gd name="T4" fmla="*/ 2147483647 w 2757"/>
              <a:gd name="T5" fmla="*/ 2147483647 h 609"/>
              <a:gd name="T6" fmla="*/ 2147483647 w 2757"/>
              <a:gd name="T7" fmla="*/ 2147483647 h 609"/>
              <a:gd name="T8" fmla="*/ 2147483647 w 2757"/>
              <a:gd name="T9" fmla="*/ 2147483647 h 609"/>
              <a:gd name="T10" fmla="*/ 2147483647 w 2757"/>
              <a:gd name="T11" fmla="*/ 2147483647 h 609"/>
              <a:gd name="T12" fmla="*/ 2147483647 w 2757"/>
              <a:gd name="T13" fmla="*/ 0 h 60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57" h="609">
                <a:moveTo>
                  <a:pt x="0" y="609"/>
                </a:moveTo>
                <a:cubicBezTo>
                  <a:pt x="61" y="585"/>
                  <a:pt x="195" y="500"/>
                  <a:pt x="363" y="467"/>
                </a:cubicBezTo>
                <a:cubicBezTo>
                  <a:pt x="531" y="434"/>
                  <a:pt x="836" y="447"/>
                  <a:pt x="1010" y="409"/>
                </a:cubicBezTo>
                <a:cubicBezTo>
                  <a:pt x="1184" y="371"/>
                  <a:pt x="1260" y="270"/>
                  <a:pt x="1406" y="237"/>
                </a:cubicBezTo>
                <a:cubicBezTo>
                  <a:pt x="1552" y="204"/>
                  <a:pt x="1761" y="233"/>
                  <a:pt x="1886" y="211"/>
                </a:cubicBezTo>
                <a:cubicBezTo>
                  <a:pt x="2011" y="189"/>
                  <a:pt x="2010" y="137"/>
                  <a:pt x="2155" y="102"/>
                </a:cubicBezTo>
                <a:cubicBezTo>
                  <a:pt x="2300" y="67"/>
                  <a:pt x="2632" y="21"/>
                  <a:pt x="2757" y="0"/>
                </a:cubicBezTo>
              </a:path>
            </a:pathLst>
          </a:custGeom>
          <a:noFill/>
          <a:ln w="12700">
            <a:solidFill>
              <a:srgbClr val="008000"/>
            </a:solidFill>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110611" name="Freeform 19"/>
          <p:cNvSpPr>
            <a:spLocks/>
          </p:cNvSpPr>
          <p:nvPr/>
        </p:nvSpPr>
        <p:spPr bwMode="auto">
          <a:xfrm>
            <a:off x="3149600" y="2316163"/>
            <a:ext cx="4338638" cy="1422400"/>
          </a:xfrm>
          <a:custGeom>
            <a:avLst/>
            <a:gdLst>
              <a:gd name="T0" fmla="*/ 0 w 2733"/>
              <a:gd name="T1" fmla="*/ 2147483647 h 896"/>
              <a:gd name="T2" fmla="*/ 2147483647 w 2733"/>
              <a:gd name="T3" fmla="*/ 2147483647 h 896"/>
              <a:gd name="T4" fmla="*/ 2147483647 w 2733"/>
              <a:gd name="T5" fmla="*/ 2147483647 h 896"/>
              <a:gd name="T6" fmla="*/ 2147483647 w 2733"/>
              <a:gd name="T7" fmla="*/ 2147483647 h 896"/>
              <a:gd name="T8" fmla="*/ 2147483647 w 2733"/>
              <a:gd name="T9" fmla="*/ 2147483647 h 896"/>
              <a:gd name="T10" fmla="*/ 2147483647 w 2733"/>
              <a:gd name="T11" fmla="*/ 2147483647 h 896"/>
              <a:gd name="T12" fmla="*/ 2147483647 w 2733"/>
              <a:gd name="T13" fmla="*/ 0 h 89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33" h="896">
                <a:moveTo>
                  <a:pt x="0" y="896"/>
                </a:moveTo>
                <a:cubicBezTo>
                  <a:pt x="62" y="870"/>
                  <a:pt x="200" y="819"/>
                  <a:pt x="369" y="738"/>
                </a:cubicBezTo>
                <a:cubicBezTo>
                  <a:pt x="538" y="657"/>
                  <a:pt x="843" y="491"/>
                  <a:pt x="1014" y="410"/>
                </a:cubicBezTo>
                <a:cubicBezTo>
                  <a:pt x="1185" y="329"/>
                  <a:pt x="1253" y="283"/>
                  <a:pt x="1398" y="250"/>
                </a:cubicBezTo>
                <a:cubicBezTo>
                  <a:pt x="1543" y="217"/>
                  <a:pt x="1760" y="234"/>
                  <a:pt x="1885" y="211"/>
                </a:cubicBezTo>
                <a:cubicBezTo>
                  <a:pt x="2010" y="188"/>
                  <a:pt x="2006" y="144"/>
                  <a:pt x="2147" y="109"/>
                </a:cubicBezTo>
                <a:cubicBezTo>
                  <a:pt x="2288" y="74"/>
                  <a:pt x="2611" y="23"/>
                  <a:pt x="2733" y="0"/>
                </a:cubicBezTo>
              </a:path>
            </a:pathLst>
          </a:custGeom>
          <a:noFill/>
          <a:ln w="12700">
            <a:solidFill>
              <a:srgbClr val="FF0000"/>
            </a:solidFill>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5133" name="Text Box 3"/>
          <p:cNvSpPr txBox="1">
            <a:spLocks noChangeArrowheads="1"/>
          </p:cNvSpPr>
          <p:nvPr/>
        </p:nvSpPr>
        <p:spPr bwMode="auto">
          <a:xfrm>
            <a:off x="7316788" y="5684838"/>
            <a:ext cx="704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AU" sz="1400" b="1"/>
              <a:t>2030</a:t>
            </a:r>
          </a:p>
        </p:txBody>
      </p:sp>
      <p:sp>
        <p:nvSpPr>
          <p:cNvPr id="5134" name="Text Box 3"/>
          <p:cNvSpPr txBox="1">
            <a:spLocks noChangeArrowheads="1"/>
          </p:cNvSpPr>
          <p:nvPr/>
        </p:nvSpPr>
        <p:spPr bwMode="auto">
          <a:xfrm>
            <a:off x="2846388" y="5657850"/>
            <a:ext cx="704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AU" sz="1400" b="1"/>
              <a:t>2006</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10602"/>
                                        </p:tgtEl>
                                        <p:attrNameLst>
                                          <p:attrName>style.visibility</p:attrName>
                                        </p:attrNameLst>
                                      </p:cBhvr>
                                      <p:to>
                                        <p:strVal val="visible"/>
                                      </p:to>
                                    </p:set>
                                    <p:animEffect transition="in" filter="wipe(down)">
                                      <p:cBhvr>
                                        <p:cTn id="7" dur="500"/>
                                        <p:tgtEl>
                                          <p:spTgt spid="110602"/>
                                        </p:tgtEl>
                                      </p:cBhvr>
                                    </p:animEffect>
                                  </p:childTnLst>
                                </p:cTn>
                              </p:par>
                              <p:par>
                                <p:cTn id="8" presetID="9" presetClass="entr" presetSubtype="0" fill="hold" nodeType="withEffect">
                                  <p:stCondLst>
                                    <p:cond delay="0"/>
                                  </p:stCondLst>
                                  <p:childTnLst>
                                    <p:set>
                                      <p:cBhvr>
                                        <p:cTn id="9" dur="1" fill="hold">
                                          <p:stCondLst>
                                            <p:cond delay="0"/>
                                          </p:stCondLst>
                                        </p:cTn>
                                        <p:tgtEl>
                                          <p:spTgt spid="110608">
                                            <p:txEl>
                                              <p:pRg st="0" end="0"/>
                                            </p:txEl>
                                          </p:spTgt>
                                        </p:tgtEl>
                                        <p:attrNameLst>
                                          <p:attrName>style.visibility</p:attrName>
                                        </p:attrNameLst>
                                      </p:cBhvr>
                                      <p:to>
                                        <p:strVal val="visible"/>
                                      </p:to>
                                    </p:set>
                                    <p:animEffect transition="in" filter="dissolve">
                                      <p:cBhvr>
                                        <p:cTn id="10" dur="500"/>
                                        <p:tgtEl>
                                          <p:spTgt spid="110608">
                                            <p:txEl>
                                              <p:pRg st="0" end="0"/>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xit" presetSubtype="0" fill="hold" grpId="1" nodeType="clickEffect">
                                  <p:stCondLst>
                                    <p:cond delay="0"/>
                                  </p:stCondLst>
                                  <p:childTnLst>
                                    <p:animEffect transition="out" filter="dissolve">
                                      <p:cBhvr>
                                        <p:cTn id="14" dur="500"/>
                                        <p:tgtEl>
                                          <p:spTgt spid="110602"/>
                                        </p:tgtEl>
                                      </p:cBhvr>
                                    </p:animEffect>
                                    <p:set>
                                      <p:cBhvr>
                                        <p:cTn id="15" dur="1" fill="hold">
                                          <p:stCondLst>
                                            <p:cond delay="499"/>
                                          </p:stCondLst>
                                        </p:cTn>
                                        <p:tgtEl>
                                          <p:spTgt spid="110602"/>
                                        </p:tgtEl>
                                        <p:attrNameLst>
                                          <p:attrName>style.visibility</p:attrName>
                                        </p:attrNameLst>
                                      </p:cBhvr>
                                      <p:to>
                                        <p:strVal val="hidden"/>
                                      </p:to>
                                    </p:set>
                                  </p:childTnLst>
                                </p:cTn>
                              </p:par>
                              <p:par>
                                <p:cTn id="16" presetID="22" presetClass="entr" presetSubtype="4" fill="hold" grpId="0" nodeType="withEffect">
                                  <p:stCondLst>
                                    <p:cond delay="0"/>
                                  </p:stCondLst>
                                  <p:childTnLst>
                                    <p:set>
                                      <p:cBhvr>
                                        <p:cTn id="17" dur="1" fill="hold">
                                          <p:stCondLst>
                                            <p:cond delay="0"/>
                                          </p:stCondLst>
                                        </p:cTn>
                                        <p:tgtEl>
                                          <p:spTgt spid="110610"/>
                                        </p:tgtEl>
                                        <p:attrNameLst>
                                          <p:attrName>style.visibility</p:attrName>
                                        </p:attrNameLst>
                                      </p:cBhvr>
                                      <p:to>
                                        <p:strVal val="visible"/>
                                      </p:to>
                                    </p:set>
                                    <p:animEffect transition="in" filter="wipe(down)">
                                      <p:cBhvr>
                                        <p:cTn id="18" dur="500"/>
                                        <p:tgtEl>
                                          <p:spTgt spid="110610"/>
                                        </p:tgtEl>
                                      </p:cBhvr>
                                    </p:animEffect>
                                  </p:childTnLst>
                                </p:cTn>
                              </p:par>
                              <p:par>
                                <p:cTn id="19" presetID="9" presetClass="entr" presetSubtype="0" fill="hold" nodeType="withEffect">
                                  <p:stCondLst>
                                    <p:cond delay="0"/>
                                  </p:stCondLst>
                                  <p:childTnLst>
                                    <p:set>
                                      <p:cBhvr>
                                        <p:cTn id="20" dur="1" fill="hold">
                                          <p:stCondLst>
                                            <p:cond delay="0"/>
                                          </p:stCondLst>
                                        </p:cTn>
                                        <p:tgtEl>
                                          <p:spTgt spid="110608">
                                            <p:txEl>
                                              <p:pRg st="1" end="1"/>
                                            </p:txEl>
                                          </p:spTgt>
                                        </p:tgtEl>
                                        <p:attrNameLst>
                                          <p:attrName>style.visibility</p:attrName>
                                        </p:attrNameLst>
                                      </p:cBhvr>
                                      <p:to>
                                        <p:strVal val="visible"/>
                                      </p:to>
                                    </p:set>
                                    <p:animEffect transition="in" filter="dissolve">
                                      <p:cBhvr>
                                        <p:cTn id="21" dur="500"/>
                                        <p:tgtEl>
                                          <p:spTgt spid="110608">
                                            <p:txEl>
                                              <p:pRg st="1" end="1"/>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10607"/>
                                        </p:tgtEl>
                                        <p:attrNameLst>
                                          <p:attrName>style.visibility</p:attrName>
                                        </p:attrNameLst>
                                      </p:cBhvr>
                                      <p:to>
                                        <p:strVal val="visible"/>
                                      </p:to>
                                    </p:set>
                                    <p:animEffect transition="in" filter="dissolve">
                                      <p:cBhvr>
                                        <p:cTn id="26" dur="500"/>
                                        <p:tgtEl>
                                          <p:spTgt spid="110607"/>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110600"/>
                                        </p:tgtEl>
                                        <p:attrNameLst>
                                          <p:attrName>style.visibility</p:attrName>
                                        </p:attrNameLst>
                                      </p:cBhvr>
                                      <p:to>
                                        <p:strVal val="visible"/>
                                      </p:to>
                                    </p:set>
                                    <p:animEffect transition="in" filter="dissolve">
                                      <p:cBhvr>
                                        <p:cTn id="29" dur="500"/>
                                        <p:tgtEl>
                                          <p:spTgt spid="110600"/>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9" presetClass="entr" presetSubtype="0" fill="hold" nodeType="clickEffect">
                                  <p:stCondLst>
                                    <p:cond delay="0"/>
                                  </p:stCondLst>
                                  <p:childTnLst>
                                    <p:set>
                                      <p:cBhvr>
                                        <p:cTn id="33" dur="1" fill="hold">
                                          <p:stCondLst>
                                            <p:cond delay="0"/>
                                          </p:stCondLst>
                                        </p:cTn>
                                        <p:tgtEl>
                                          <p:spTgt spid="110608">
                                            <p:txEl>
                                              <p:pRg st="2" end="2"/>
                                            </p:txEl>
                                          </p:spTgt>
                                        </p:tgtEl>
                                        <p:attrNameLst>
                                          <p:attrName>style.visibility</p:attrName>
                                        </p:attrNameLst>
                                      </p:cBhvr>
                                      <p:to>
                                        <p:strVal val="visible"/>
                                      </p:to>
                                    </p:set>
                                    <p:animEffect transition="in" filter="dissolve">
                                      <p:cBhvr>
                                        <p:cTn id="34" dur="500"/>
                                        <p:tgtEl>
                                          <p:spTgt spid="110608">
                                            <p:txEl>
                                              <p:pRg st="2" end="2"/>
                                            </p:txEl>
                                          </p:spTgt>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110611"/>
                                        </p:tgtEl>
                                        <p:attrNameLst>
                                          <p:attrName>style.visibility</p:attrName>
                                        </p:attrNameLst>
                                      </p:cBhvr>
                                      <p:to>
                                        <p:strVal val="visible"/>
                                      </p:to>
                                    </p:set>
                                    <p:animEffect transition="in" filter="wipe(down)">
                                      <p:cBhvr>
                                        <p:cTn id="37" dur="500"/>
                                        <p:tgtEl>
                                          <p:spTgt spid="11061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nodeType="clickEffect">
                                  <p:stCondLst>
                                    <p:cond delay="0"/>
                                  </p:stCondLst>
                                  <p:childTnLst>
                                    <p:set>
                                      <p:cBhvr>
                                        <p:cTn id="41" dur="1" fill="hold">
                                          <p:stCondLst>
                                            <p:cond delay="0"/>
                                          </p:stCondLst>
                                        </p:cTn>
                                        <p:tgtEl>
                                          <p:spTgt spid="110614"/>
                                        </p:tgtEl>
                                        <p:attrNameLst>
                                          <p:attrName>style.visibility</p:attrName>
                                        </p:attrNameLst>
                                      </p:cBhvr>
                                      <p:to>
                                        <p:strVal val="visible"/>
                                      </p:to>
                                    </p:set>
                                    <p:animEffect transition="in" filter="wipe(down)">
                                      <p:cBhvr>
                                        <p:cTn id="42" dur="500"/>
                                        <p:tgtEl>
                                          <p:spTgt spid="1106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600" grpId="0" animBg="1"/>
      <p:bldP spid="110602" grpId="0" animBg="1"/>
      <p:bldP spid="110602" grpId="1" animBg="1"/>
      <p:bldP spid="110607" grpId="0"/>
      <p:bldP spid="110610" grpId="0" animBg="1"/>
      <p:bldP spid="1106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idx="4294967295"/>
          </p:nvPr>
        </p:nvSpPr>
        <p:spPr/>
        <p:txBody>
          <a:bodyPr/>
          <a:lstStyle/>
          <a:p>
            <a:pPr eaLnBrk="1" hangingPunct="1"/>
            <a:r>
              <a:rPr lang="en-AU" sz="4000"/>
              <a:t>Why forecast?</a:t>
            </a:r>
          </a:p>
        </p:txBody>
      </p:sp>
      <p:sp>
        <p:nvSpPr>
          <p:cNvPr id="3" name="Content Placeholder 2"/>
          <p:cNvSpPr>
            <a:spLocks noGrp="1"/>
          </p:cNvSpPr>
          <p:nvPr>
            <p:ph idx="4294967295"/>
          </p:nvPr>
        </p:nvSpPr>
        <p:spPr>
          <a:xfrm>
            <a:off x="457200" y="1600200"/>
            <a:ext cx="8578850" cy="4852988"/>
          </a:xfrm>
        </p:spPr>
        <p:txBody>
          <a:bodyPr>
            <a:normAutofit/>
          </a:bodyPr>
          <a:lstStyle/>
          <a:p>
            <a:pPr eaLnBrk="1" hangingPunct="1">
              <a:lnSpc>
                <a:spcPct val="90000"/>
              </a:lnSpc>
            </a:pPr>
            <a:r>
              <a:rPr lang="en-AU" sz="2000"/>
              <a:t>Forecasts may be useful in themselves. </a:t>
            </a:r>
          </a:p>
          <a:p>
            <a:pPr lvl="1" eaLnBrk="1" hangingPunct="1">
              <a:lnSpc>
                <a:spcPct val="90000"/>
              </a:lnSpc>
            </a:pPr>
            <a:r>
              <a:rPr lang="en-AU" sz="1800"/>
              <a:t>For example, if we impose national macro, regional and detailed sectoral structural shocks, we can trace the outcomes for regional output and employment.</a:t>
            </a:r>
          </a:p>
          <a:p>
            <a:pPr lvl="1" eaLnBrk="1" hangingPunct="1">
              <a:lnSpc>
                <a:spcPct val="90000"/>
              </a:lnSpc>
            </a:pPr>
            <a:r>
              <a:rPr lang="en-AU" sz="1800"/>
              <a:t>Model can tell you something about the structural changes in the economy and the main drivers of the economy</a:t>
            </a:r>
            <a:endParaRPr lang="en-US" sz="1800"/>
          </a:p>
          <a:p>
            <a:pPr algn="just" eaLnBrk="1" hangingPunct="1">
              <a:lnSpc>
                <a:spcPct val="90000"/>
              </a:lnSpc>
            </a:pPr>
            <a:r>
              <a:rPr lang="en-US" sz="2000"/>
              <a:t>The counterfactual against which the policy is evaluated</a:t>
            </a:r>
          </a:p>
          <a:p>
            <a:pPr algn="just" eaLnBrk="1" hangingPunct="1">
              <a:lnSpc>
                <a:spcPct val="90000"/>
              </a:lnSpc>
              <a:buFont typeface="Arial" charset="0"/>
              <a:buNone/>
            </a:pPr>
            <a:endParaRPr lang="en-US" sz="2000"/>
          </a:p>
          <a:p>
            <a:pPr algn="just" eaLnBrk="1" hangingPunct="1">
              <a:lnSpc>
                <a:spcPct val="90000"/>
              </a:lnSpc>
            </a:pPr>
            <a:r>
              <a:rPr lang="en-US" sz="2000"/>
              <a:t>Impose as much or as little forecast detail on the model as we like – t</a:t>
            </a:r>
            <a:r>
              <a:rPr lang="en-AU" sz="2000"/>
              <a:t>here is no single correct closure</a:t>
            </a:r>
          </a:p>
          <a:p>
            <a:pPr algn="just" eaLnBrk="1" hangingPunct="1">
              <a:lnSpc>
                <a:spcPct val="90000"/>
              </a:lnSpc>
            </a:pPr>
            <a:r>
              <a:rPr lang="en-AU" sz="2000"/>
              <a:t>Historical data may be available for naturally endogenous variables in the model (total private consumption)</a:t>
            </a:r>
          </a:p>
          <a:p>
            <a:pPr eaLnBrk="1" hangingPunct="1">
              <a:lnSpc>
                <a:spcPct val="90000"/>
              </a:lnSpc>
            </a:pPr>
            <a:r>
              <a:rPr lang="en-US" sz="2000"/>
              <a:t>For every variable for which we have independent data (eg </a:t>
            </a:r>
            <a:r>
              <a:rPr lang="en-AU" sz="2000"/>
              <a:t>total private </a:t>
            </a:r>
            <a:r>
              <a:rPr lang="en-US" sz="2000"/>
              <a:t>consumption) we endogenise the structural variable most directly responsible for it (eg the APC).</a:t>
            </a:r>
          </a:p>
          <a:p>
            <a:pPr eaLnBrk="1" hangingPunct="1">
              <a:lnSpc>
                <a:spcPct val="90000"/>
              </a:lnSpc>
            </a:pPr>
            <a:r>
              <a:rPr lang="en-US" sz="2000"/>
              <a:t>We always have a valid closure.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idx="4294967295"/>
          </p:nvPr>
        </p:nvSpPr>
        <p:spPr/>
        <p:txBody>
          <a:bodyPr/>
          <a:lstStyle/>
          <a:p>
            <a:pPr eaLnBrk="1" hangingPunct="1"/>
            <a:r>
              <a:rPr lang="en-AU" sz="4000"/>
              <a:t>Baseline simulation design for IndoTERM</a:t>
            </a:r>
          </a:p>
        </p:txBody>
      </p:sp>
      <p:sp>
        <p:nvSpPr>
          <p:cNvPr id="3" name="Content Placeholder 2"/>
          <p:cNvSpPr>
            <a:spLocks noGrp="1"/>
          </p:cNvSpPr>
          <p:nvPr>
            <p:ph idx="4294967295"/>
          </p:nvPr>
        </p:nvSpPr>
        <p:spPr>
          <a:xfrm>
            <a:off x="457200" y="1600200"/>
            <a:ext cx="8435975" cy="5141913"/>
          </a:xfrm>
        </p:spPr>
        <p:txBody>
          <a:bodyPr>
            <a:normAutofit/>
          </a:bodyPr>
          <a:lstStyle/>
          <a:p>
            <a:pPr eaLnBrk="1" hangingPunct="1"/>
            <a:endParaRPr lang="en-AU" sz="2000"/>
          </a:p>
          <a:p>
            <a:pPr eaLnBrk="1" hangingPunct="1"/>
            <a:endParaRPr lang="en-AU" sz="2000"/>
          </a:p>
          <a:p>
            <a:pPr eaLnBrk="1" hangingPunct="1"/>
            <a:endParaRPr lang="en-AU" sz="2000"/>
          </a:p>
          <a:p>
            <a:pPr eaLnBrk="1" hangingPunct="1"/>
            <a:endParaRPr lang="en-AU" sz="2000"/>
          </a:p>
          <a:p>
            <a:pPr eaLnBrk="1" hangingPunct="1"/>
            <a:endParaRPr lang="en-AU" sz="2000"/>
          </a:p>
          <a:p>
            <a:pPr eaLnBrk="1" hangingPunct="1"/>
            <a:endParaRPr lang="en-AU" sz="2000"/>
          </a:p>
          <a:p>
            <a:pPr eaLnBrk="1" hangingPunct="1"/>
            <a:endParaRPr lang="en-AU" sz="2000"/>
          </a:p>
          <a:p>
            <a:pPr eaLnBrk="1" hangingPunct="1"/>
            <a:r>
              <a:rPr lang="en-AU" sz="2000"/>
              <a:t>2006-2012: historical closure where we introduce observed data for most macroeconomic variables </a:t>
            </a:r>
          </a:p>
          <a:p>
            <a:pPr eaLnBrk="1" hangingPunct="1"/>
            <a:endParaRPr lang="en-AU" sz="2000"/>
          </a:p>
          <a:p>
            <a:pPr eaLnBrk="1" hangingPunct="1"/>
            <a:r>
              <a:rPr lang="en-AU" sz="2000"/>
              <a:t>2013-2030: forecast closure where we introduce our view on selected productivity variables</a:t>
            </a:r>
          </a:p>
          <a:p>
            <a:pPr eaLnBrk="1" hangingPunct="1"/>
            <a:endParaRPr lang="en-AU" sz="2000"/>
          </a:p>
        </p:txBody>
      </p:sp>
      <p:grpSp>
        <p:nvGrpSpPr>
          <p:cNvPr id="7172" name="Group 15"/>
          <p:cNvGrpSpPr>
            <a:grpSpLocks/>
          </p:cNvGrpSpPr>
          <p:nvPr/>
        </p:nvGrpSpPr>
        <p:grpSpPr bwMode="auto">
          <a:xfrm>
            <a:off x="852488" y="1557338"/>
            <a:ext cx="7048500" cy="2359025"/>
            <a:chOff x="844532" y="1650083"/>
            <a:chExt cx="7049634" cy="2358967"/>
          </a:xfrm>
        </p:grpSpPr>
        <p:sp>
          <p:nvSpPr>
            <p:cNvPr id="7175" name="Line 4"/>
            <p:cNvSpPr>
              <a:spLocks noChangeShapeType="1"/>
            </p:cNvSpPr>
            <p:nvPr/>
          </p:nvSpPr>
          <p:spPr bwMode="auto">
            <a:xfrm>
              <a:off x="844532" y="3645024"/>
              <a:ext cx="6913563"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7176" name="Line 5"/>
            <p:cNvSpPr>
              <a:spLocks noChangeShapeType="1"/>
            </p:cNvSpPr>
            <p:nvPr/>
          </p:nvSpPr>
          <p:spPr bwMode="auto">
            <a:xfrm flipV="1">
              <a:off x="3005121" y="1650083"/>
              <a:ext cx="0" cy="1994939"/>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7177" name="Text Box 3"/>
            <p:cNvSpPr txBox="1">
              <a:spLocks noChangeArrowheads="1"/>
            </p:cNvSpPr>
            <p:nvPr/>
          </p:nvSpPr>
          <p:spPr bwMode="auto">
            <a:xfrm>
              <a:off x="7189316" y="3704250"/>
              <a:ext cx="704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AU" sz="1400" b="1"/>
                <a:t>2030</a:t>
              </a:r>
            </a:p>
          </p:txBody>
        </p:sp>
        <p:sp>
          <p:nvSpPr>
            <p:cNvPr id="7178" name="Text Box 3"/>
            <p:cNvSpPr txBox="1">
              <a:spLocks noChangeArrowheads="1"/>
            </p:cNvSpPr>
            <p:nvPr/>
          </p:nvSpPr>
          <p:spPr bwMode="auto">
            <a:xfrm>
              <a:off x="2719371" y="3704250"/>
              <a:ext cx="704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AU" sz="1400" b="1"/>
                <a:t>2006</a:t>
              </a:r>
            </a:p>
          </p:txBody>
        </p:sp>
        <p:sp>
          <p:nvSpPr>
            <p:cNvPr id="7179" name="Text Box 3"/>
            <p:cNvSpPr txBox="1">
              <a:spLocks noChangeArrowheads="1"/>
            </p:cNvSpPr>
            <p:nvPr/>
          </p:nvSpPr>
          <p:spPr bwMode="auto">
            <a:xfrm>
              <a:off x="4301314" y="3697397"/>
              <a:ext cx="704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AU" sz="1400" b="1"/>
                <a:t>2012</a:t>
              </a:r>
            </a:p>
          </p:txBody>
        </p:sp>
        <p:sp>
          <p:nvSpPr>
            <p:cNvPr id="7180" name="Line 8"/>
            <p:cNvSpPr>
              <a:spLocks noChangeShapeType="1"/>
            </p:cNvSpPr>
            <p:nvPr/>
          </p:nvSpPr>
          <p:spPr bwMode="auto">
            <a:xfrm>
              <a:off x="4568971" y="3356147"/>
              <a:ext cx="0" cy="427038"/>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grpSp>
      <p:sp>
        <p:nvSpPr>
          <p:cNvPr id="12" name="Text Box 16"/>
          <p:cNvSpPr txBox="1">
            <a:spLocks noChangeArrowheads="1"/>
          </p:cNvSpPr>
          <p:nvPr/>
        </p:nvSpPr>
        <p:spPr bwMode="auto">
          <a:xfrm>
            <a:off x="677863" y="2066925"/>
            <a:ext cx="2447925"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63525" indent="-263525"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sz="1400">
                <a:solidFill>
                  <a:srgbClr val="0000FF"/>
                </a:solidFill>
                <a:latin typeface="Arial" charset="0"/>
              </a:rPr>
              <a:t>1.	</a:t>
            </a:r>
            <a:r>
              <a:rPr lang="en-US" sz="1400" u="sng">
                <a:solidFill>
                  <a:srgbClr val="0000FF"/>
                </a:solidFill>
                <a:latin typeface="Arial" charset="0"/>
              </a:rPr>
              <a:t>Run Base</a:t>
            </a:r>
            <a:r>
              <a:rPr lang="en-US" sz="1400">
                <a:solidFill>
                  <a:srgbClr val="0000FF"/>
                </a:solidFill>
                <a:latin typeface="Arial" charset="0"/>
              </a:rPr>
              <a:t>. Forecast variables (eg L) exogenous, structurals (eg A) endogenous.</a:t>
            </a:r>
          </a:p>
          <a:p>
            <a:pPr eaLnBrk="1" hangingPunct="1">
              <a:spcBef>
                <a:spcPct val="50000"/>
              </a:spcBef>
            </a:pPr>
            <a:endParaRPr lang="en-US">
              <a:latin typeface="Arial" charset="0"/>
            </a:endParaRPr>
          </a:p>
        </p:txBody>
      </p:sp>
      <p:sp>
        <p:nvSpPr>
          <p:cNvPr id="14" name="Freeform 10"/>
          <p:cNvSpPr>
            <a:spLocks/>
          </p:cNvSpPr>
          <p:nvPr/>
        </p:nvSpPr>
        <p:spPr bwMode="auto">
          <a:xfrm>
            <a:off x="3040063" y="1916113"/>
            <a:ext cx="4376737" cy="966787"/>
          </a:xfrm>
          <a:custGeom>
            <a:avLst/>
            <a:gdLst>
              <a:gd name="T0" fmla="*/ 0 w 2757"/>
              <a:gd name="T1" fmla="*/ 2147483647 h 609"/>
              <a:gd name="T2" fmla="*/ 2147483647 w 2757"/>
              <a:gd name="T3" fmla="*/ 2147483647 h 609"/>
              <a:gd name="T4" fmla="*/ 2147483647 w 2757"/>
              <a:gd name="T5" fmla="*/ 2147483647 h 609"/>
              <a:gd name="T6" fmla="*/ 2147483647 w 2757"/>
              <a:gd name="T7" fmla="*/ 2147483647 h 609"/>
              <a:gd name="T8" fmla="*/ 2147483647 w 2757"/>
              <a:gd name="T9" fmla="*/ 2147483647 h 609"/>
              <a:gd name="T10" fmla="*/ 2147483647 w 2757"/>
              <a:gd name="T11" fmla="*/ 2147483647 h 609"/>
              <a:gd name="T12" fmla="*/ 2147483647 w 2757"/>
              <a:gd name="T13" fmla="*/ 0 h 60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57" h="609">
                <a:moveTo>
                  <a:pt x="0" y="609"/>
                </a:moveTo>
                <a:cubicBezTo>
                  <a:pt x="61" y="585"/>
                  <a:pt x="195" y="500"/>
                  <a:pt x="363" y="467"/>
                </a:cubicBezTo>
                <a:cubicBezTo>
                  <a:pt x="531" y="434"/>
                  <a:pt x="836" y="447"/>
                  <a:pt x="1010" y="409"/>
                </a:cubicBezTo>
                <a:cubicBezTo>
                  <a:pt x="1184" y="371"/>
                  <a:pt x="1260" y="270"/>
                  <a:pt x="1406" y="237"/>
                </a:cubicBezTo>
                <a:cubicBezTo>
                  <a:pt x="1552" y="204"/>
                  <a:pt x="1761" y="233"/>
                  <a:pt x="1886" y="211"/>
                </a:cubicBezTo>
                <a:cubicBezTo>
                  <a:pt x="2011" y="189"/>
                  <a:pt x="2010" y="137"/>
                  <a:pt x="2155" y="102"/>
                </a:cubicBezTo>
                <a:cubicBezTo>
                  <a:pt x="2300" y="67"/>
                  <a:pt x="2632" y="21"/>
                  <a:pt x="2757" y="0"/>
                </a:cubicBezTo>
              </a:path>
            </a:pathLst>
          </a:custGeom>
          <a:noFill/>
          <a:ln w="12700">
            <a:solidFill>
              <a:srgbClr val="0000FF"/>
            </a:solidFill>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dissolve">
                                      <p:cBhvr>
                                        <p:cTn id="7" dur="500"/>
                                        <p:tgtEl>
                                          <p:spTgt spid="1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down)">
                                      <p:cBhvr>
                                        <p:cTn id="12" dur="500"/>
                                        <p:tgtEl>
                                          <p:spTgt spid="1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xit" presetSubtype="0" fill="hold" grpId="1" nodeType="clickEffect">
                                  <p:stCondLst>
                                    <p:cond delay="0"/>
                                  </p:stCondLst>
                                  <p:childTnLst>
                                    <p:animEffect transition="out" filter="dissolve">
                                      <p:cBhvr>
                                        <p:cTn id="16" dur="500"/>
                                        <p:tgtEl>
                                          <p:spTgt spid="14"/>
                                        </p:tgtEl>
                                      </p:cBhvr>
                                    </p:animEffect>
                                    <p:set>
                                      <p:cBhvr>
                                        <p:cTn id="17"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4"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idx="4294967295"/>
          </p:nvPr>
        </p:nvSpPr>
        <p:spPr/>
        <p:txBody>
          <a:bodyPr/>
          <a:lstStyle/>
          <a:p>
            <a:pPr eaLnBrk="1" hangingPunct="1"/>
            <a:r>
              <a:rPr lang="en-AU" sz="4000"/>
              <a:t>Baseline simulation design</a:t>
            </a:r>
          </a:p>
        </p:txBody>
      </p:sp>
      <p:sp>
        <p:nvSpPr>
          <p:cNvPr id="3" name="Content Placeholder 2"/>
          <p:cNvSpPr>
            <a:spLocks noGrp="1"/>
          </p:cNvSpPr>
          <p:nvPr>
            <p:ph idx="4294967295"/>
          </p:nvPr>
        </p:nvSpPr>
        <p:spPr>
          <a:xfrm>
            <a:off x="457200" y="1600200"/>
            <a:ext cx="8578850" cy="4997450"/>
          </a:xfrm>
        </p:spPr>
        <p:txBody>
          <a:bodyPr>
            <a:normAutofit/>
          </a:bodyPr>
          <a:lstStyle/>
          <a:p>
            <a:pPr eaLnBrk="1" hangingPunct="1"/>
            <a:r>
              <a:rPr lang="en-AU" sz="2000"/>
              <a:t>We impose the following shocks for the period 2006 – 2030</a:t>
            </a:r>
          </a:p>
          <a:p>
            <a:pPr eaLnBrk="1" hangingPunct="1"/>
            <a:r>
              <a:rPr lang="en-AU" sz="2000"/>
              <a:t>Land related shocks</a:t>
            </a:r>
          </a:p>
          <a:p>
            <a:pPr lvl="1" eaLnBrk="1" hangingPunct="1"/>
            <a:r>
              <a:rPr lang="en-AU" sz="1800"/>
              <a:t>Land productivity improves for</a:t>
            </a:r>
          </a:p>
          <a:p>
            <a:pPr lvl="2" eaLnBrk="1" hangingPunct="1"/>
            <a:r>
              <a:rPr lang="en-AU" sz="1600"/>
              <a:t>Agricultural industries by 3% per annum</a:t>
            </a:r>
          </a:p>
          <a:p>
            <a:pPr lvl="2" eaLnBrk="1" hangingPunct="1"/>
            <a:r>
              <a:rPr lang="en-AU" sz="1600"/>
              <a:t>OilPalm industry by 3% per annum</a:t>
            </a:r>
          </a:p>
          <a:p>
            <a:pPr lvl="2" eaLnBrk="1" hangingPunct="1"/>
            <a:r>
              <a:rPr lang="en-AU" sz="1600"/>
              <a:t>Other Natural resource using industries improves by 2% per annum</a:t>
            </a:r>
          </a:p>
          <a:p>
            <a:pPr lvl="2" eaLnBrk="1" hangingPunct="1"/>
            <a:r>
              <a:rPr lang="en-AU" sz="1600"/>
              <a:t>No improvement in OilGas industry</a:t>
            </a:r>
          </a:p>
          <a:p>
            <a:pPr lvl="1" eaLnBrk="1" hangingPunct="1"/>
            <a:r>
              <a:rPr lang="en-AU" sz="1800"/>
              <a:t>Land volume increases for the OilPalm industry by 3% per annum</a:t>
            </a:r>
          </a:p>
          <a:p>
            <a:pPr eaLnBrk="1" hangingPunct="1"/>
            <a:r>
              <a:rPr lang="en-AU" sz="2000"/>
              <a:t>Labour productivity shocks</a:t>
            </a:r>
          </a:p>
          <a:p>
            <a:pPr lvl="1" eaLnBrk="1" hangingPunct="1"/>
            <a:r>
              <a:rPr lang="en-AU" sz="1800"/>
              <a:t>Non-service industries improves by 6% per annum</a:t>
            </a:r>
          </a:p>
          <a:p>
            <a:pPr lvl="1" eaLnBrk="1" hangingPunct="1"/>
            <a:r>
              <a:rPr lang="en-AU" sz="1800"/>
              <a:t>Service industries improves by 3% per annum</a:t>
            </a:r>
          </a:p>
          <a:p>
            <a:pPr eaLnBrk="1" hangingPunct="1"/>
            <a:r>
              <a:rPr lang="en-AU" sz="2000"/>
              <a:t>Number of households increase by 1.5%</a:t>
            </a:r>
          </a:p>
          <a:p>
            <a:pPr eaLnBrk="1" hangingPunct="1"/>
            <a:r>
              <a:rPr lang="en-AU" sz="2000"/>
              <a:t>Labour force increases by 2.5% </a:t>
            </a:r>
          </a:p>
          <a:p>
            <a:pPr eaLnBrk="1" hangingPunct="1"/>
            <a:r>
              <a:rPr lang="en-AU" sz="2000"/>
              <a:t>Foreign demand for Indonesian products increases by 6%</a:t>
            </a:r>
          </a:p>
          <a:p>
            <a:pPr lvl="1" eaLnBrk="1" hangingPunct="1"/>
            <a:endParaRPr lang="en-AU" sz="1600"/>
          </a:p>
          <a:p>
            <a:pPr lvl="1" eaLnBrk="1" hangingPunct="1">
              <a:buFont typeface="Arial" charset="0"/>
              <a:buNone/>
            </a:pPr>
            <a:endParaRPr lang="en-AU" sz="16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idx="4294967295"/>
          </p:nvPr>
        </p:nvSpPr>
        <p:spPr/>
        <p:txBody>
          <a:bodyPr/>
          <a:lstStyle/>
          <a:p>
            <a:pPr eaLnBrk="1" hangingPunct="1"/>
            <a:r>
              <a:rPr lang="en-AU" sz="4000"/>
              <a:t>Baseline simulation design</a:t>
            </a:r>
          </a:p>
        </p:txBody>
      </p:sp>
      <p:sp>
        <p:nvSpPr>
          <p:cNvPr id="9219" name="Content Placeholder 2"/>
          <p:cNvSpPr>
            <a:spLocks noGrp="1"/>
          </p:cNvSpPr>
          <p:nvPr>
            <p:ph idx="4294967295"/>
          </p:nvPr>
        </p:nvSpPr>
        <p:spPr>
          <a:xfrm>
            <a:off x="457200" y="1600200"/>
            <a:ext cx="8435975" cy="5068888"/>
          </a:xfrm>
        </p:spPr>
        <p:txBody>
          <a:bodyPr/>
          <a:lstStyle/>
          <a:p>
            <a:pPr eaLnBrk="1" hangingPunct="1"/>
            <a:r>
              <a:rPr lang="en-AU" sz="2800"/>
              <a:t>Historical closure (2006-2012)</a:t>
            </a:r>
          </a:p>
          <a:p>
            <a:pPr eaLnBrk="1" hangingPunct="1"/>
            <a:r>
              <a:rPr lang="en-AU" sz="2800"/>
              <a:t>Impose year-on-year observed data for:</a:t>
            </a:r>
          </a:p>
          <a:p>
            <a:pPr lvl="1" eaLnBrk="1" hangingPunct="1"/>
            <a:r>
              <a:rPr lang="en-AU" sz="2000"/>
              <a:t>Aggregate private consumption</a:t>
            </a:r>
          </a:p>
          <a:p>
            <a:pPr lvl="1" eaLnBrk="1" hangingPunct="1"/>
            <a:r>
              <a:rPr lang="en-AU" sz="2000"/>
              <a:t>Aggregate investment</a:t>
            </a:r>
          </a:p>
          <a:p>
            <a:pPr lvl="1" eaLnBrk="1" hangingPunct="1"/>
            <a:r>
              <a:rPr lang="en-AU" sz="2000"/>
              <a:t>Aggregate public consumption</a:t>
            </a:r>
          </a:p>
          <a:p>
            <a:pPr lvl="1" eaLnBrk="1" hangingPunct="1"/>
            <a:r>
              <a:rPr lang="en-AU" sz="2000"/>
              <a:t>Aggregate exports</a:t>
            </a:r>
          </a:p>
          <a:p>
            <a:pPr lvl="1" eaLnBrk="1" hangingPunct="1"/>
            <a:r>
              <a:rPr lang="en-AU" sz="2000"/>
              <a:t>National employment</a:t>
            </a:r>
          </a:p>
          <a:p>
            <a:pPr lvl="1" eaLnBrk="1" hangingPunct="1"/>
            <a:r>
              <a:rPr lang="en-AU" sz="2000"/>
              <a:t>Real GDP</a:t>
            </a:r>
          </a:p>
          <a:p>
            <a:pPr eaLnBrk="1" hangingPunct="1"/>
            <a:r>
              <a:rPr lang="en-AU" sz="2800"/>
              <a:t>These variable are naturally endogenous in the model</a:t>
            </a:r>
          </a:p>
          <a:p>
            <a:pPr eaLnBrk="1" hangingPunct="1"/>
            <a:r>
              <a:rPr lang="en-AU" sz="2800"/>
              <a:t>Need swap statements to move them to the exogenous list – allows these variables to be shocked</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r" eaLnBrk="1" hangingPunct="1"/>
            <a:fld id="{C8ED31E5-6341-41B9-A66C-6FE71FDF9871}" type="slidenum">
              <a:rPr lang="en-AU" sz="1200">
                <a:solidFill>
                  <a:srgbClr val="898989"/>
                </a:solidFill>
              </a:rPr>
              <a:pPr algn="r" eaLnBrk="1" hangingPunct="1"/>
              <a:t>17</a:t>
            </a:fld>
            <a:endParaRPr lang="en-AU" sz="1200">
              <a:solidFill>
                <a:srgbClr val="898989"/>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idx="4294967295"/>
          </p:nvPr>
        </p:nvSpPr>
        <p:spPr/>
        <p:txBody>
          <a:bodyPr/>
          <a:lstStyle/>
          <a:p>
            <a:pPr eaLnBrk="1" hangingPunct="1"/>
            <a:r>
              <a:rPr lang="en-AU" sz="4000"/>
              <a:t>Baseline simulation design</a:t>
            </a:r>
          </a:p>
        </p:txBody>
      </p:sp>
      <p:sp>
        <p:nvSpPr>
          <p:cNvPr id="10243" name="Content Placeholder 2"/>
          <p:cNvSpPr>
            <a:spLocks noGrp="1"/>
          </p:cNvSpPr>
          <p:nvPr>
            <p:ph idx="4294967295"/>
          </p:nvPr>
        </p:nvSpPr>
        <p:spPr>
          <a:xfrm>
            <a:off x="457200" y="1600200"/>
            <a:ext cx="8229600" cy="4997450"/>
          </a:xfrm>
        </p:spPr>
        <p:txBody>
          <a:bodyPr/>
          <a:lstStyle/>
          <a:p>
            <a:pPr marL="0" indent="0" eaLnBrk="1" hangingPunct="1">
              <a:buFont typeface="Arial" charset="0"/>
              <a:buNone/>
            </a:pPr>
            <a:r>
              <a:rPr lang="en-AU" sz="2000" b="1">
                <a:solidFill>
                  <a:srgbClr val="000000"/>
                </a:solidFill>
                <a:latin typeface="Consolas" pitchFamily="49" charset="0"/>
              </a:rPr>
              <a:t> </a:t>
            </a:r>
            <a:r>
              <a:rPr lang="en-AU" sz="2000" b="1">
                <a:solidFill>
                  <a:srgbClr val="0070C0"/>
                </a:solidFill>
                <a:latin typeface="Consolas" pitchFamily="49" charset="0"/>
              </a:rPr>
              <a:t>new endogenous   new exogenous</a:t>
            </a:r>
          </a:p>
          <a:p>
            <a:pPr marL="0" indent="0" eaLnBrk="1" hangingPunct="1">
              <a:buFont typeface="Arial" charset="0"/>
              <a:buNone/>
            </a:pPr>
            <a:r>
              <a:rPr lang="en-AU" sz="2000" b="1">
                <a:solidFill>
                  <a:srgbClr val="000000"/>
                </a:solidFill>
                <a:latin typeface="Consolas" pitchFamily="49" charset="0"/>
              </a:rPr>
              <a:t>swap</a:t>
            </a:r>
            <a:r>
              <a:rPr lang="en-AU" sz="2000">
                <a:solidFill>
                  <a:srgbClr val="000000"/>
                </a:solidFill>
                <a:latin typeface="Consolas" pitchFamily="49" charset="0"/>
              </a:rPr>
              <a:t> </a:t>
            </a:r>
            <a:r>
              <a:rPr lang="en-AU" sz="2000">
                <a:solidFill>
                  <a:srgbClr val="008000"/>
                </a:solidFill>
                <a:latin typeface="Consolas" pitchFamily="49" charset="0"/>
              </a:rPr>
              <a:t>shrBoTnom2</a:t>
            </a:r>
            <a:r>
              <a:rPr lang="en-AU" sz="2000">
                <a:solidFill>
                  <a:srgbClr val="000000"/>
                </a:solidFill>
                <a:latin typeface="Consolas" pitchFamily="49" charset="0"/>
              </a:rPr>
              <a:t> = </a:t>
            </a:r>
            <a:r>
              <a:rPr lang="en-AU" sz="2000">
                <a:solidFill>
                  <a:srgbClr val="008000"/>
                </a:solidFill>
                <a:latin typeface="Consolas" pitchFamily="49" charset="0"/>
              </a:rPr>
              <a:t>NatMacro</a:t>
            </a:r>
            <a:r>
              <a:rPr lang="en-AU" sz="2000">
                <a:solidFill>
                  <a:srgbClr val="000000"/>
                </a:solidFill>
                <a:latin typeface="Consolas" pitchFamily="49" charset="0"/>
              </a:rPr>
              <a:t>(</a:t>
            </a:r>
            <a:r>
              <a:rPr lang="en-AU" sz="2000" i="1">
                <a:solidFill>
                  <a:srgbClr val="800000"/>
                </a:solidFill>
                <a:latin typeface="Consolas" pitchFamily="49" charset="0"/>
              </a:rPr>
              <a:t>"RealHou"</a:t>
            </a:r>
            <a:r>
              <a:rPr lang="en-AU" sz="2000">
                <a:solidFill>
                  <a:srgbClr val="000000"/>
                </a:solidFill>
                <a:latin typeface="Consolas" pitchFamily="49" charset="0"/>
              </a:rPr>
              <a:t>) ;  </a:t>
            </a:r>
            <a:br>
              <a:rPr lang="en-AU" sz="2000">
                <a:solidFill>
                  <a:srgbClr val="000000"/>
                </a:solidFill>
                <a:latin typeface="Consolas" pitchFamily="49" charset="0"/>
              </a:rPr>
            </a:br>
            <a:br>
              <a:rPr lang="en-AU" sz="2000">
                <a:solidFill>
                  <a:srgbClr val="000000"/>
                </a:solidFill>
                <a:latin typeface="Consolas" pitchFamily="49" charset="0"/>
              </a:rPr>
            </a:br>
            <a:r>
              <a:rPr lang="en-AU" sz="2000" b="1">
                <a:solidFill>
                  <a:srgbClr val="000000"/>
                </a:solidFill>
                <a:latin typeface="Consolas" pitchFamily="49" charset="0"/>
              </a:rPr>
              <a:t>swap</a:t>
            </a:r>
            <a:r>
              <a:rPr lang="en-AU" sz="2000">
                <a:solidFill>
                  <a:srgbClr val="000000"/>
                </a:solidFill>
                <a:latin typeface="Consolas" pitchFamily="49" charset="0"/>
              </a:rPr>
              <a:t> </a:t>
            </a:r>
            <a:r>
              <a:rPr lang="en-AU" sz="2000">
                <a:solidFill>
                  <a:srgbClr val="008000"/>
                </a:solidFill>
                <a:latin typeface="Consolas" pitchFamily="49" charset="0"/>
              </a:rPr>
              <a:t>invslack</a:t>
            </a:r>
            <a:r>
              <a:rPr lang="en-AU" sz="2000">
                <a:solidFill>
                  <a:srgbClr val="000000"/>
                </a:solidFill>
                <a:latin typeface="Consolas" pitchFamily="49" charset="0"/>
              </a:rPr>
              <a:t>   = </a:t>
            </a:r>
            <a:r>
              <a:rPr lang="en-AU" sz="2000">
                <a:solidFill>
                  <a:srgbClr val="008000"/>
                </a:solidFill>
                <a:latin typeface="Consolas" pitchFamily="49" charset="0"/>
              </a:rPr>
              <a:t>NatMacro</a:t>
            </a:r>
            <a:r>
              <a:rPr lang="en-AU" sz="2000">
                <a:solidFill>
                  <a:srgbClr val="000000"/>
                </a:solidFill>
                <a:latin typeface="Consolas" pitchFamily="49" charset="0"/>
              </a:rPr>
              <a:t>(</a:t>
            </a:r>
            <a:r>
              <a:rPr lang="en-AU" sz="2000" i="1">
                <a:solidFill>
                  <a:srgbClr val="800000"/>
                </a:solidFill>
                <a:latin typeface="Consolas" pitchFamily="49" charset="0"/>
              </a:rPr>
              <a:t>"RealInv"</a:t>
            </a:r>
            <a:r>
              <a:rPr lang="en-AU" sz="2000">
                <a:solidFill>
                  <a:srgbClr val="000000"/>
                </a:solidFill>
                <a:latin typeface="Consolas" pitchFamily="49" charset="0"/>
              </a:rPr>
              <a:t>) ;</a:t>
            </a:r>
            <a:br>
              <a:rPr lang="en-AU" sz="2000">
                <a:solidFill>
                  <a:srgbClr val="000000"/>
                </a:solidFill>
                <a:latin typeface="Consolas" pitchFamily="49" charset="0"/>
              </a:rPr>
            </a:br>
            <a:br>
              <a:rPr lang="en-AU" sz="2000">
                <a:solidFill>
                  <a:srgbClr val="000000"/>
                </a:solidFill>
                <a:latin typeface="Consolas" pitchFamily="49" charset="0"/>
              </a:rPr>
            </a:br>
            <a:r>
              <a:rPr lang="en-AU" sz="2000" b="1">
                <a:solidFill>
                  <a:srgbClr val="000000"/>
                </a:solidFill>
                <a:latin typeface="Consolas" pitchFamily="49" charset="0"/>
              </a:rPr>
              <a:t>swap</a:t>
            </a:r>
            <a:r>
              <a:rPr lang="en-AU" sz="2000">
                <a:solidFill>
                  <a:srgbClr val="000000"/>
                </a:solidFill>
                <a:latin typeface="Consolas" pitchFamily="49" charset="0"/>
              </a:rPr>
              <a:t> </a:t>
            </a:r>
            <a:r>
              <a:rPr lang="en-AU" sz="2000">
                <a:solidFill>
                  <a:srgbClr val="008000"/>
                </a:solidFill>
                <a:latin typeface="Consolas" pitchFamily="49" charset="0"/>
              </a:rPr>
              <a:t>fgovgen</a:t>
            </a:r>
            <a:r>
              <a:rPr lang="en-AU" sz="2000">
                <a:solidFill>
                  <a:srgbClr val="000000"/>
                </a:solidFill>
                <a:latin typeface="Consolas" pitchFamily="49" charset="0"/>
              </a:rPr>
              <a:t>    = </a:t>
            </a:r>
            <a:r>
              <a:rPr lang="en-AU" sz="2000">
                <a:solidFill>
                  <a:srgbClr val="008000"/>
                </a:solidFill>
                <a:latin typeface="Consolas" pitchFamily="49" charset="0"/>
              </a:rPr>
              <a:t>NatMacro</a:t>
            </a:r>
            <a:r>
              <a:rPr lang="en-AU" sz="2000">
                <a:solidFill>
                  <a:srgbClr val="000000"/>
                </a:solidFill>
                <a:latin typeface="Consolas" pitchFamily="49" charset="0"/>
              </a:rPr>
              <a:t>(</a:t>
            </a:r>
            <a:r>
              <a:rPr lang="en-AU" sz="2000" i="1">
                <a:solidFill>
                  <a:srgbClr val="800000"/>
                </a:solidFill>
                <a:latin typeface="Consolas" pitchFamily="49" charset="0"/>
              </a:rPr>
              <a:t>"RealGov"</a:t>
            </a:r>
            <a:r>
              <a:rPr lang="en-AU" sz="2000">
                <a:solidFill>
                  <a:srgbClr val="000000"/>
                </a:solidFill>
                <a:latin typeface="Consolas" pitchFamily="49" charset="0"/>
              </a:rPr>
              <a:t>) ;</a:t>
            </a:r>
            <a:br>
              <a:rPr lang="en-AU" sz="2000">
                <a:solidFill>
                  <a:srgbClr val="000000"/>
                </a:solidFill>
                <a:latin typeface="Consolas" pitchFamily="49" charset="0"/>
              </a:rPr>
            </a:br>
            <a:br>
              <a:rPr lang="en-AU" sz="2000">
                <a:solidFill>
                  <a:srgbClr val="000000"/>
                </a:solidFill>
                <a:latin typeface="Consolas" pitchFamily="49" charset="0"/>
              </a:rPr>
            </a:br>
            <a:r>
              <a:rPr lang="en-AU" sz="2000" b="1">
                <a:solidFill>
                  <a:srgbClr val="000000"/>
                </a:solidFill>
                <a:latin typeface="Consolas" pitchFamily="49" charset="0"/>
              </a:rPr>
              <a:t>swap</a:t>
            </a:r>
            <a:r>
              <a:rPr lang="en-AU" sz="2000">
                <a:solidFill>
                  <a:srgbClr val="000000"/>
                </a:solidFill>
                <a:latin typeface="Consolas" pitchFamily="49" charset="0"/>
              </a:rPr>
              <a:t> </a:t>
            </a:r>
            <a:r>
              <a:rPr lang="en-AU" sz="2000">
                <a:solidFill>
                  <a:srgbClr val="008000"/>
                </a:solidFill>
                <a:latin typeface="Consolas" pitchFamily="49" charset="0"/>
              </a:rPr>
              <a:t>natfpexp</a:t>
            </a:r>
            <a:r>
              <a:rPr lang="en-AU" sz="2000">
                <a:solidFill>
                  <a:srgbClr val="000000"/>
                </a:solidFill>
                <a:latin typeface="Consolas" pitchFamily="49" charset="0"/>
              </a:rPr>
              <a:t>   = </a:t>
            </a:r>
            <a:r>
              <a:rPr lang="en-AU" sz="2000">
                <a:solidFill>
                  <a:srgbClr val="008000"/>
                </a:solidFill>
                <a:latin typeface="Consolas" pitchFamily="49" charset="0"/>
              </a:rPr>
              <a:t>NatMacro</a:t>
            </a:r>
            <a:r>
              <a:rPr lang="en-AU" sz="2000">
                <a:solidFill>
                  <a:srgbClr val="000000"/>
                </a:solidFill>
                <a:latin typeface="Consolas" pitchFamily="49" charset="0"/>
              </a:rPr>
              <a:t>(</a:t>
            </a:r>
            <a:r>
              <a:rPr lang="en-AU" sz="2000" i="1">
                <a:solidFill>
                  <a:srgbClr val="800000"/>
                </a:solidFill>
                <a:latin typeface="Consolas" pitchFamily="49" charset="0"/>
              </a:rPr>
              <a:t>"ExpVol"</a:t>
            </a:r>
            <a:r>
              <a:rPr lang="en-AU" sz="2000">
                <a:solidFill>
                  <a:srgbClr val="000000"/>
                </a:solidFill>
                <a:latin typeface="Consolas" pitchFamily="49" charset="0"/>
              </a:rPr>
              <a:t>) ;</a:t>
            </a:r>
            <a:br>
              <a:rPr lang="en-AU" sz="2000">
                <a:solidFill>
                  <a:srgbClr val="000000"/>
                </a:solidFill>
                <a:latin typeface="Consolas" pitchFamily="49" charset="0"/>
              </a:rPr>
            </a:br>
            <a:r>
              <a:rPr lang="en-AU" sz="2000">
                <a:solidFill>
                  <a:srgbClr val="000000"/>
                </a:solidFill>
                <a:latin typeface="Consolas" pitchFamily="49" charset="0"/>
              </a:rPr>
              <a:t>  </a:t>
            </a:r>
            <a:br>
              <a:rPr lang="en-AU" sz="2000">
                <a:solidFill>
                  <a:srgbClr val="000000"/>
                </a:solidFill>
                <a:latin typeface="Consolas" pitchFamily="49" charset="0"/>
              </a:rPr>
            </a:br>
            <a:r>
              <a:rPr lang="en-AU" sz="2000" b="1">
                <a:solidFill>
                  <a:srgbClr val="000000"/>
                </a:solidFill>
                <a:latin typeface="Consolas" pitchFamily="49" charset="0"/>
              </a:rPr>
              <a:t>swap</a:t>
            </a:r>
            <a:r>
              <a:rPr lang="en-AU" sz="2000">
                <a:solidFill>
                  <a:srgbClr val="000000"/>
                </a:solidFill>
                <a:latin typeface="Consolas" pitchFamily="49" charset="0"/>
              </a:rPr>
              <a:t> </a:t>
            </a:r>
            <a:r>
              <a:rPr lang="en-AU" sz="2000">
                <a:solidFill>
                  <a:srgbClr val="008000"/>
                </a:solidFill>
                <a:latin typeface="Consolas" pitchFamily="49" charset="0"/>
              </a:rPr>
              <a:t>delfwage_o</a:t>
            </a:r>
            <a:r>
              <a:rPr lang="en-AU" sz="2000">
                <a:solidFill>
                  <a:srgbClr val="000000"/>
                </a:solidFill>
                <a:latin typeface="Consolas" pitchFamily="49" charset="0"/>
              </a:rPr>
              <a:t> = </a:t>
            </a:r>
            <a:r>
              <a:rPr lang="en-AU" sz="2000">
                <a:solidFill>
                  <a:srgbClr val="008000"/>
                </a:solidFill>
                <a:latin typeface="Consolas" pitchFamily="49" charset="0"/>
              </a:rPr>
              <a:t>NatMacro</a:t>
            </a:r>
            <a:r>
              <a:rPr lang="en-AU" sz="2000">
                <a:solidFill>
                  <a:srgbClr val="000000"/>
                </a:solidFill>
                <a:latin typeface="Consolas" pitchFamily="49" charset="0"/>
              </a:rPr>
              <a:t>(</a:t>
            </a:r>
            <a:r>
              <a:rPr lang="en-AU" sz="2000" i="1">
                <a:solidFill>
                  <a:srgbClr val="800000"/>
                </a:solidFill>
                <a:latin typeface="Consolas" pitchFamily="49" charset="0"/>
              </a:rPr>
              <a:t>"AggEmploy"</a:t>
            </a:r>
            <a:r>
              <a:rPr lang="en-AU" sz="2000">
                <a:solidFill>
                  <a:srgbClr val="000000"/>
                </a:solidFill>
                <a:latin typeface="Consolas" pitchFamily="49" charset="0"/>
              </a:rPr>
              <a:t>) ;</a:t>
            </a:r>
            <a:br>
              <a:rPr lang="en-AU" sz="2000">
                <a:solidFill>
                  <a:srgbClr val="000000"/>
                </a:solidFill>
                <a:latin typeface="Consolas" pitchFamily="49" charset="0"/>
              </a:rPr>
            </a:br>
            <a:br>
              <a:rPr lang="en-AU" sz="2000">
                <a:solidFill>
                  <a:srgbClr val="000000"/>
                </a:solidFill>
                <a:latin typeface="Consolas" pitchFamily="49" charset="0"/>
              </a:rPr>
            </a:br>
            <a:r>
              <a:rPr lang="en-AU" sz="2000" b="1">
                <a:solidFill>
                  <a:srgbClr val="000000"/>
                </a:solidFill>
                <a:latin typeface="Consolas" pitchFamily="49" charset="0"/>
              </a:rPr>
              <a:t>swap</a:t>
            </a:r>
            <a:r>
              <a:rPr lang="en-AU" sz="2000">
                <a:solidFill>
                  <a:srgbClr val="000000"/>
                </a:solidFill>
                <a:latin typeface="Consolas" pitchFamily="49" charset="0"/>
              </a:rPr>
              <a:t> </a:t>
            </a:r>
            <a:r>
              <a:rPr lang="en-AU" sz="2000">
                <a:solidFill>
                  <a:srgbClr val="008000"/>
                </a:solidFill>
                <a:latin typeface="Consolas" pitchFamily="49" charset="0"/>
              </a:rPr>
              <a:t>bprimnat</a:t>
            </a:r>
            <a:r>
              <a:rPr lang="en-AU" sz="2000">
                <a:solidFill>
                  <a:srgbClr val="000000"/>
                </a:solidFill>
                <a:latin typeface="Consolas" pitchFamily="49" charset="0"/>
              </a:rPr>
              <a:t>   = </a:t>
            </a:r>
            <a:r>
              <a:rPr lang="en-AU" sz="2000">
                <a:solidFill>
                  <a:srgbClr val="008000"/>
                </a:solidFill>
                <a:latin typeface="Consolas" pitchFamily="49" charset="0"/>
              </a:rPr>
              <a:t>NatMacro</a:t>
            </a:r>
            <a:r>
              <a:rPr lang="en-AU" sz="2000">
                <a:solidFill>
                  <a:srgbClr val="000000"/>
                </a:solidFill>
                <a:latin typeface="Consolas" pitchFamily="49" charset="0"/>
              </a:rPr>
              <a:t>(</a:t>
            </a:r>
            <a:r>
              <a:rPr lang="en-AU" sz="2000" i="1">
                <a:solidFill>
                  <a:srgbClr val="800000"/>
                </a:solidFill>
                <a:latin typeface="Consolas" pitchFamily="49" charset="0"/>
              </a:rPr>
              <a:t>"RealGDP"</a:t>
            </a:r>
            <a:r>
              <a:rPr lang="en-AU" sz="2000">
                <a:solidFill>
                  <a:srgbClr val="000000"/>
                </a:solidFill>
                <a:latin typeface="Consolas" pitchFamily="49" charset="0"/>
              </a:rPr>
              <a:t>) ;</a:t>
            </a:r>
          </a:p>
          <a:p>
            <a:pPr marL="0" indent="0" eaLnBrk="1" hangingPunct="1">
              <a:buFont typeface="Arial" charset="0"/>
              <a:buNone/>
            </a:pPr>
            <a:endParaRPr lang="en-AU" sz="2000">
              <a:solidFill>
                <a:srgbClr val="000000"/>
              </a:solidFill>
              <a:latin typeface="Consolas" pitchFamily="49" charset="0"/>
            </a:endParaRPr>
          </a:p>
          <a:p>
            <a:pPr marL="0" indent="0" eaLnBrk="1" hangingPunct="1">
              <a:buFont typeface="Arial" charset="0"/>
              <a:buNone/>
            </a:pPr>
            <a:r>
              <a:rPr lang="en-AU" sz="2000">
                <a:solidFill>
                  <a:srgbClr val="000000"/>
                </a:solidFill>
                <a:latin typeface="Consolas" pitchFamily="49" charset="0"/>
              </a:rPr>
              <a:t> </a:t>
            </a:r>
            <a:endParaRPr lang="en-AU" sz="2000"/>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r" eaLnBrk="1" hangingPunct="1"/>
            <a:fld id="{CEFAF9AD-B1A7-4F0F-89EA-CDDAD7FE01AA}" type="slidenum">
              <a:rPr lang="en-AU" sz="1200">
                <a:solidFill>
                  <a:srgbClr val="898989"/>
                </a:solidFill>
              </a:rPr>
              <a:pPr algn="r" eaLnBrk="1" hangingPunct="1"/>
              <a:t>18</a:t>
            </a:fld>
            <a:endParaRPr lang="en-AU" sz="1200">
              <a:solidFill>
                <a:srgbClr val="898989"/>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idx="4294967295"/>
          </p:nvPr>
        </p:nvSpPr>
        <p:spPr/>
        <p:txBody>
          <a:bodyPr/>
          <a:lstStyle/>
          <a:p>
            <a:pPr eaLnBrk="1" hangingPunct="1"/>
            <a:r>
              <a:rPr lang="en-AU" sz="4000"/>
              <a:t>Baseline simulation design</a:t>
            </a:r>
          </a:p>
        </p:txBody>
      </p:sp>
      <p:sp>
        <p:nvSpPr>
          <p:cNvPr id="11267" name="Content Placeholder 2"/>
          <p:cNvSpPr>
            <a:spLocks noGrp="1"/>
          </p:cNvSpPr>
          <p:nvPr>
            <p:ph idx="4294967295"/>
          </p:nvPr>
        </p:nvSpPr>
        <p:spPr>
          <a:xfrm>
            <a:off x="457200" y="1600200"/>
            <a:ext cx="8435975" cy="5068888"/>
          </a:xfrm>
        </p:spPr>
        <p:txBody>
          <a:bodyPr/>
          <a:lstStyle/>
          <a:p>
            <a:pPr eaLnBrk="1" hangingPunct="1"/>
            <a:r>
              <a:rPr lang="en-AU" sz="2800"/>
              <a:t>Forecast closure (2014-2030)</a:t>
            </a:r>
          </a:p>
          <a:p>
            <a:pPr eaLnBrk="1" hangingPunct="1"/>
            <a:r>
              <a:rPr lang="en-AU" sz="2800"/>
              <a:t>Do not have independent forecast data</a:t>
            </a:r>
          </a:p>
          <a:p>
            <a:pPr eaLnBrk="1" hangingPunct="1"/>
            <a:r>
              <a:rPr lang="en-AU" sz="2800"/>
              <a:t>Impose  our view on:</a:t>
            </a:r>
          </a:p>
          <a:p>
            <a:pPr lvl="1" eaLnBrk="1" hangingPunct="1"/>
            <a:r>
              <a:rPr lang="en-AU" sz="2000"/>
              <a:t>land productivity</a:t>
            </a:r>
          </a:p>
          <a:p>
            <a:pPr lvl="1" eaLnBrk="1" hangingPunct="1"/>
            <a:r>
              <a:rPr lang="en-AU" sz="2000"/>
              <a:t>land use in oil palm sector</a:t>
            </a:r>
          </a:p>
          <a:p>
            <a:pPr lvl="1" eaLnBrk="1" hangingPunct="1"/>
            <a:r>
              <a:rPr lang="en-AU" sz="2000"/>
              <a:t>labour productivity</a:t>
            </a:r>
          </a:p>
          <a:p>
            <a:pPr lvl="1" eaLnBrk="1" hangingPunct="1"/>
            <a:r>
              <a:rPr lang="en-AU" sz="2000"/>
              <a:t>population growth</a:t>
            </a:r>
          </a:p>
          <a:p>
            <a:pPr lvl="1" eaLnBrk="1" hangingPunct="1"/>
            <a:r>
              <a:rPr lang="en-AU" sz="2000"/>
              <a:t>labour force growth</a:t>
            </a:r>
          </a:p>
          <a:p>
            <a:pPr lvl="1" eaLnBrk="1" hangingPunct="1"/>
            <a:r>
              <a:rPr lang="en-AU" sz="2000"/>
              <a:t>foreign demand for Indonesian products</a:t>
            </a:r>
          </a:p>
          <a:p>
            <a:pPr eaLnBrk="1" hangingPunct="1"/>
            <a:r>
              <a:rPr lang="en-AU" sz="2800"/>
              <a:t>These variable are naturally exogenous in the model</a:t>
            </a:r>
          </a:p>
          <a:p>
            <a:pPr eaLnBrk="1" hangingPunct="1"/>
            <a:r>
              <a:rPr lang="en-AU" sz="2800"/>
              <a:t>No swap statements required – these variables can be shocked directly</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r" eaLnBrk="1" hangingPunct="1"/>
            <a:fld id="{D9E70CFF-8028-410A-AF32-0C4A55E8218A}" type="slidenum">
              <a:rPr lang="en-AU" sz="1200">
                <a:solidFill>
                  <a:srgbClr val="898989"/>
                </a:solidFill>
              </a:rPr>
              <a:pPr algn="r" eaLnBrk="1" hangingPunct="1"/>
              <a:t>19</a:t>
            </a:fld>
            <a:endParaRPr lang="en-AU" sz="1200">
              <a:solidFill>
                <a:srgbClr val="898989"/>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idx="4294967295"/>
          </p:nvPr>
        </p:nvSpPr>
        <p:spPr/>
        <p:txBody>
          <a:bodyPr/>
          <a:lstStyle/>
          <a:p>
            <a:pPr eaLnBrk="1" hangingPunct="1"/>
            <a:r>
              <a:rPr lang="en-AU" sz="3200"/>
              <a:t>Baseline simulation: </a:t>
            </a:r>
            <a:br>
              <a:rPr lang="en-AU" sz="3200"/>
            </a:br>
            <a:r>
              <a:rPr lang="en-AU" sz="3200"/>
              <a:t>25 years of 6% real GDP growth</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r" eaLnBrk="1" hangingPunct="1"/>
            <a:fld id="{B0CD75F8-BA22-41EF-B227-F92AAA60CEC8}" type="slidenum">
              <a:rPr lang="en-AU" sz="1200">
                <a:solidFill>
                  <a:srgbClr val="898989"/>
                </a:solidFill>
              </a:rPr>
              <a:pPr algn="r" eaLnBrk="1" hangingPunct="1"/>
              <a:t>20</a:t>
            </a:fld>
            <a:endParaRPr lang="en-AU" sz="1200">
              <a:solidFill>
                <a:srgbClr val="898989"/>
              </a:solidFill>
            </a:endParaRPr>
          </a:p>
        </p:txBody>
      </p:sp>
      <p:graphicFrame>
        <p:nvGraphicFramePr>
          <p:cNvPr id="6" name="Chart 5"/>
          <p:cNvGraphicFramePr>
            <a:graphicFrameLocks/>
          </p:cNvGraphicFramePr>
          <p:nvPr/>
        </p:nvGraphicFramePr>
        <p:xfrm>
          <a:off x="1259632" y="1412776"/>
          <a:ext cx="6686550" cy="4371975"/>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idx="4294967295"/>
          </p:nvPr>
        </p:nvSpPr>
        <p:spPr/>
        <p:txBody>
          <a:bodyPr/>
          <a:lstStyle/>
          <a:p>
            <a:pPr eaLnBrk="1" hangingPunct="1"/>
            <a:r>
              <a:rPr lang="en-AU" sz="3600"/>
              <a:t>Baseline simulation: </a:t>
            </a:r>
            <a:br>
              <a:rPr lang="en-AU" sz="3600"/>
            </a:br>
            <a:r>
              <a:rPr lang="en-AU" sz="3600"/>
              <a:t>Sector growth</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r" eaLnBrk="1" hangingPunct="1"/>
            <a:fld id="{89690918-A3B2-4967-80D8-DE1544AC290C}" type="slidenum">
              <a:rPr lang="en-AU" sz="1200">
                <a:solidFill>
                  <a:srgbClr val="898989"/>
                </a:solidFill>
              </a:rPr>
              <a:pPr algn="r" eaLnBrk="1" hangingPunct="1"/>
              <a:t>21</a:t>
            </a:fld>
            <a:endParaRPr lang="en-AU" sz="1200">
              <a:solidFill>
                <a:srgbClr val="898989"/>
              </a:solidFill>
            </a:endParaRPr>
          </a:p>
        </p:txBody>
      </p:sp>
      <p:graphicFrame>
        <p:nvGraphicFramePr>
          <p:cNvPr id="7" name="Chart 6"/>
          <p:cNvGraphicFramePr>
            <a:graphicFrameLocks/>
          </p:cNvGraphicFramePr>
          <p:nvPr/>
        </p:nvGraphicFramePr>
        <p:xfrm>
          <a:off x="1187624" y="1412776"/>
          <a:ext cx="6705600" cy="4381501"/>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471613"/>
            <a:ext cx="9144000" cy="410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339" name="Title 1"/>
          <p:cNvSpPr txBox="1">
            <a:spLocks/>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en-AU" sz="3600"/>
              <a:t>Baseline simulation: </a:t>
            </a:r>
          </a:p>
          <a:p>
            <a:pPr algn="ctr" eaLnBrk="1" hangingPunct="1"/>
            <a:r>
              <a:rPr lang="en-AU" sz="3600"/>
              <a:t>Regional GDP growth</a:t>
            </a:r>
          </a:p>
        </p:txBody>
      </p:sp>
      <p:sp>
        <p:nvSpPr>
          <p:cNvPr id="4" name="Rectangle 2"/>
          <p:cNvSpPr>
            <a:spLocks noChangeArrowheads="1"/>
          </p:cNvSpPr>
          <p:nvPr/>
        </p:nvSpPr>
        <p:spPr bwMode="auto">
          <a:xfrm>
            <a:off x="139700" y="5732463"/>
            <a:ext cx="8896350" cy="685800"/>
          </a:xfrm>
          <a:prstGeom prst="rect">
            <a:avLst/>
          </a:prstGeom>
          <a:solidFill>
            <a:srgbClr val="FFFFFF"/>
          </a:solidFill>
          <a:ln w="9525">
            <a:noFill/>
            <a:miter lim="800000"/>
            <a:headEnd/>
            <a:tailEnd/>
          </a:ln>
        </p:spPr>
        <p:txBody>
          <a:bodyPr anchor="ctr"/>
          <a:lstStyle/>
          <a:p>
            <a:pPr>
              <a:defRPr/>
            </a:pPr>
            <a:r>
              <a:rPr lang="en-US" sz="2800" dirty="0">
                <a:latin typeface="+mj-lt"/>
              </a:rPr>
              <a:t>Poorer peripheral, resource-based regions do less well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idx="4294967295"/>
          </p:nvPr>
        </p:nvSpPr>
        <p:spPr/>
        <p:txBody>
          <a:bodyPr/>
          <a:lstStyle/>
          <a:p>
            <a:r>
              <a:rPr lang="en-US" sz="3600"/>
              <a:t>Base Rerun</a:t>
            </a:r>
          </a:p>
        </p:txBody>
      </p:sp>
      <p:sp>
        <p:nvSpPr>
          <p:cNvPr id="15363" name="Rectangle 3"/>
          <p:cNvSpPr>
            <a:spLocks noGrp="1" noChangeArrowheads="1"/>
          </p:cNvSpPr>
          <p:nvPr>
            <p:ph type="body" idx="4294967295"/>
          </p:nvPr>
        </p:nvSpPr>
        <p:spPr>
          <a:xfrm>
            <a:off x="457200" y="1381125"/>
            <a:ext cx="8229600" cy="4927600"/>
          </a:xfrm>
        </p:spPr>
        <p:txBody>
          <a:bodyPr/>
          <a:lstStyle/>
          <a:p>
            <a:pPr marL="355600" indent="-355600"/>
            <a:endParaRPr lang="en-US" sz="2000"/>
          </a:p>
          <a:p>
            <a:pPr marL="355600" indent="-355600"/>
            <a:endParaRPr lang="en-US" sz="2000"/>
          </a:p>
          <a:p>
            <a:pPr marL="355600" indent="-355600"/>
            <a:endParaRPr lang="en-US" sz="2000"/>
          </a:p>
          <a:p>
            <a:pPr marL="355600" indent="-355600"/>
            <a:endParaRPr lang="en-US" sz="2000"/>
          </a:p>
          <a:p>
            <a:pPr marL="355600" indent="-355600"/>
            <a:endParaRPr lang="en-US" sz="2000"/>
          </a:p>
          <a:p>
            <a:pPr marL="355600" indent="-355600"/>
            <a:endParaRPr lang="en-US" sz="2000"/>
          </a:p>
          <a:p>
            <a:pPr marL="355600" indent="-355600"/>
            <a:endParaRPr lang="en-US" sz="2000"/>
          </a:p>
          <a:p>
            <a:pPr marL="355600" indent="-355600"/>
            <a:r>
              <a:rPr lang="en-US" sz="2000"/>
              <a:t>For the base rerun, we return to a standard, policy closure:</a:t>
            </a:r>
          </a:p>
          <a:p>
            <a:pPr marL="355600" indent="-355600">
              <a:buFontTx/>
              <a:buNone/>
            </a:pPr>
            <a:r>
              <a:rPr lang="en-US" sz="2000"/>
              <a:t>	Exogenous: BOT/GDP ratio, invslac, fgovgen, natfpexp, bprimnat</a:t>
            </a:r>
          </a:p>
          <a:p>
            <a:pPr marL="355600" indent="-355600">
              <a:buFontTx/>
              <a:buNone/>
            </a:pPr>
            <a:r>
              <a:rPr lang="en-US" sz="2000"/>
              <a:t>	Endogenous: C, I, G, X, L and GDP.  </a:t>
            </a:r>
          </a:p>
          <a:p>
            <a:pPr marL="355600" indent="-355600">
              <a:buFontTx/>
              <a:buNone/>
            </a:pPr>
            <a:endParaRPr lang="en-US" sz="2000"/>
          </a:p>
          <a:p>
            <a:pPr marL="355600" indent="-355600"/>
            <a:r>
              <a:rPr lang="en-US" sz="2000"/>
              <a:t>We do another simulation (In RunDynam “BaseRerun”). Structural variables are given their forecast (“base run”) values</a:t>
            </a:r>
          </a:p>
        </p:txBody>
      </p:sp>
      <p:grpSp>
        <p:nvGrpSpPr>
          <p:cNvPr id="15364" name="Group 15"/>
          <p:cNvGrpSpPr>
            <a:grpSpLocks/>
          </p:cNvGrpSpPr>
          <p:nvPr/>
        </p:nvGrpSpPr>
        <p:grpSpPr bwMode="auto">
          <a:xfrm>
            <a:off x="785813" y="1384300"/>
            <a:ext cx="7048500" cy="2359025"/>
            <a:chOff x="844532" y="1650083"/>
            <a:chExt cx="7049634" cy="2358967"/>
          </a:xfrm>
        </p:grpSpPr>
        <p:sp>
          <p:nvSpPr>
            <p:cNvPr id="15368" name="Line 4"/>
            <p:cNvSpPr>
              <a:spLocks noChangeShapeType="1"/>
            </p:cNvSpPr>
            <p:nvPr/>
          </p:nvSpPr>
          <p:spPr bwMode="auto">
            <a:xfrm>
              <a:off x="844532" y="3645024"/>
              <a:ext cx="6913563"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15369" name="Line 5"/>
            <p:cNvSpPr>
              <a:spLocks noChangeShapeType="1"/>
            </p:cNvSpPr>
            <p:nvPr/>
          </p:nvSpPr>
          <p:spPr bwMode="auto">
            <a:xfrm flipV="1">
              <a:off x="3005121" y="1650083"/>
              <a:ext cx="0" cy="1994939"/>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15370" name="Text Box 3"/>
            <p:cNvSpPr txBox="1">
              <a:spLocks noChangeArrowheads="1"/>
            </p:cNvSpPr>
            <p:nvPr/>
          </p:nvSpPr>
          <p:spPr bwMode="auto">
            <a:xfrm>
              <a:off x="7189316" y="3704250"/>
              <a:ext cx="704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AU" sz="1400" b="1"/>
                <a:t>2030</a:t>
              </a:r>
            </a:p>
          </p:txBody>
        </p:sp>
        <p:sp>
          <p:nvSpPr>
            <p:cNvPr id="15371" name="Text Box 3"/>
            <p:cNvSpPr txBox="1">
              <a:spLocks noChangeArrowheads="1"/>
            </p:cNvSpPr>
            <p:nvPr/>
          </p:nvSpPr>
          <p:spPr bwMode="auto">
            <a:xfrm>
              <a:off x="2719371" y="3704250"/>
              <a:ext cx="704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AU" sz="1400" b="1"/>
                <a:t>2006</a:t>
              </a:r>
            </a:p>
          </p:txBody>
        </p:sp>
        <p:sp>
          <p:nvSpPr>
            <p:cNvPr id="15372" name="Text Box 3"/>
            <p:cNvSpPr txBox="1">
              <a:spLocks noChangeArrowheads="1"/>
            </p:cNvSpPr>
            <p:nvPr/>
          </p:nvSpPr>
          <p:spPr bwMode="auto">
            <a:xfrm>
              <a:off x="4301314" y="3697397"/>
              <a:ext cx="704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AU" sz="1400" b="1"/>
                <a:t>2012</a:t>
              </a:r>
            </a:p>
          </p:txBody>
        </p:sp>
        <p:sp>
          <p:nvSpPr>
            <p:cNvPr id="15373" name="Line 8"/>
            <p:cNvSpPr>
              <a:spLocks noChangeShapeType="1"/>
            </p:cNvSpPr>
            <p:nvPr/>
          </p:nvSpPr>
          <p:spPr bwMode="auto">
            <a:xfrm>
              <a:off x="4568971" y="3356147"/>
              <a:ext cx="0" cy="427038"/>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grpSp>
      <p:sp>
        <p:nvSpPr>
          <p:cNvPr id="11" name="Text Box 16"/>
          <p:cNvSpPr txBox="1">
            <a:spLocks noChangeArrowheads="1"/>
          </p:cNvSpPr>
          <p:nvPr/>
        </p:nvSpPr>
        <p:spPr bwMode="auto">
          <a:xfrm>
            <a:off x="565150" y="1382713"/>
            <a:ext cx="2447925" cy="275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63525" indent="-263525"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sz="1400">
                <a:solidFill>
                  <a:srgbClr val="0000FF"/>
                </a:solidFill>
                <a:latin typeface="Arial" charset="0"/>
              </a:rPr>
              <a:t>1.	</a:t>
            </a:r>
            <a:r>
              <a:rPr lang="en-US" sz="1400" u="sng">
                <a:solidFill>
                  <a:srgbClr val="0000FF"/>
                </a:solidFill>
                <a:latin typeface="Arial" charset="0"/>
              </a:rPr>
              <a:t>Run Base</a:t>
            </a:r>
            <a:r>
              <a:rPr lang="en-US" sz="1400">
                <a:solidFill>
                  <a:srgbClr val="0000FF"/>
                </a:solidFill>
                <a:latin typeface="Arial" charset="0"/>
              </a:rPr>
              <a:t>. Forecast variables (eg L) exogenous, structurals (eg A) endogenous.</a:t>
            </a:r>
          </a:p>
          <a:p>
            <a:pPr eaLnBrk="1" hangingPunct="1">
              <a:spcBef>
                <a:spcPct val="50000"/>
              </a:spcBef>
            </a:pPr>
            <a:r>
              <a:rPr lang="en-US" sz="1400">
                <a:solidFill>
                  <a:srgbClr val="008000"/>
                </a:solidFill>
                <a:latin typeface="Arial" charset="0"/>
              </a:rPr>
              <a:t>2. 	</a:t>
            </a:r>
            <a:r>
              <a:rPr lang="en-US" sz="1400" u="sng">
                <a:solidFill>
                  <a:srgbClr val="008000"/>
                </a:solidFill>
                <a:latin typeface="Arial" charset="0"/>
              </a:rPr>
              <a:t>Rerun Base</a:t>
            </a:r>
            <a:r>
              <a:rPr lang="en-US" sz="1400">
                <a:solidFill>
                  <a:srgbClr val="008000"/>
                </a:solidFill>
                <a:latin typeface="Arial" charset="0"/>
              </a:rPr>
              <a:t>. Forecast variables (eg L) endogenous, structurals (eg A) exogenous</a:t>
            </a:r>
            <a:r>
              <a:rPr lang="en-US" sz="1400">
                <a:latin typeface="Arial" charset="0"/>
              </a:rPr>
              <a:t>.</a:t>
            </a:r>
          </a:p>
          <a:p>
            <a:pPr eaLnBrk="1" hangingPunct="1">
              <a:spcBef>
                <a:spcPct val="50000"/>
              </a:spcBef>
            </a:pPr>
            <a:endParaRPr lang="en-US">
              <a:latin typeface="Arial" charset="0"/>
            </a:endParaRPr>
          </a:p>
          <a:p>
            <a:pPr eaLnBrk="1" hangingPunct="1">
              <a:spcBef>
                <a:spcPct val="50000"/>
              </a:spcBef>
            </a:pPr>
            <a:endParaRPr lang="en-US">
              <a:latin typeface="Arial" charset="0"/>
            </a:endParaRPr>
          </a:p>
        </p:txBody>
      </p:sp>
      <p:sp>
        <p:nvSpPr>
          <p:cNvPr id="12" name="Freeform 10"/>
          <p:cNvSpPr>
            <a:spLocks/>
          </p:cNvSpPr>
          <p:nvPr/>
        </p:nvSpPr>
        <p:spPr bwMode="auto">
          <a:xfrm>
            <a:off x="2965450" y="1484313"/>
            <a:ext cx="4376738" cy="966787"/>
          </a:xfrm>
          <a:custGeom>
            <a:avLst/>
            <a:gdLst>
              <a:gd name="T0" fmla="*/ 0 w 2757"/>
              <a:gd name="T1" fmla="*/ 2147483647 h 609"/>
              <a:gd name="T2" fmla="*/ 2147483647 w 2757"/>
              <a:gd name="T3" fmla="*/ 2147483647 h 609"/>
              <a:gd name="T4" fmla="*/ 2147483647 w 2757"/>
              <a:gd name="T5" fmla="*/ 2147483647 h 609"/>
              <a:gd name="T6" fmla="*/ 2147483647 w 2757"/>
              <a:gd name="T7" fmla="*/ 2147483647 h 609"/>
              <a:gd name="T8" fmla="*/ 2147483647 w 2757"/>
              <a:gd name="T9" fmla="*/ 2147483647 h 609"/>
              <a:gd name="T10" fmla="*/ 2147483647 w 2757"/>
              <a:gd name="T11" fmla="*/ 2147483647 h 609"/>
              <a:gd name="T12" fmla="*/ 2147483647 w 2757"/>
              <a:gd name="T13" fmla="*/ 0 h 60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57" h="609">
                <a:moveTo>
                  <a:pt x="0" y="609"/>
                </a:moveTo>
                <a:cubicBezTo>
                  <a:pt x="61" y="585"/>
                  <a:pt x="195" y="500"/>
                  <a:pt x="363" y="467"/>
                </a:cubicBezTo>
                <a:cubicBezTo>
                  <a:pt x="531" y="434"/>
                  <a:pt x="836" y="447"/>
                  <a:pt x="1010" y="409"/>
                </a:cubicBezTo>
                <a:cubicBezTo>
                  <a:pt x="1184" y="371"/>
                  <a:pt x="1260" y="270"/>
                  <a:pt x="1406" y="237"/>
                </a:cubicBezTo>
                <a:cubicBezTo>
                  <a:pt x="1552" y="204"/>
                  <a:pt x="1761" y="233"/>
                  <a:pt x="1886" y="211"/>
                </a:cubicBezTo>
                <a:cubicBezTo>
                  <a:pt x="2011" y="189"/>
                  <a:pt x="2010" y="137"/>
                  <a:pt x="2155" y="102"/>
                </a:cubicBezTo>
                <a:cubicBezTo>
                  <a:pt x="2300" y="67"/>
                  <a:pt x="2632" y="21"/>
                  <a:pt x="2757" y="0"/>
                </a:cubicBezTo>
              </a:path>
            </a:pathLst>
          </a:custGeom>
          <a:noFill/>
          <a:ln w="12700">
            <a:solidFill>
              <a:srgbClr val="0000FF"/>
            </a:solidFill>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13" name="Freeform 18"/>
          <p:cNvSpPr>
            <a:spLocks/>
          </p:cNvSpPr>
          <p:nvPr/>
        </p:nvSpPr>
        <p:spPr bwMode="auto">
          <a:xfrm>
            <a:off x="2959100" y="1557338"/>
            <a:ext cx="4376738" cy="966787"/>
          </a:xfrm>
          <a:custGeom>
            <a:avLst/>
            <a:gdLst>
              <a:gd name="T0" fmla="*/ 0 w 2757"/>
              <a:gd name="T1" fmla="*/ 2147483647 h 609"/>
              <a:gd name="T2" fmla="*/ 2147483647 w 2757"/>
              <a:gd name="T3" fmla="*/ 2147483647 h 609"/>
              <a:gd name="T4" fmla="*/ 2147483647 w 2757"/>
              <a:gd name="T5" fmla="*/ 2147483647 h 609"/>
              <a:gd name="T6" fmla="*/ 2147483647 w 2757"/>
              <a:gd name="T7" fmla="*/ 2147483647 h 609"/>
              <a:gd name="T8" fmla="*/ 2147483647 w 2757"/>
              <a:gd name="T9" fmla="*/ 2147483647 h 609"/>
              <a:gd name="T10" fmla="*/ 2147483647 w 2757"/>
              <a:gd name="T11" fmla="*/ 2147483647 h 609"/>
              <a:gd name="T12" fmla="*/ 2147483647 w 2757"/>
              <a:gd name="T13" fmla="*/ 0 h 60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57" h="609">
                <a:moveTo>
                  <a:pt x="0" y="609"/>
                </a:moveTo>
                <a:cubicBezTo>
                  <a:pt x="61" y="585"/>
                  <a:pt x="195" y="500"/>
                  <a:pt x="363" y="467"/>
                </a:cubicBezTo>
                <a:cubicBezTo>
                  <a:pt x="531" y="434"/>
                  <a:pt x="836" y="447"/>
                  <a:pt x="1010" y="409"/>
                </a:cubicBezTo>
                <a:cubicBezTo>
                  <a:pt x="1184" y="371"/>
                  <a:pt x="1260" y="270"/>
                  <a:pt x="1406" y="237"/>
                </a:cubicBezTo>
                <a:cubicBezTo>
                  <a:pt x="1552" y="204"/>
                  <a:pt x="1761" y="233"/>
                  <a:pt x="1886" y="211"/>
                </a:cubicBezTo>
                <a:cubicBezTo>
                  <a:pt x="2011" y="189"/>
                  <a:pt x="2010" y="137"/>
                  <a:pt x="2155" y="102"/>
                </a:cubicBezTo>
                <a:cubicBezTo>
                  <a:pt x="2300" y="67"/>
                  <a:pt x="2632" y="21"/>
                  <a:pt x="2757" y="0"/>
                </a:cubicBezTo>
              </a:path>
            </a:pathLst>
          </a:custGeom>
          <a:noFill/>
          <a:ln w="12700">
            <a:solidFill>
              <a:srgbClr val="008000"/>
            </a:solidFill>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dissolve">
                                      <p:cBhvr>
                                        <p:cTn id="7" dur="500"/>
                                        <p:tgtEl>
                                          <p:spTgt spid="11">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1">
                                            <p:txEl>
                                              <p:pRg st="1" end="1"/>
                                            </p:txEl>
                                          </p:spTgt>
                                        </p:tgtEl>
                                        <p:attrNameLst>
                                          <p:attrName>style.visibility</p:attrName>
                                        </p:attrNameLst>
                                      </p:cBhvr>
                                      <p:to>
                                        <p:strVal val="visible"/>
                                      </p:to>
                                    </p:set>
                                    <p:animEffect transition="in" filter="dissolve">
                                      <p:cBhvr>
                                        <p:cTn id="10" dur="500"/>
                                        <p:tgtEl>
                                          <p:spTgt spid="11">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down)">
                                      <p:cBhvr>
                                        <p:cTn id="15" dur="500"/>
                                        <p:tgtEl>
                                          <p:spTgt spid="1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xit" presetSubtype="0" fill="hold" grpId="1" nodeType="clickEffect">
                                  <p:stCondLst>
                                    <p:cond delay="0"/>
                                  </p:stCondLst>
                                  <p:childTnLst>
                                    <p:animEffect transition="out" filter="dissolve">
                                      <p:cBhvr>
                                        <p:cTn id="19" dur="500"/>
                                        <p:tgtEl>
                                          <p:spTgt spid="12"/>
                                        </p:tgtEl>
                                      </p:cBhvr>
                                    </p:animEffect>
                                    <p:set>
                                      <p:cBhvr>
                                        <p:cTn id="20" dur="1" fill="hold">
                                          <p:stCondLst>
                                            <p:cond delay="499"/>
                                          </p:stCondLst>
                                        </p:cTn>
                                        <p:tgtEl>
                                          <p:spTgt spid="12"/>
                                        </p:tgtEl>
                                        <p:attrNameLst>
                                          <p:attrName>style.visibility</p:attrName>
                                        </p:attrNameLst>
                                      </p:cBhvr>
                                      <p:to>
                                        <p:strVal val="hidden"/>
                                      </p:to>
                                    </p:set>
                                  </p:childTnLst>
                                </p:cTn>
                              </p:par>
                              <p:par>
                                <p:cTn id="21" presetID="22" presetClass="entr" presetSubtype="4"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down)">
                                      <p:cBhvr>
                                        <p:cTn id="2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 grpId="1" animBg="1"/>
      <p:bldP spid="1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idx="4294967295"/>
          </p:nvPr>
        </p:nvSpPr>
        <p:spPr/>
        <p:txBody>
          <a:bodyPr/>
          <a:lstStyle/>
          <a:p>
            <a:r>
              <a:rPr lang="en-US" sz="3600"/>
              <a:t>Base, Base-rerun and Policy</a:t>
            </a:r>
          </a:p>
        </p:txBody>
      </p:sp>
      <p:sp>
        <p:nvSpPr>
          <p:cNvPr id="16387" name="Rectangle 3"/>
          <p:cNvSpPr>
            <a:spLocks noGrp="1" noChangeArrowheads="1"/>
          </p:cNvSpPr>
          <p:nvPr>
            <p:ph type="body" idx="4294967295"/>
          </p:nvPr>
        </p:nvSpPr>
        <p:spPr>
          <a:xfrm>
            <a:off x="457200" y="1381125"/>
            <a:ext cx="8229600" cy="4525963"/>
          </a:xfrm>
        </p:spPr>
        <p:txBody>
          <a:bodyPr/>
          <a:lstStyle/>
          <a:p>
            <a:pPr marL="355600" indent="-355600"/>
            <a:r>
              <a:rPr lang="en-US" sz="2800"/>
              <a:t>The </a:t>
            </a:r>
            <a:r>
              <a:rPr lang="en-US" sz="2800" u="sng"/>
              <a:t>Base Rerun</a:t>
            </a:r>
            <a:r>
              <a:rPr lang="en-US" sz="2800"/>
              <a:t> simulation reproduces all </a:t>
            </a:r>
            <a:r>
              <a:rPr lang="en-US" sz="2800" u="sng"/>
              <a:t>Base Run</a:t>
            </a:r>
            <a:r>
              <a:rPr lang="en-US" sz="2800"/>
              <a:t> values.</a:t>
            </a:r>
          </a:p>
          <a:p>
            <a:pPr marL="355600" indent="-355600"/>
            <a:endParaRPr lang="en-US" sz="2800"/>
          </a:p>
          <a:p>
            <a:pPr marL="355600" indent="-355600"/>
            <a:r>
              <a:rPr lang="en-US" sz="2800"/>
              <a:t>More importantly, structural features of the economy are again exogenous.</a:t>
            </a:r>
          </a:p>
          <a:p>
            <a:pPr marL="355600" indent="-355600"/>
            <a:endParaRPr lang="en-US" sz="2800"/>
          </a:p>
          <a:p>
            <a:pPr marL="355600" indent="-355600"/>
            <a:r>
              <a:rPr lang="en-US" sz="2800" u="sng"/>
              <a:t>Policy</a:t>
            </a:r>
            <a:r>
              <a:rPr lang="en-US" sz="2800"/>
              <a:t> simulation: All </a:t>
            </a:r>
            <a:r>
              <a:rPr lang="en-US" sz="2800" u="sng"/>
              <a:t>Base Rerun</a:t>
            </a:r>
            <a:r>
              <a:rPr lang="en-US" sz="2800"/>
              <a:t> shocks, </a:t>
            </a:r>
            <a:r>
              <a:rPr lang="en-US" sz="2800" b="1">
                <a:solidFill>
                  <a:srgbClr val="FF3300"/>
                </a:solidFill>
              </a:rPr>
              <a:t>plus</a:t>
            </a:r>
            <a:r>
              <a:rPr lang="en-US" sz="2800"/>
              <a:t> policy shocks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p:txBody>
          <a:bodyPr/>
          <a:lstStyle/>
          <a:p>
            <a:pPr eaLnBrk="1" hangingPunct="1"/>
            <a:r>
              <a:rPr lang="en-US" sz="4000"/>
              <a:t>Base, Rerun and Policy</a:t>
            </a:r>
          </a:p>
        </p:txBody>
      </p:sp>
      <p:sp>
        <p:nvSpPr>
          <p:cNvPr id="17411" name="Line 4"/>
          <p:cNvSpPr>
            <a:spLocks noChangeShapeType="1"/>
          </p:cNvSpPr>
          <p:nvPr/>
        </p:nvSpPr>
        <p:spPr bwMode="auto">
          <a:xfrm>
            <a:off x="971550" y="5589588"/>
            <a:ext cx="6913563"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17412" name="Line 5"/>
          <p:cNvSpPr>
            <a:spLocks noChangeShapeType="1"/>
          </p:cNvSpPr>
          <p:nvPr/>
        </p:nvSpPr>
        <p:spPr bwMode="auto">
          <a:xfrm flipV="1">
            <a:off x="3132138" y="1557338"/>
            <a:ext cx="0" cy="40322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17413" name="Text Box 6"/>
          <p:cNvSpPr txBox="1">
            <a:spLocks noChangeArrowheads="1"/>
          </p:cNvSpPr>
          <p:nvPr/>
        </p:nvSpPr>
        <p:spPr bwMode="auto">
          <a:xfrm>
            <a:off x="2981325" y="1239838"/>
            <a:ext cx="5699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a:t>L</a:t>
            </a:r>
          </a:p>
        </p:txBody>
      </p:sp>
      <p:sp>
        <p:nvSpPr>
          <p:cNvPr id="110600" name="Line 8"/>
          <p:cNvSpPr>
            <a:spLocks noChangeShapeType="1"/>
          </p:cNvSpPr>
          <p:nvPr/>
        </p:nvSpPr>
        <p:spPr bwMode="auto">
          <a:xfrm>
            <a:off x="3717925" y="5375275"/>
            <a:ext cx="11113" cy="427038"/>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110602" name="Freeform 10"/>
          <p:cNvSpPr>
            <a:spLocks/>
          </p:cNvSpPr>
          <p:nvPr/>
        </p:nvSpPr>
        <p:spPr bwMode="auto">
          <a:xfrm>
            <a:off x="3162300" y="2763838"/>
            <a:ext cx="4376738" cy="966787"/>
          </a:xfrm>
          <a:custGeom>
            <a:avLst/>
            <a:gdLst>
              <a:gd name="T0" fmla="*/ 0 w 2757"/>
              <a:gd name="T1" fmla="*/ 2147483647 h 609"/>
              <a:gd name="T2" fmla="*/ 2147483647 w 2757"/>
              <a:gd name="T3" fmla="*/ 2147483647 h 609"/>
              <a:gd name="T4" fmla="*/ 2147483647 w 2757"/>
              <a:gd name="T5" fmla="*/ 2147483647 h 609"/>
              <a:gd name="T6" fmla="*/ 2147483647 w 2757"/>
              <a:gd name="T7" fmla="*/ 2147483647 h 609"/>
              <a:gd name="T8" fmla="*/ 2147483647 w 2757"/>
              <a:gd name="T9" fmla="*/ 2147483647 h 609"/>
              <a:gd name="T10" fmla="*/ 2147483647 w 2757"/>
              <a:gd name="T11" fmla="*/ 2147483647 h 609"/>
              <a:gd name="T12" fmla="*/ 2147483647 w 2757"/>
              <a:gd name="T13" fmla="*/ 0 h 60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57" h="609">
                <a:moveTo>
                  <a:pt x="0" y="609"/>
                </a:moveTo>
                <a:cubicBezTo>
                  <a:pt x="61" y="585"/>
                  <a:pt x="195" y="500"/>
                  <a:pt x="363" y="467"/>
                </a:cubicBezTo>
                <a:cubicBezTo>
                  <a:pt x="531" y="434"/>
                  <a:pt x="836" y="447"/>
                  <a:pt x="1010" y="409"/>
                </a:cubicBezTo>
                <a:cubicBezTo>
                  <a:pt x="1184" y="371"/>
                  <a:pt x="1260" y="270"/>
                  <a:pt x="1406" y="237"/>
                </a:cubicBezTo>
                <a:cubicBezTo>
                  <a:pt x="1552" y="204"/>
                  <a:pt x="1761" y="233"/>
                  <a:pt x="1886" y="211"/>
                </a:cubicBezTo>
                <a:cubicBezTo>
                  <a:pt x="2011" y="189"/>
                  <a:pt x="2010" y="137"/>
                  <a:pt x="2155" y="102"/>
                </a:cubicBezTo>
                <a:cubicBezTo>
                  <a:pt x="2300" y="67"/>
                  <a:pt x="2632" y="21"/>
                  <a:pt x="2757" y="0"/>
                </a:cubicBezTo>
              </a:path>
            </a:pathLst>
          </a:custGeom>
          <a:noFill/>
          <a:ln w="12700">
            <a:solidFill>
              <a:srgbClr val="0000FF"/>
            </a:solidFill>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grpSp>
        <p:nvGrpSpPr>
          <p:cNvPr id="110614" name="Group 22"/>
          <p:cNvGrpSpPr>
            <a:grpSpLocks/>
          </p:cNvGrpSpPr>
          <p:nvPr/>
        </p:nvGrpSpPr>
        <p:grpSpPr bwMode="auto">
          <a:xfrm>
            <a:off x="4694238" y="2700338"/>
            <a:ext cx="3727450" cy="1706562"/>
            <a:chOff x="2957" y="1701"/>
            <a:chExt cx="2348" cy="1075"/>
          </a:xfrm>
        </p:grpSpPr>
        <p:sp>
          <p:nvSpPr>
            <p:cNvPr id="17424" name="Line 12"/>
            <p:cNvSpPr>
              <a:spLocks noChangeShapeType="1"/>
            </p:cNvSpPr>
            <p:nvPr/>
          </p:nvSpPr>
          <p:spPr bwMode="auto">
            <a:xfrm>
              <a:off x="3362" y="1701"/>
              <a:ext cx="0" cy="294"/>
            </a:xfrm>
            <a:prstGeom prst="line">
              <a:avLst/>
            </a:prstGeom>
            <a:noFill/>
            <a:ln w="9525">
              <a:solidFill>
                <a:srgbClr val="FF66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17425" name="Line 13"/>
            <p:cNvSpPr>
              <a:spLocks noChangeShapeType="1"/>
            </p:cNvSpPr>
            <p:nvPr/>
          </p:nvSpPr>
          <p:spPr bwMode="auto">
            <a:xfrm>
              <a:off x="3365" y="1901"/>
              <a:ext cx="950" cy="518"/>
            </a:xfrm>
            <a:prstGeom prst="line">
              <a:avLst/>
            </a:prstGeom>
            <a:noFill/>
            <a:ln w="9525">
              <a:solidFill>
                <a:srgbClr val="FF6600"/>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17426" name="Text Box 14"/>
            <p:cNvSpPr txBox="1">
              <a:spLocks noChangeArrowheads="1"/>
            </p:cNvSpPr>
            <p:nvPr/>
          </p:nvSpPr>
          <p:spPr bwMode="auto">
            <a:xfrm>
              <a:off x="2957" y="2410"/>
              <a:ext cx="2348"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sz="1600">
                  <a:solidFill>
                    <a:srgbClr val="FF9933"/>
                  </a:solidFill>
                </a:rPr>
                <a:t>Results reported as deviations from basecase</a:t>
              </a:r>
            </a:p>
          </p:txBody>
        </p:sp>
      </p:grpSp>
      <p:sp>
        <p:nvSpPr>
          <p:cNvPr id="110607" name="Text Box 15"/>
          <p:cNvSpPr txBox="1">
            <a:spLocks noChangeArrowheads="1"/>
          </p:cNvSpPr>
          <p:nvPr/>
        </p:nvSpPr>
        <p:spPr bwMode="auto">
          <a:xfrm>
            <a:off x="3687763" y="5151438"/>
            <a:ext cx="433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sz="1600">
                <a:solidFill>
                  <a:srgbClr val="FF0000"/>
                </a:solidFill>
              </a:rPr>
              <a:t>Once-off increase in productivity (A), 2013</a:t>
            </a:r>
          </a:p>
        </p:txBody>
      </p:sp>
      <p:sp>
        <p:nvSpPr>
          <p:cNvPr id="110608" name="Text Box 16"/>
          <p:cNvSpPr txBox="1">
            <a:spLocks noChangeArrowheads="1"/>
          </p:cNvSpPr>
          <p:nvPr/>
        </p:nvSpPr>
        <p:spPr bwMode="auto">
          <a:xfrm>
            <a:off x="677863" y="2066925"/>
            <a:ext cx="2447925" cy="3724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63525" indent="-263525"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sz="1400">
                <a:solidFill>
                  <a:srgbClr val="0000FF"/>
                </a:solidFill>
                <a:latin typeface="Arial" charset="0"/>
              </a:rPr>
              <a:t>1.	</a:t>
            </a:r>
            <a:r>
              <a:rPr lang="en-US" sz="1400" u="sng">
                <a:solidFill>
                  <a:srgbClr val="0000FF"/>
                </a:solidFill>
                <a:latin typeface="Arial" charset="0"/>
              </a:rPr>
              <a:t>Run Base</a:t>
            </a:r>
            <a:r>
              <a:rPr lang="en-US" sz="1400">
                <a:solidFill>
                  <a:srgbClr val="0000FF"/>
                </a:solidFill>
                <a:latin typeface="Arial" charset="0"/>
              </a:rPr>
              <a:t>. Forecast variables (eg L) exogenous, structurals (eg A) endogenous.</a:t>
            </a:r>
          </a:p>
          <a:p>
            <a:pPr eaLnBrk="1" hangingPunct="1">
              <a:spcBef>
                <a:spcPct val="50000"/>
              </a:spcBef>
            </a:pPr>
            <a:r>
              <a:rPr lang="en-US" sz="1400">
                <a:solidFill>
                  <a:srgbClr val="008000"/>
                </a:solidFill>
                <a:latin typeface="Arial" charset="0"/>
              </a:rPr>
              <a:t>2. 	</a:t>
            </a:r>
            <a:r>
              <a:rPr lang="en-US" sz="1400" u="sng">
                <a:solidFill>
                  <a:srgbClr val="008000"/>
                </a:solidFill>
                <a:latin typeface="Arial" charset="0"/>
              </a:rPr>
              <a:t>Rerun Base</a:t>
            </a:r>
            <a:r>
              <a:rPr lang="en-US" sz="1400">
                <a:solidFill>
                  <a:srgbClr val="008000"/>
                </a:solidFill>
                <a:latin typeface="Arial" charset="0"/>
              </a:rPr>
              <a:t>. Forecast variables (eg L) endogenous, structurals (eg A) exogenous</a:t>
            </a:r>
            <a:r>
              <a:rPr lang="en-US" sz="1400">
                <a:latin typeface="Arial" charset="0"/>
              </a:rPr>
              <a:t>.</a:t>
            </a:r>
          </a:p>
          <a:p>
            <a:pPr eaLnBrk="1" hangingPunct="1">
              <a:spcBef>
                <a:spcPct val="50000"/>
              </a:spcBef>
            </a:pPr>
            <a:r>
              <a:rPr lang="en-US" sz="1400">
                <a:solidFill>
                  <a:srgbClr val="FF0000"/>
                </a:solidFill>
                <a:latin typeface="Arial" charset="0"/>
              </a:rPr>
              <a:t>3.	</a:t>
            </a:r>
            <a:r>
              <a:rPr lang="en-US" sz="1400" u="sng">
                <a:solidFill>
                  <a:srgbClr val="FF0000"/>
                </a:solidFill>
                <a:latin typeface="Arial" charset="0"/>
              </a:rPr>
              <a:t>Run Policy</a:t>
            </a:r>
            <a:r>
              <a:rPr lang="en-US" sz="1400">
                <a:solidFill>
                  <a:srgbClr val="FF0000"/>
                </a:solidFill>
                <a:latin typeface="Arial" charset="0"/>
              </a:rPr>
              <a:t>. All structurals exogenous &amp; equal to Base/Basererun values + the policy shocks.</a:t>
            </a:r>
          </a:p>
          <a:p>
            <a:pPr eaLnBrk="1" hangingPunct="1">
              <a:spcBef>
                <a:spcPct val="50000"/>
              </a:spcBef>
              <a:buFontTx/>
              <a:buChar char="•"/>
            </a:pPr>
            <a:endParaRPr lang="en-US">
              <a:latin typeface="Arial" charset="0"/>
            </a:endParaRPr>
          </a:p>
          <a:p>
            <a:pPr eaLnBrk="1" hangingPunct="1">
              <a:spcBef>
                <a:spcPct val="50000"/>
              </a:spcBef>
            </a:pPr>
            <a:endParaRPr lang="en-US">
              <a:latin typeface="Arial" charset="0"/>
            </a:endParaRPr>
          </a:p>
        </p:txBody>
      </p:sp>
      <p:sp>
        <p:nvSpPr>
          <p:cNvPr id="110610" name="Freeform 18"/>
          <p:cNvSpPr>
            <a:spLocks/>
          </p:cNvSpPr>
          <p:nvPr/>
        </p:nvSpPr>
        <p:spPr bwMode="auto">
          <a:xfrm>
            <a:off x="3159125" y="2789238"/>
            <a:ext cx="4376738" cy="966787"/>
          </a:xfrm>
          <a:custGeom>
            <a:avLst/>
            <a:gdLst>
              <a:gd name="T0" fmla="*/ 0 w 2757"/>
              <a:gd name="T1" fmla="*/ 2147483647 h 609"/>
              <a:gd name="T2" fmla="*/ 2147483647 w 2757"/>
              <a:gd name="T3" fmla="*/ 2147483647 h 609"/>
              <a:gd name="T4" fmla="*/ 2147483647 w 2757"/>
              <a:gd name="T5" fmla="*/ 2147483647 h 609"/>
              <a:gd name="T6" fmla="*/ 2147483647 w 2757"/>
              <a:gd name="T7" fmla="*/ 2147483647 h 609"/>
              <a:gd name="T8" fmla="*/ 2147483647 w 2757"/>
              <a:gd name="T9" fmla="*/ 2147483647 h 609"/>
              <a:gd name="T10" fmla="*/ 2147483647 w 2757"/>
              <a:gd name="T11" fmla="*/ 2147483647 h 609"/>
              <a:gd name="T12" fmla="*/ 2147483647 w 2757"/>
              <a:gd name="T13" fmla="*/ 0 h 60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57" h="609">
                <a:moveTo>
                  <a:pt x="0" y="609"/>
                </a:moveTo>
                <a:cubicBezTo>
                  <a:pt x="61" y="585"/>
                  <a:pt x="195" y="500"/>
                  <a:pt x="363" y="467"/>
                </a:cubicBezTo>
                <a:cubicBezTo>
                  <a:pt x="531" y="434"/>
                  <a:pt x="836" y="447"/>
                  <a:pt x="1010" y="409"/>
                </a:cubicBezTo>
                <a:cubicBezTo>
                  <a:pt x="1184" y="371"/>
                  <a:pt x="1260" y="270"/>
                  <a:pt x="1406" y="237"/>
                </a:cubicBezTo>
                <a:cubicBezTo>
                  <a:pt x="1552" y="204"/>
                  <a:pt x="1761" y="233"/>
                  <a:pt x="1886" y="211"/>
                </a:cubicBezTo>
                <a:cubicBezTo>
                  <a:pt x="2011" y="189"/>
                  <a:pt x="2010" y="137"/>
                  <a:pt x="2155" y="102"/>
                </a:cubicBezTo>
                <a:cubicBezTo>
                  <a:pt x="2300" y="67"/>
                  <a:pt x="2632" y="21"/>
                  <a:pt x="2757" y="0"/>
                </a:cubicBezTo>
              </a:path>
            </a:pathLst>
          </a:custGeom>
          <a:noFill/>
          <a:ln w="12700">
            <a:solidFill>
              <a:srgbClr val="008000"/>
            </a:solidFill>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110611" name="Freeform 19"/>
          <p:cNvSpPr>
            <a:spLocks/>
          </p:cNvSpPr>
          <p:nvPr/>
        </p:nvSpPr>
        <p:spPr bwMode="auto">
          <a:xfrm>
            <a:off x="3149600" y="2316163"/>
            <a:ext cx="4338638" cy="1422400"/>
          </a:xfrm>
          <a:custGeom>
            <a:avLst/>
            <a:gdLst>
              <a:gd name="T0" fmla="*/ 0 w 2733"/>
              <a:gd name="T1" fmla="*/ 2147483647 h 896"/>
              <a:gd name="T2" fmla="*/ 2147483647 w 2733"/>
              <a:gd name="T3" fmla="*/ 2147483647 h 896"/>
              <a:gd name="T4" fmla="*/ 2147483647 w 2733"/>
              <a:gd name="T5" fmla="*/ 2147483647 h 896"/>
              <a:gd name="T6" fmla="*/ 2147483647 w 2733"/>
              <a:gd name="T7" fmla="*/ 2147483647 h 896"/>
              <a:gd name="T8" fmla="*/ 2147483647 w 2733"/>
              <a:gd name="T9" fmla="*/ 2147483647 h 896"/>
              <a:gd name="T10" fmla="*/ 2147483647 w 2733"/>
              <a:gd name="T11" fmla="*/ 2147483647 h 896"/>
              <a:gd name="T12" fmla="*/ 2147483647 w 2733"/>
              <a:gd name="T13" fmla="*/ 0 h 89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33" h="896">
                <a:moveTo>
                  <a:pt x="0" y="896"/>
                </a:moveTo>
                <a:cubicBezTo>
                  <a:pt x="62" y="870"/>
                  <a:pt x="200" y="819"/>
                  <a:pt x="369" y="738"/>
                </a:cubicBezTo>
                <a:cubicBezTo>
                  <a:pt x="538" y="657"/>
                  <a:pt x="843" y="491"/>
                  <a:pt x="1014" y="410"/>
                </a:cubicBezTo>
                <a:cubicBezTo>
                  <a:pt x="1185" y="329"/>
                  <a:pt x="1253" y="283"/>
                  <a:pt x="1398" y="250"/>
                </a:cubicBezTo>
                <a:cubicBezTo>
                  <a:pt x="1543" y="217"/>
                  <a:pt x="1760" y="234"/>
                  <a:pt x="1885" y="211"/>
                </a:cubicBezTo>
                <a:cubicBezTo>
                  <a:pt x="2010" y="188"/>
                  <a:pt x="2006" y="144"/>
                  <a:pt x="2147" y="109"/>
                </a:cubicBezTo>
                <a:cubicBezTo>
                  <a:pt x="2288" y="74"/>
                  <a:pt x="2611" y="23"/>
                  <a:pt x="2733" y="0"/>
                </a:cubicBezTo>
              </a:path>
            </a:pathLst>
          </a:custGeom>
          <a:noFill/>
          <a:ln w="12700">
            <a:solidFill>
              <a:srgbClr val="FF0000"/>
            </a:solidFill>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17421" name="Text Box 3"/>
          <p:cNvSpPr txBox="1">
            <a:spLocks noChangeArrowheads="1"/>
          </p:cNvSpPr>
          <p:nvPr/>
        </p:nvSpPr>
        <p:spPr bwMode="auto">
          <a:xfrm>
            <a:off x="7316788" y="5684838"/>
            <a:ext cx="704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AU" sz="1400" b="1"/>
              <a:t>2030</a:t>
            </a:r>
          </a:p>
        </p:txBody>
      </p:sp>
      <p:sp>
        <p:nvSpPr>
          <p:cNvPr id="17422" name="Text Box 3"/>
          <p:cNvSpPr txBox="1">
            <a:spLocks noChangeArrowheads="1"/>
          </p:cNvSpPr>
          <p:nvPr/>
        </p:nvSpPr>
        <p:spPr bwMode="auto">
          <a:xfrm>
            <a:off x="2846388" y="5657850"/>
            <a:ext cx="704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AU" sz="1400" b="1"/>
              <a:t>2006</a:t>
            </a:r>
          </a:p>
        </p:txBody>
      </p:sp>
      <p:sp>
        <p:nvSpPr>
          <p:cNvPr id="17423" name="Rectangle 17"/>
          <p:cNvSpPr>
            <a:spLocks noChangeArrowheads="1"/>
          </p:cNvSpPr>
          <p:nvPr/>
        </p:nvSpPr>
        <p:spPr bwMode="auto">
          <a:xfrm>
            <a:off x="677863" y="5886450"/>
            <a:ext cx="78549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a:t>Most policy simulations involve shocks to structural features of the economy</a:t>
            </a:r>
            <a:endParaRPr lang="en-AU" sz="2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10602"/>
                                        </p:tgtEl>
                                        <p:attrNameLst>
                                          <p:attrName>style.visibility</p:attrName>
                                        </p:attrNameLst>
                                      </p:cBhvr>
                                      <p:to>
                                        <p:strVal val="visible"/>
                                      </p:to>
                                    </p:set>
                                    <p:animEffect transition="in" filter="wipe(down)">
                                      <p:cBhvr>
                                        <p:cTn id="7" dur="500"/>
                                        <p:tgtEl>
                                          <p:spTgt spid="110602"/>
                                        </p:tgtEl>
                                      </p:cBhvr>
                                    </p:animEffect>
                                  </p:childTnLst>
                                </p:cTn>
                              </p:par>
                              <p:par>
                                <p:cTn id="8" presetID="9" presetClass="entr" presetSubtype="0" fill="hold" nodeType="withEffect">
                                  <p:stCondLst>
                                    <p:cond delay="0"/>
                                  </p:stCondLst>
                                  <p:childTnLst>
                                    <p:set>
                                      <p:cBhvr>
                                        <p:cTn id="9" dur="1" fill="hold">
                                          <p:stCondLst>
                                            <p:cond delay="0"/>
                                          </p:stCondLst>
                                        </p:cTn>
                                        <p:tgtEl>
                                          <p:spTgt spid="110608">
                                            <p:txEl>
                                              <p:pRg st="0" end="0"/>
                                            </p:txEl>
                                          </p:spTgt>
                                        </p:tgtEl>
                                        <p:attrNameLst>
                                          <p:attrName>style.visibility</p:attrName>
                                        </p:attrNameLst>
                                      </p:cBhvr>
                                      <p:to>
                                        <p:strVal val="visible"/>
                                      </p:to>
                                    </p:set>
                                    <p:animEffect transition="in" filter="dissolve">
                                      <p:cBhvr>
                                        <p:cTn id="10" dur="500"/>
                                        <p:tgtEl>
                                          <p:spTgt spid="110608">
                                            <p:txEl>
                                              <p:pRg st="0" end="0"/>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xit" presetSubtype="0" fill="hold" grpId="1" nodeType="clickEffect">
                                  <p:stCondLst>
                                    <p:cond delay="0"/>
                                  </p:stCondLst>
                                  <p:childTnLst>
                                    <p:animEffect transition="out" filter="dissolve">
                                      <p:cBhvr>
                                        <p:cTn id="14" dur="500"/>
                                        <p:tgtEl>
                                          <p:spTgt spid="110602"/>
                                        </p:tgtEl>
                                      </p:cBhvr>
                                    </p:animEffect>
                                    <p:set>
                                      <p:cBhvr>
                                        <p:cTn id="15" dur="1" fill="hold">
                                          <p:stCondLst>
                                            <p:cond delay="499"/>
                                          </p:stCondLst>
                                        </p:cTn>
                                        <p:tgtEl>
                                          <p:spTgt spid="110602"/>
                                        </p:tgtEl>
                                        <p:attrNameLst>
                                          <p:attrName>style.visibility</p:attrName>
                                        </p:attrNameLst>
                                      </p:cBhvr>
                                      <p:to>
                                        <p:strVal val="hidden"/>
                                      </p:to>
                                    </p:set>
                                  </p:childTnLst>
                                </p:cTn>
                              </p:par>
                              <p:par>
                                <p:cTn id="16" presetID="22" presetClass="entr" presetSubtype="4" fill="hold" grpId="0" nodeType="withEffect">
                                  <p:stCondLst>
                                    <p:cond delay="0"/>
                                  </p:stCondLst>
                                  <p:childTnLst>
                                    <p:set>
                                      <p:cBhvr>
                                        <p:cTn id="17" dur="1" fill="hold">
                                          <p:stCondLst>
                                            <p:cond delay="0"/>
                                          </p:stCondLst>
                                        </p:cTn>
                                        <p:tgtEl>
                                          <p:spTgt spid="110610"/>
                                        </p:tgtEl>
                                        <p:attrNameLst>
                                          <p:attrName>style.visibility</p:attrName>
                                        </p:attrNameLst>
                                      </p:cBhvr>
                                      <p:to>
                                        <p:strVal val="visible"/>
                                      </p:to>
                                    </p:set>
                                    <p:animEffect transition="in" filter="wipe(down)">
                                      <p:cBhvr>
                                        <p:cTn id="18" dur="500"/>
                                        <p:tgtEl>
                                          <p:spTgt spid="110610"/>
                                        </p:tgtEl>
                                      </p:cBhvr>
                                    </p:animEffect>
                                  </p:childTnLst>
                                </p:cTn>
                              </p:par>
                              <p:par>
                                <p:cTn id="19" presetID="9" presetClass="entr" presetSubtype="0" fill="hold" nodeType="withEffect">
                                  <p:stCondLst>
                                    <p:cond delay="0"/>
                                  </p:stCondLst>
                                  <p:childTnLst>
                                    <p:set>
                                      <p:cBhvr>
                                        <p:cTn id="20" dur="1" fill="hold">
                                          <p:stCondLst>
                                            <p:cond delay="0"/>
                                          </p:stCondLst>
                                        </p:cTn>
                                        <p:tgtEl>
                                          <p:spTgt spid="110608">
                                            <p:txEl>
                                              <p:pRg st="1" end="1"/>
                                            </p:txEl>
                                          </p:spTgt>
                                        </p:tgtEl>
                                        <p:attrNameLst>
                                          <p:attrName>style.visibility</p:attrName>
                                        </p:attrNameLst>
                                      </p:cBhvr>
                                      <p:to>
                                        <p:strVal val="visible"/>
                                      </p:to>
                                    </p:set>
                                    <p:animEffect transition="in" filter="dissolve">
                                      <p:cBhvr>
                                        <p:cTn id="21" dur="500"/>
                                        <p:tgtEl>
                                          <p:spTgt spid="110608">
                                            <p:txEl>
                                              <p:pRg st="1" end="1"/>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10607"/>
                                        </p:tgtEl>
                                        <p:attrNameLst>
                                          <p:attrName>style.visibility</p:attrName>
                                        </p:attrNameLst>
                                      </p:cBhvr>
                                      <p:to>
                                        <p:strVal val="visible"/>
                                      </p:to>
                                    </p:set>
                                    <p:animEffect transition="in" filter="dissolve">
                                      <p:cBhvr>
                                        <p:cTn id="26" dur="500"/>
                                        <p:tgtEl>
                                          <p:spTgt spid="110607"/>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110600"/>
                                        </p:tgtEl>
                                        <p:attrNameLst>
                                          <p:attrName>style.visibility</p:attrName>
                                        </p:attrNameLst>
                                      </p:cBhvr>
                                      <p:to>
                                        <p:strVal val="visible"/>
                                      </p:to>
                                    </p:set>
                                    <p:animEffect transition="in" filter="dissolve">
                                      <p:cBhvr>
                                        <p:cTn id="29" dur="500"/>
                                        <p:tgtEl>
                                          <p:spTgt spid="110600"/>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9" presetClass="entr" presetSubtype="0" fill="hold" nodeType="clickEffect">
                                  <p:stCondLst>
                                    <p:cond delay="0"/>
                                  </p:stCondLst>
                                  <p:childTnLst>
                                    <p:set>
                                      <p:cBhvr>
                                        <p:cTn id="33" dur="1" fill="hold">
                                          <p:stCondLst>
                                            <p:cond delay="0"/>
                                          </p:stCondLst>
                                        </p:cTn>
                                        <p:tgtEl>
                                          <p:spTgt spid="110608">
                                            <p:txEl>
                                              <p:pRg st="2" end="2"/>
                                            </p:txEl>
                                          </p:spTgt>
                                        </p:tgtEl>
                                        <p:attrNameLst>
                                          <p:attrName>style.visibility</p:attrName>
                                        </p:attrNameLst>
                                      </p:cBhvr>
                                      <p:to>
                                        <p:strVal val="visible"/>
                                      </p:to>
                                    </p:set>
                                    <p:animEffect transition="in" filter="dissolve">
                                      <p:cBhvr>
                                        <p:cTn id="34" dur="500"/>
                                        <p:tgtEl>
                                          <p:spTgt spid="110608">
                                            <p:txEl>
                                              <p:pRg st="2" end="2"/>
                                            </p:txEl>
                                          </p:spTgt>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110611"/>
                                        </p:tgtEl>
                                        <p:attrNameLst>
                                          <p:attrName>style.visibility</p:attrName>
                                        </p:attrNameLst>
                                      </p:cBhvr>
                                      <p:to>
                                        <p:strVal val="visible"/>
                                      </p:to>
                                    </p:set>
                                    <p:animEffect transition="in" filter="wipe(down)">
                                      <p:cBhvr>
                                        <p:cTn id="37" dur="500"/>
                                        <p:tgtEl>
                                          <p:spTgt spid="11061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nodeType="clickEffect">
                                  <p:stCondLst>
                                    <p:cond delay="0"/>
                                  </p:stCondLst>
                                  <p:childTnLst>
                                    <p:set>
                                      <p:cBhvr>
                                        <p:cTn id="41" dur="1" fill="hold">
                                          <p:stCondLst>
                                            <p:cond delay="0"/>
                                          </p:stCondLst>
                                        </p:cTn>
                                        <p:tgtEl>
                                          <p:spTgt spid="110614"/>
                                        </p:tgtEl>
                                        <p:attrNameLst>
                                          <p:attrName>style.visibility</p:attrName>
                                        </p:attrNameLst>
                                      </p:cBhvr>
                                      <p:to>
                                        <p:strVal val="visible"/>
                                      </p:to>
                                    </p:set>
                                    <p:animEffect transition="in" filter="wipe(down)">
                                      <p:cBhvr>
                                        <p:cTn id="42" dur="500"/>
                                        <p:tgtEl>
                                          <p:spTgt spid="1106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600" grpId="0" animBg="1"/>
      <p:bldP spid="110602" grpId="0" animBg="1"/>
      <p:bldP spid="110602" grpId="1" animBg="1"/>
      <p:bldP spid="110607" grpId="0"/>
      <p:bldP spid="110610" grpId="0" animBg="1"/>
      <p:bldP spid="11061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p:txBody>
          <a:bodyPr/>
          <a:lstStyle/>
          <a:p>
            <a:r>
              <a:rPr lang="en-US" sz="4000"/>
              <a:t>Deviation from basecase</a:t>
            </a:r>
          </a:p>
        </p:txBody>
      </p:sp>
      <p:sp>
        <p:nvSpPr>
          <p:cNvPr id="18435" name="Text Box 3"/>
          <p:cNvSpPr txBox="1">
            <a:spLocks noChangeArrowheads="1"/>
          </p:cNvSpPr>
          <p:nvPr/>
        </p:nvSpPr>
        <p:spPr bwMode="auto">
          <a:xfrm>
            <a:off x="2836863" y="5740400"/>
            <a:ext cx="704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AU" sz="1400" b="1"/>
              <a:t>2006</a:t>
            </a:r>
          </a:p>
        </p:txBody>
      </p:sp>
      <p:sp>
        <p:nvSpPr>
          <p:cNvPr id="18436" name="Line 4"/>
          <p:cNvSpPr>
            <a:spLocks noChangeShapeType="1"/>
          </p:cNvSpPr>
          <p:nvPr/>
        </p:nvSpPr>
        <p:spPr bwMode="auto">
          <a:xfrm>
            <a:off x="971550" y="5589588"/>
            <a:ext cx="6913563"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18437" name="Line 5"/>
          <p:cNvSpPr>
            <a:spLocks noChangeShapeType="1"/>
          </p:cNvSpPr>
          <p:nvPr/>
        </p:nvSpPr>
        <p:spPr bwMode="auto">
          <a:xfrm flipV="1">
            <a:off x="3132138" y="1557338"/>
            <a:ext cx="0" cy="40322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18438" name="Text Box 6"/>
          <p:cNvSpPr txBox="1">
            <a:spLocks noChangeArrowheads="1"/>
          </p:cNvSpPr>
          <p:nvPr/>
        </p:nvSpPr>
        <p:spPr bwMode="auto">
          <a:xfrm>
            <a:off x="1463675" y="1565275"/>
            <a:ext cx="18208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a:t>L (% deviation from basecase)</a:t>
            </a:r>
          </a:p>
        </p:txBody>
      </p:sp>
      <p:sp>
        <p:nvSpPr>
          <p:cNvPr id="116743" name="Line 7"/>
          <p:cNvSpPr>
            <a:spLocks noChangeShapeType="1"/>
          </p:cNvSpPr>
          <p:nvPr/>
        </p:nvSpPr>
        <p:spPr bwMode="auto">
          <a:xfrm>
            <a:off x="3717925" y="5375275"/>
            <a:ext cx="11113" cy="427038"/>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116748" name="Text Box 12"/>
          <p:cNvSpPr txBox="1">
            <a:spLocks noChangeArrowheads="1"/>
          </p:cNvSpPr>
          <p:nvPr/>
        </p:nvSpPr>
        <p:spPr bwMode="auto">
          <a:xfrm>
            <a:off x="4564063" y="4746625"/>
            <a:ext cx="37274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sz="1600">
                <a:solidFill>
                  <a:srgbClr val="FF9933"/>
                </a:solidFill>
              </a:rPr>
              <a:t>Results reported as deviations from basecase</a:t>
            </a:r>
          </a:p>
        </p:txBody>
      </p:sp>
      <p:sp>
        <p:nvSpPr>
          <p:cNvPr id="116753" name="Freeform 17"/>
          <p:cNvSpPr>
            <a:spLocks/>
          </p:cNvSpPr>
          <p:nvPr/>
        </p:nvSpPr>
        <p:spPr bwMode="auto">
          <a:xfrm>
            <a:off x="3119438" y="3954463"/>
            <a:ext cx="4664075" cy="1620837"/>
          </a:xfrm>
          <a:custGeom>
            <a:avLst/>
            <a:gdLst>
              <a:gd name="T0" fmla="*/ 0 w 2938"/>
              <a:gd name="T1" fmla="*/ 1603375 h 1021"/>
              <a:gd name="T2" fmla="*/ 355600 w 2938"/>
              <a:gd name="T3" fmla="*/ 1608137 h 1021"/>
              <a:gd name="T4" fmla="*/ 606425 w 2938"/>
              <a:gd name="T5" fmla="*/ 1600200 h 1021"/>
              <a:gd name="T6" fmla="*/ 739775 w 2938"/>
              <a:gd name="T7" fmla="*/ 1543050 h 1021"/>
              <a:gd name="T8" fmla="*/ 1052513 w 2938"/>
              <a:gd name="T9" fmla="*/ 1135062 h 1021"/>
              <a:gd name="T10" fmla="*/ 1760538 w 2938"/>
              <a:gd name="T11" fmla="*/ 168275 h 1021"/>
              <a:gd name="T12" fmla="*/ 4664075 w 2938"/>
              <a:gd name="T13" fmla="*/ 125412 h 10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938" h="1021">
                <a:moveTo>
                  <a:pt x="0" y="1010"/>
                </a:moveTo>
                <a:cubicBezTo>
                  <a:pt x="37" y="1011"/>
                  <a:pt x="160" y="1013"/>
                  <a:pt x="224" y="1013"/>
                </a:cubicBezTo>
                <a:cubicBezTo>
                  <a:pt x="288" y="1013"/>
                  <a:pt x="342" y="1015"/>
                  <a:pt x="382" y="1008"/>
                </a:cubicBezTo>
                <a:cubicBezTo>
                  <a:pt x="422" y="1001"/>
                  <a:pt x="419" y="1021"/>
                  <a:pt x="466" y="972"/>
                </a:cubicBezTo>
                <a:cubicBezTo>
                  <a:pt x="513" y="923"/>
                  <a:pt x="556" y="859"/>
                  <a:pt x="663" y="715"/>
                </a:cubicBezTo>
                <a:cubicBezTo>
                  <a:pt x="770" y="571"/>
                  <a:pt x="730" y="212"/>
                  <a:pt x="1109" y="106"/>
                </a:cubicBezTo>
                <a:cubicBezTo>
                  <a:pt x="1488" y="0"/>
                  <a:pt x="2557" y="85"/>
                  <a:pt x="2938" y="79"/>
                </a:cubicBezTo>
              </a:path>
            </a:pathLst>
          </a:custGeom>
          <a:noFill/>
          <a:ln w="38100" cap="flat" cmpd="sng">
            <a:solidFill>
              <a:srgbClr val="FF6600"/>
            </a:solidFill>
            <a:prstDash val="solid"/>
            <a:round/>
            <a:headEn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d-ID"/>
          </a:p>
        </p:txBody>
      </p:sp>
      <p:sp>
        <p:nvSpPr>
          <p:cNvPr id="116755" name="Text Box 19"/>
          <p:cNvSpPr txBox="1">
            <a:spLocks noChangeArrowheads="1"/>
          </p:cNvSpPr>
          <p:nvPr/>
        </p:nvSpPr>
        <p:spPr bwMode="auto">
          <a:xfrm>
            <a:off x="3698875" y="5710238"/>
            <a:ext cx="433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sz="1600">
                <a:solidFill>
                  <a:srgbClr val="FF0000"/>
                </a:solidFill>
              </a:rPr>
              <a:t>Once-off increase in productivity (A), 2013</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6755"/>
                                        </p:tgtEl>
                                        <p:attrNameLst>
                                          <p:attrName>style.visibility</p:attrName>
                                        </p:attrNameLst>
                                      </p:cBhvr>
                                      <p:to>
                                        <p:strVal val="visible"/>
                                      </p:to>
                                    </p:set>
                                    <p:animEffect transition="in" filter="dissolve">
                                      <p:cBhvr>
                                        <p:cTn id="7" dur="500"/>
                                        <p:tgtEl>
                                          <p:spTgt spid="11675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16743"/>
                                        </p:tgtEl>
                                        <p:attrNameLst>
                                          <p:attrName>style.visibility</p:attrName>
                                        </p:attrNameLst>
                                      </p:cBhvr>
                                      <p:to>
                                        <p:strVal val="visible"/>
                                      </p:to>
                                    </p:set>
                                    <p:animEffect transition="in" filter="dissolve">
                                      <p:cBhvr>
                                        <p:cTn id="10" dur="500"/>
                                        <p:tgtEl>
                                          <p:spTgt spid="11674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16753"/>
                                        </p:tgtEl>
                                        <p:attrNameLst>
                                          <p:attrName>style.visibility</p:attrName>
                                        </p:attrNameLst>
                                      </p:cBhvr>
                                      <p:to>
                                        <p:strVal val="visible"/>
                                      </p:to>
                                    </p:set>
                                    <p:animEffect transition="in" filter="wipe(left)">
                                      <p:cBhvr>
                                        <p:cTn id="15" dur="500"/>
                                        <p:tgtEl>
                                          <p:spTgt spid="116753"/>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16748"/>
                                        </p:tgtEl>
                                        <p:attrNameLst>
                                          <p:attrName>style.visibility</p:attrName>
                                        </p:attrNameLst>
                                      </p:cBhvr>
                                      <p:to>
                                        <p:strVal val="visible"/>
                                      </p:to>
                                    </p:set>
                                    <p:animEffect transition="in" filter="dissolve">
                                      <p:cBhvr>
                                        <p:cTn id="18" dur="500"/>
                                        <p:tgtEl>
                                          <p:spTgt spid="1167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43" grpId="0" animBg="1"/>
      <p:bldP spid="116748" grpId="0"/>
      <p:bldP spid="116753" grpId="0" animBg="1"/>
      <p:bldP spid="11675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idx="4294967295"/>
          </p:nvPr>
        </p:nvSpPr>
        <p:spPr/>
        <p:txBody>
          <a:bodyPr/>
          <a:lstStyle/>
          <a:p>
            <a:r>
              <a:rPr lang="en-US" sz="3600"/>
              <a:t>Wages &amp; employment in Policy Sim</a:t>
            </a:r>
          </a:p>
        </p:txBody>
      </p:sp>
      <p:sp>
        <p:nvSpPr>
          <p:cNvPr id="19459" name="Rectangle 3"/>
          <p:cNvSpPr>
            <a:spLocks noGrp="1" noChangeArrowheads="1"/>
          </p:cNvSpPr>
          <p:nvPr>
            <p:ph type="body" idx="4294967295"/>
          </p:nvPr>
        </p:nvSpPr>
        <p:spPr>
          <a:xfrm>
            <a:off x="457200" y="1381125"/>
            <a:ext cx="8229600" cy="4525963"/>
          </a:xfrm>
        </p:spPr>
        <p:txBody>
          <a:bodyPr/>
          <a:lstStyle/>
          <a:p>
            <a:pPr marL="355600" indent="-355600"/>
            <a:r>
              <a:rPr lang="en-US" sz="2800"/>
              <a:t>We do not believe that employment will be permanently higher as a result of a shock.</a:t>
            </a:r>
          </a:p>
          <a:p>
            <a:pPr marL="355600" indent="-355600"/>
            <a:endParaRPr lang="en-US" sz="2800"/>
          </a:p>
          <a:p>
            <a:pPr marL="355600" indent="-355600"/>
            <a:r>
              <a:rPr lang="en-US" sz="2800"/>
              <a:t>Comparative statics: short-run rigid real wages, employment adjusts. Long run fixed NAIRU, wages adjust. </a:t>
            </a:r>
          </a:p>
          <a:p>
            <a:pPr marL="355600" indent="-355600"/>
            <a:endParaRPr lang="en-US" sz="2800"/>
          </a:p>
          <a:p>
            <a:pPr marL="355600" indent="-355600"/>
            <a:r>
              <a:rPr lang="en-US" sz="2800"/>
              <a:t>TERM adopts a wage adjustment mechanism where wages sticky in short-run, but fully flexible in the long-run.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p:txBody>
          <a:bodyPr/>
          <a:lstStyle/>
          <a:p>
            <a:r>
              <a:rPr lang="en-US" sz="3600"/>
              <a:t>Employment returns to NAIRU</a:t>
            </a:r>
          </a:p>
        </p:txBody>
      </p:sp>
      <p:sp>
        <p:nvSpPr>
          <p:cNvPr id="20483" name="Text Box 3"/>
          <p:cNvSpPr txBox="1">
            <a:spLocks noChangeArrowheads="1"/>
          </p:cNvSpPr>
          <p:nvPr/>
        </p:nvSpPr>
        <p:spPr bwMode="auto">
          <a:xfrm>
            <a:off x="2836863" y="5740400"/>
            <a:ext cx="704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AU" sz="1400" b="1"/>
              <a:t>2006</a:t>
            </a:r>
          </a:p>
        </p:txBody>
      </p:sp>
      <p:sp>
        <p:nvSpPr>
          <p:cNvPr id="20484" name="Line 4"/>
          <p:cNvSpPr>
            <a:spLocks noChangeShapeType="1"/>
          </p:cNvSpPr>
          <p:nvPr/>
        </p:nvSpPr>
        <p:spPr bwMode="auto">
          <a:xfrm>
            <a:off x="971550" y="5589588"/>
            <a:ext cx="6913563"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20485" name="Line 5"/>
          <p:cNvSpPr>
            <a:spLocks noChangeShapeType="1"/>
          </p:cNvSpPr>
          <p:nvPr/>
        </p:nvSpPr>
        <p:spPr bwMode="auto">
          <a:xfrm flipV="1">
            <a:off x="3132138" y="1557338"/>
            <a:ext cx="0" cy="40322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20486" name="Text Box 6"/>
          <p:cNvSpPr txBox="1">
            <a:spLocks noChangeArrowheads="1"/>
          </p:cNvSpPr>
          <p:nvPr/>
        </p:nvSpPr>
        <p:spPr bwMode="auto">
          <a:xfrm>
            <a:off x="2981325" y="1239838"/>
            <a:ext cx="5699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a:t>L</a:t>
            </a:r>
          </a:p>
        </p:txBody>
      </p:sp>
      <p:sp>
        <p:nvSpPr>
          <p:cNvPr id="20487" name="Line 11"/>
          <p:cNvSpPr>
            <a:spLocks noChangeShapeType="1"/>
          </p:cNvSpPr>
          <p:nvPr/>
        </p:nvSpPr>
        <p:spPr bwMode="auto">
          <a:xfrm flipH="1" flipV="1">
            <a:off x="4424363" y="2117725"/>
            <a:ext cx="355600" cy="819150"/>
          </a:xfrm>
          <a:prstGeom prst="line">
            <a:avLst/>
          </a:prstGeom>
          <a:noFill/>
          <a:ln w="9525">
            <a:solidFill>
              <a:srgbClr val="FF0000"/>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20488" name="Text Box 13"/>
          <p:cNvSpPr txBox="1">
            <a:spLocks noChangeArrowheads="1"/>
          </p:cNvSpPr>
          <p:nvPr/>
        </p:nvSpPr>
        <p:spPr bwMode="auto">
          <a:xfrm>
            <a:off x="3500438" y="1846263"/>
            <a:ext cx="2949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sz="1600">
                <a:solidFill>
                  <a:srgbClr val="FF0000"/>
                </a:solidFill>
              </a:rPr>
              <a:t>Policy path for employment</a:t>
            </a:r>
          </a:p>
        </p:txBody>
      </p:sp>
      <p:sp>
        <p:nvSpPr>
          <p:cNvPr id="20489" name="Freeform 15"/>
          <p:cNvSpPr>
            <a:spLocks/>
          </p:cNvSpPr>
          <p:nvPr/>
        </p:nvSpPr>
        <p:spPr bwMode="auto">
          <a:xfrm>
            <a:off x="3159125" y="2770188"/>
            <a:ext cx="4376738" cy="966787"/>
          </a:xfrm>
          <a:custGeom>
            <a:avLst/>
            <a:gdLst>
              <a:gd name="T0" fmla="*/ 0 w 2757"/>
              <a:gd name="T1" fmla="*/ 966787 h 609"/>
              <a:gd name="T2" fmla="*/ 576263 w 2757"/>
              <a:gd name="T3" fmla="*/ 741362 h 609"/>
              <a:gd name="T4" fmla="*/ 1603375 w 2757"/>
              <a:gd name="T5" fmla="*/ 649287 h 609"/>
              <a:gd name="T6" fmla="*/ 2232025 w 2757"/>
              <a:gd name="T7" fmla="*/ 376237 h 609"/>
              <a:gd name="T8" fmla="*/ 2994025 w 2757"/>
              <a:gd name="T9" fmla="*/ 334962 h 609"/>
              <a:gd name="T10" fmla="*/ 3421063 w 2757"/>
              <a:gd name="T11" fmla="*/ 161925 h 609"/>
              <a:gd name="T12" fmla="*/ 4376738 w 2757"/>
              <a:gd name="T13" fmla="*/ 0 h 60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57" h="609">
                <a:moveTo>
                  <a:pt x="0" y="609"/>
                </a:moveTo>
                <a:cubicBezTo>
                  <a:pt x="61" y="585"/>
                  <a:pt x="195" y="500"/>
                  <a:pt x="363" y="467"/>
                </a:cubicBezTo>
                <a:cubicBezTo>
                  <a:pt x="531" y="434"/>
                  <a:pt x="836" y="447"/>
                  <a:pt x="1010" y="409"/>
                </a:cubicBezTo>
                <a:cubicBezTo>
                  <a:pt x="1184" y="371"/>
                  <a:pt x="1260" y="270"/>
                  <a:pt x="1406" y="237"/>
                </a:cubicBezTo>
                <a:cubicBezTo>
                  <a:pt x="1552" y="204"/>
                  <a:pt x="1761" y="233"/>
                  <a:pt x="1886" y="211"/>
                </a:cubicBezTo>
                <a:cubicBezTo>
                  <a:pt x="2011" y="189"/>
                  <a:pt x="2010" y="137"/>
                  <a:pt x="2155" y="102"/>
                </a:cubicBezTo>
                <a:cubicBezTo>
                  <a:pt x="2300" y="67"/>
                  <a:pt x="2632" y="21"/>
                  <a:pt x="2757" y="0"/>
                </a:cubicBezTo>
              </a:path>
            </a:pathLst>
          </a:custGeom>
          <a:noFill/>
          <a:ln w="12700">
            <a:solidFill>
              <a:srgbClr val="008000"/>
            </a:solidFill>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20490" name="Freeform 16"/>
          <p:cNvSpPr>
            <a:spLocks/>
          </p:cNvSpPr>
          <p:nvPr/>
        </p:nvSpPr>
        <p:spPr bwMode="auto">
          <a:xfrm>
            <a:off x="3149600" y="2890838"/>
            <a:ext cx="3235325" cy="847725"/>
          </a:xfrm>
          <a:custGeom>
            <a:avLst/>
            <a:gdLst>
              <a:gd name="T0" fmla="*/ 0 w 2038"/>
              <a:gd name="T1" fmla="*/ 847725 h 534"/>
              <a:gd name="T2" fmla="*/ 585788 w 2038"/>
              <a:gd name="T3" fmla="*/ 596900 h 534"/>
              <a:gd name="T4" fmla="*/ 1609725 w 2038"/>
              <a:gd name="T5" fmla="*/ 76200 h 534"/>
              <a:gd name="T6" fmla="*/ 2268538 w 2038"/>
              <a:gd name="T7" fmla="*/ 141288 h 534"/>
              <a:gd name="T8" fmla="*/ 2930525 w 2038"/>
              <a:gd name="T9" fmla="*/ 203200 h 534"/>
              <a:gd name="T10" fmla="*/ 3235325 w 2038"/>
              <a:gd name="T11" fmla="*/ 107950 h 5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38" h="534">
                <a:moveTo>
                  <a:pt x="0" y="534"/>
                </a:moveTo>
                <a:cubicBezTo>
                  <a:pt x="62" y="508"/>
                  <a:pt x="200" y="457"/>
                  <a:pt x="369" y="376"/>
                </a:cubicBezTo>
                <a:cubicBezTo>
                  <a:pt x="538" y="295"/>
                  <a:pt x="837" y="96"/>
                  <a:pt x="1014" y="48"/>
                </a:cubicBezTo>
                <a:cubicBezTo>
                  <a:pt x="1191" y="0"/>
                  <a:pt x="1290" y="76"/>
                  <a:pt x="1429" y="89"/>
                </a:cubicBezTo>
                <a:cubicBezTo>
                  <a:pt x="1568" y="102"/>
                  <a:pt x="1745" y="131"/>
                  <a:pt x="1846" y="128"/>
                </a:cubicBezTo>
                <a:cubicBezTo>
                  <a:pt x="1947" y="125"/>
                  <a:pt x="1998" y="80"/>
                  <a:pt x="2038" y="68"/>
                </a:cubicBezTo>
              </a:path>
            </a:pathLst>
          </a:custGeom>
          <a:noFill/>
          <a:ln w="12700">
            <a:solidFill>
              <a:srgbClr val="FF0000"/>
            </a:solidFill>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20491" name="Text Box 17"/>
          <p:cNvSpPr txBox="1">
            <a:spLocks noChangeArrowheads="1"/>
          </p:cNvSpPr>
          <p:nvPr/>
        </p:nvSpPr>
        <p:spPr bwMode="auto">
          <a:xfrm>
            <a:off x="4243388" y="3597275"/>
            <a:ext cx="35480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sz="1600">
                <a:solidFill>
                  <a:srgbClr val="008000"/>
                </a:solidFill>
              </a:rPr>
              <a:t>Base rerun employment path</a:t>
            </a:r>
          </a:p>
        </p:txBody>
      </p:sp>
      <p:sp>
        <p:nvSpPr>
          <p:cNvPr id="20492" name="Line 18"/>
          <p:cNvSpPr>
            <a:spLocks noChangeShapeType="1"/>
          </p:cNvSpPr>
          <p:nvPr/>
        </p:nvSpPr>
        <p:spPr bwMode="auto">
          <a:xfrm>
            <a:off x="5102225" y="3292475"/>
            <a:ext cx="523875" cy="423863"/>
          </a:xfrm>
          <a:prstGeom prst="line">
            <a:avLst/>
          </a:prstGeom>
          <a:noFill/>
          <a:ln w="9525">
            <a:solidFill>
              <a:srgbClr val="008000"/>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idx="4294967295"/>
          </p:nvPr>
        </p:nvSpPr>
        <p:spPr/>
        <p:txBody>
          <a:bodyPr/>
          <a:lstStyle/>
          <a:p>
            <a:r>
              <a:rPr lang="en-US" sz="3600"/>
              <a:t>% deviation from basecase</a:t>
            </a:r>
          </a:p>
        </p:txBody>
      </p:sp>
      <p:sp>
        <p:nvSpPr>
          <p:cNvPr id="21507" name="Text Box 3"/>
          <p:cNvSpPr txBox="1">
            <a:spLocks noChangeArrowheads="1"/>
          </p:cNvSpPr>
          <p:nvPr/>
        </p:nvSpPr>
        <p:spPr bwMode="auto">
          <a:xfrm>
            <a:off x="2836863" y="5740400"/>
            <a:ext cx="704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AU" sz="1400" b="1"/>
              <a:t>2006</a:t>
            </a:r>
          </a:p>
        </p:txBody>
      </p:sp>
      <p:sp>
        <p:nvSpPr>
          <p:cNvPr id="21508" name="Line 4"/>
          <p:cNvSpPr>
            <a:spLocks noChangeShapeType="1"/>
          </p:cNvSpPr>
          <p:nvPr/>
        </p:nvSpPr>
        <p:spPr bwMode="auto">
          <a:xfrm>
            <a:off x="971550" y="5589588"/>
            <a:ext cx="6913563"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21509" name="Line 5"/>
          <p:cNvSpPr>
            <a:spLocks noChangeShapeType="1"/>
          </p:cNvSpPr>
          <p:nvPr/>
        </p:nvSpPr>
        <p:spPr bwMode="auto">
          <a:xfrm flipV="1">
            <a:off x="3132138" y="1557338"/>
            <a:ext cx="0" cy="40322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21510" name="Text Box 6"/>
          <p:cNvSpPr txBox="1">
            <a:spLocks noChangeArrowheads="1"/>
          </p:cNvSpPr>
          <p:nvPr/>
        </p:nvSpPr>
        <p:spPr bwMode="auto">
          <a:xfrm>
            <a:off x="1169988" y="1822450"/>
            <a:ext cx="1820862" cy="923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a:t>L and W              (% deviations from basecase)</a:t>
            </a:r>
          </a:p>
        </p:txBody>
      </p:sp>
      <p:sp>
        <p:nvSpPr>
          <p:cNvPr id="21511" name="Line 7"/>
          <p:cNvSpPr>
            <a:spLocks noChangeShapeType="1"/>
          </p:cNvSpPr>
          <p:nvPr/>
        </p:nvSpPr>
        <p:spPr bwMode="auto">
          <a:xfrm>
            <a:off x="3717925" y="5375275"/>
            <a:ext cx="11113" cy="427038"/>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21512" name="Freeform 9"/>
          <p:cNvSpPr>
            <a:spLocks/>
          </p:cNvSpPr>
          <p:nvPr/>
        </p:nvSpPr>
        <p:spPr bwMode="auto">
          <a:xfrm>
            <a:off x="3119438" y="4621213"/>
            <a:ext cx="4652962" cy="1019175"/>
          </a:xfrm>
          <a:custGeom>
            <a:avLst/>
            <a:gdLst>
              <a:gd name="T0" fmla="*/ 0 w 2931"/>
              <a:gd name="T1" fmla="*/ 936625 h 642"/>
              <a:gd name="T2" fmla="*/ 355600 w 2931"/>
              <a:gd name="T3" fmla="*/ 941388 h 642"/>
              <a:gd name="T4" fmla="*/ 606425 w 2931"/>
              <a:gd name="T5" fmla="*/ 933450 h 642"/>
              <a:gd name="T6" fmla="*/ 739775 w 2931"/>
              <a:gd name="T7" fmla="*/ 876300 h 642"/>
              <a:gd name="T8" fmla="*/ 1652587 w 2931"/>
              <a:gd name="T9" fmla="*/ 79375 h 642"/>
              <a:gd name="T10" fmla="*/ 2414587 w 2931"/>
              <a:gd name="T11" fmla="*/ 396875 h 642"/>
              <a:gd name="T12" fmla="*/ 3316287 w 2931"/>
              <a:gd name="T13" fmla="*/ 782638 h 642"/>
              <a:gd name="T14" fmla="*/ 4652962 w 2931"/>
              <a:gd name="T15" fmla="*/ 923925 h 64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931" h="642">
                <a:moveTo>
                  <a:pt x="0" y="590"/>
                </a:moveTo>
                <a:cubicBezTo>
                  <a:pt x="37" y="591"/>
                  <a:pt x="160" y="593"/>
                  <a:pt x="224" y="593"/>
                </a:cubicBezTo>
                <a:cubicBezTo>
                  <a:pt x="288" y="593"/>
                  <a:pt x="342" y="595"/>
                  <a:pt x="382" y="588"/>
                </a:cubicBezTo>
                <a:cubicBezTo>
                  <a:pt x="422" y="581"/>
                  <a:pt x="356" y="642"/>
                  <a:pt x="466" y="552"/>
                </a:cubicBezTo>
                <a:cubicBezTo>
                  <a:pt x="576" y="462"/>
                  <a:pt x="865" y="100"/>
                  <a:pt x="1041" y="50"/>
                </a:cubicBezTo>
                <a:cubicBezTo>
                  <a:pt x="1217" y="0"/>
                  <a:pt x="1346" y="176"/>
                  <a:pt x="1521" y="250"/>
                </a:cubicBezTo>
                <a:cubicBezTo>
                  <a:pt x="1696" y="324"/>
                  <a:pt x="1854" y="438"/>
                  <a:pt x="2089" y="493"/>
                </a:cubicBezTo>
                <a:cubicBezTo>
                  <a:pt x="2324" y="548"/>
                  <a:pt x="2756" y="563"/>
                  <a:pt x="2931" y="582"/>
                </a:cubicBezTo>
              </a:path>
            </a:pathLst>
          </a:custGeom>
          <a:noFill/>
          <a:ln w="38100" cap="flat" cmpd="sng">
            <a:solidFill>
              <a:srgbClr val="FF6600"/>
            </a:solidFill>
            <a:prstDash val="solid"/>
            <a:round/>
            <a:headEn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d-ID"/>
          </a:p>
        </p:txBody>
      </p:sp>
      <p:sp>
        <p:nvSpPr>
          <p:cNvPr id="21513" name="Text Box 10"/>
          <p:cNvSpPr txBox="1">
            <a:spLocks noChangeArrowheads="1"/>
          </p:cNvSpPr>
          <p:nvPr/>
        </p:nvSpPr>
        <p:spPr bwMode="auto">
          <a:xfrm>
            <a:off x="3698875" y="5710238"/>
            <a:ext cx="433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sz="1600">
                <a:solidFill>
                  <a:srgbClr val="FF0000"/>
                </a:solidFill>
              </a:rPr>
              <a:t>Once-off increase in productivity (A), 2013</a:t>
            </a:r>
          </a:p>
        </p:txBody>
      </p:sp>
      <p:sp>
        <p:nvSpPr>
          <p:cNvPr id="21514" name="Freeform 11"/>
          <p:cNvSpPr>
            <a:spLocks/>
          </p:cNvSpPr>
          <p:nvPr/>
        </p:nvSpPr>
        <p:spPr bwMode="auto">
          <a:xfrm>
            <a:off x="3740150" y="3857625"/>
            <a:ext cx="4125913" cy="1676400"/>
          </a:xfrm>
          <a:custGeom>
            <a:avLst/>
            <a:gdLst>
              <a:gd name="T0" fmla="*/ 0 w 2599"/>
              <a:gd name="T1" fmla="*/ 1676400 h 1056"/>
              <a:gd name="T2" fmla="*/ 527050 w 2599"/>
              <a:gd name="T3" fmla="*/ 749300 h 1056"/>
              <a:gd name="T4" fmla="*/ 1241425 w 2599"/>
              <a:gd name="T5" fmla="*/ 350838 h 1056"/>
              <a:gd name="T6" fmla="*/ 2085975 w 2599"/>
              <a:gd name="T7" fmla="*/ 174625 h 1056"/>
              <a:gd name="T8" fmla="*/ 2976563 w 2599"/>
              <a:gd name="T9" fmla="*/ 80963 h 1056"/>
              <a:gd name="T10" fmla="*/ 4125913 w 2599"/>
              <a:gd name="T11" fmla="*/ 0 h 10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99" h="1056">
                <a:moveTo>
                  <a:pt x="0" y="1056"/>
                </a:moveTo>
                <a:cubicBezTo>
                  <a:pt x="55" y="959"/>
                  <a:pt x="202" y="611"/>
                  <a:pt x="332" y="472"/>
                </a:cubicBezTo>
                <a:cubicBezTo>
                  <a:pt x="462" y="333"/>
                  <a:pt x="618" y="281"/>
                  <a:pt x="782" y="221"/>
                </a:cubicBezTo>
                <a:cubicBezTo>
                  <a:pt x="946" y="161"/>
                  <a:pt x="1132" y="138"/>
                  <a:pt x="1314" y="110"/>
                </a:cubicBezTo>
                <a:cubicBezTo>
                  <a:pt x="1496" y="82"/>
                  <a:pt x="1661" y="69"/>
                  <a:pt x="1875" y="51"/>
                </a:cubicBezTo>
                <a:cubicBezTo>
                  <a:pt x="2089" y="33"/>
                  <a:pt x="2448" y="11"/>
                  <a:pt x="2599" y="0"/>
                </a:cubicBezTo>
              </a:path>
            </a:pathLst>
          </a:custGeom>
          <a:noFill/>
          <a:ln w="38100" cap="flat" cmpd="sng">
            <a:solidFill>
              <a:srgbClr val="0000FF"/>
            </a:solidFill>
            <a:prstDash val="solid"/>
            <a:round/>
            <a:headEn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d-ID"/>
          </a:p>
        </p:txBody>
      </p:sp>
      <p:sp>
        <p:nvSpPr>
          <p:cNvPr id="21515" name="Text Box 12"/>
          <p:cNvSpPr txBox="1">
            <a:spLocks noChangeArrowheads="1"/>
          </p:cNvSpPr>
          <p:nvPr/>
        </p:nvSpPr>
        <p:spPr bwMode="auto">
          <a:xfrm>
            <a:off x="3648075" y="2649538"/>
            <a:ext cx="20431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a:solidFill>
                  <a:srgbClr val="0000FF"/>
                </a:solidFill>
              </a:rPr>
              <a:t>W rises so long as L is above NAIRU</a:t>
            </a:r>
          </a:p>
        </p:txBody>
      </p:sp>
      <p:sp>
        <p:nvSpPr>
          <p:cNvPr id="21516" name="Line 13"/>
          <p:cNvSpPr>
            <a:spLocks noChangeShapeType="1"/>
          </p:cNvSpPr>
          <p:nvPr/>
        </p:nvSpPr>
        <p:spPr bwMode="auto">
          <a:xfrm>
            <a:off x="4748213" y="3246438"/>
            <a:ext cx="714375" cy="750887"/>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d-ID"/>
          </a:p>
        </p:txBody>
      </p:sp>
      <p:sp>
        <p:nvSpPr>
          <p:cNvPr id="21517" name="Text Box 14"/>
          <p:cNvSpPr txBox="1">
            <a:spLocks noChangeArrowheads="1"/>
          </p:cNvSpPr>
          <p:nvPr/>
        </p:nvSpPr>
        <p:spPr bwMode="auto">
          <a:xfrm>
            <a:off x="6735763" y="4518025"/>
            <a:ext cx="204311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a:solidFill>
                  <a:srgbClr val="FF9900"/>
                </a:solidFill>
              </a:rPr>
              <a:t>L returns to NAIRU (basecase) value</a:t>
            </a:r>
          </a:p>
        </p:txBody>
      </p:sp>
      <p:sp>
        <p:nvSpPr>
          <p:cNvPr id="21518" name="Line 15"/>
          <p:cNvSpPr>
            <a:spLocks noChangeShapeType="1"/>
          </p:cNvSpPr>
          <p:nvPr/>
        </p:nvSpPr>
        <p:spPr bwMode="auto">
          <a:xfrm flipH="1">
            <a:off x="6089650" y="4929188"/>
            <a:ext cx="611188" cy="317500"/>
          </a:xfrm>
          <a:prstGeom prst="line">
            <a:avLst/>
          </a:prstGeom>
          <a:noFill/>
          <a:ln w="9525">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d-ID"/>
          </a:p>
        </p:txBody>
      </p:sp>
    </p:spTree>
  </p:cSld>
  <p:clrMapOvr>
    <a:masterClrMapping/>
  </p:clrMapOvr>
</p:sld>
</file>

<file path=ppt/theme/theme1.xml><?xml version="1.0" encoding="utf-8"?>
<a:theme xmlns:a="http://schemas.openxmlformats.org/drawingml/2006/main" name="Office Theme">
  <a:themeElements>
    <a:clrScheme name="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Theme">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4642</TotalTime>
  <Words>1493</Words>
  <Application>Microsoft Office PowerPoint</Application>
  <PresentationFormat>On-screen Show (4:3)</PresentationFormat>
  <Paragraphs>302</Paragraphs>
  <Slides>29</Slides>
  <Notes>8</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29</vt:i4>
      </vt:variant>
    </vt:vector>
  </HeadingPairs>
  <TitlesOfParts>
    <vt:vector size="38" baseType="lpstr">
      <vt:lpstr>Arial</vt:lpstr>
      <vt:lpstr>Calibri</vt:lpstr>
      <vt:lpstr>Consolas</vt:lpstr>
      <vt:lpstr>Symbol</vt:lpstr>
      <vt:lpstr>Tahoma</vt:lpstr>
      <vt:lpstr>Times New Roman</vt:lpstr>
      <vt:lpstr>Wingdings</vt:lpstr>
      <vt:lpstr>Office Theme</vt:lpstr>
      <vt:lpstr>Picture</vt:lpstr>
      <vt:lpstr>The dynamic equations of IndoTERM By Mark Horridge (CoPS)</vt:lpstr>
      <vt:lpstr>Capital accumulation </vt:lpstr>
      <vt:lpstr>Capital accumulation </vt:lpstr>
      <vt:lpstr>Capital accumulation </vt:lpstr>
      <vt:lpstr>What drives investment ? </vt:lpstr>
      <vt:lpstr>Logistic curve for investor caution </vt:lpstr>
      <vt:lpstr>Expected rate of return</vt:lpstr>
      <vt:lpstr>Investment in the TAB file</vt:lpstr>
      <vt:lpstr>Wage adjustment equation </vt:lpstr>
      <vt:lpstr>Forecasting and policy analysis By Louise Roose (CoPS)</vt:lpstr>
      <vt:lpstr>Before the lecture….</vt:lpstr>
      <vt:lpstr>Dynamic modelling with IndoTERM</vt:lpstr>
      <vt:lpstr>Base, Rerun and Policy</vt:lpstr>
      <vt:lpstr>Why forecast?</vt:lpstr>
      <vt:lpstr>Baseline simulation design for IndoTERM</vt:lpstr>
      <vt:lpstr>Baseline simulation design</vt:lpstr>
      <vt:lpstr>Baseline simulation design</vt:lpstr>
      <vt:lpstr>Baseline simulation design</vt:lpstr>
      <vt:lpstr>Baseline simulation design</vt:lpstr>
      <vt:lpstr>Baseline simulation:  25 years of 6% real GDP growth</vt:lpstr>
      <vt:lpstr>Baseline simulation:  Sector growth</vt:lpstr>
      <vt:lpstr>PowerPoint Presentation</vt:lpstr>
      <vt:lpstr>Base Rerun</vt:lpstr>
      <vt:lpstr>Base, Base-rerun and Policy</vt:lpstr>
      <vt:lpstr>Base, Rerun and Policy</vt:lpstr>
      <vt:lpstr>Deviation from basecase</vt:lpstr>
      <vt:lpstr>Wages &amp; employment in Policy Sim</vt:lpstr>
      <vt:lpstr>Employment returns to NAIRU</vt:lpstr>
      <vt:lpstr>% deviation from basecase</vt:lpstr>
    </vt:vector>
  </TitlesOfParts>
  <Company>Monash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Exercise 1:  New coal mine in Kalimantan (static TERM)</dc:title>
  <dc:creator>Louise Roos</dc:creator>
  <cp:lastModifiedBy>Arief Yusuf</cp:lastModifiedBy>
  <cp:revision>34</cp:revision>
  <cp:lastPrinted>2013-08-11T06:21:43Z</cp:lastPrinted>
  <dcterms:created xsi:type="dcterms:W3CDTF">2013-07-15T00:33:48Z</dcterms:created>
  <dcterms:modified xsi:type="dcterms:W3CDTF">2020-03-11T04:52:37Z</dcterms:modified>
</cp:coreProperties>
</file>