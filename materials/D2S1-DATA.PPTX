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doc" ContentType="application/msword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8" r:id="rId2"/>
    <p:sldId id="270" r:id="rId3"/>
    <p:sldId id="271" r:id="rId4"/>
    <p:sldId id="28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4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</p:sldIdLst>
  <p:sldSz cx="9144000" cy="6858000" type="screen4x3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4" autoAdjust="0"/>
    <p:restoredTop sz="94660"/>
  </p:normalViewPr>
  <p:slideViewPr>
    <p:cSldViewPr>
      <p:cViewPr varScale="1">
        <p:scale>
          <a:sx n="64" d="100"/>
          <a:sy n="64" d="100"/>
        </p:scale>
        <p:origin x="-141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1BD25C89-E581-4743-AC0A-9FFA9E63B5E2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E5CCEFD2-CE58-49E1-8030-54C577A0BE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547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21F2-8210-4FF9-AF95-E1EF2106428E}" type="datetimeFigureOut">
              <a:rPr lang="en-US" smtClean="0"/>
              <a:pPr/>
              <a:t>4/5/2015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Document1.doc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Microsoft_Office_Word_97_-_2003_Document2.doc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Microsoft_Office_Word_97_-_2003_Document3.doc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Microsoft_Office_Word_97_-_2003_Document4.doc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Microsoft_Office_Word_97_-_2003_Document5.doc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Microsoft_Office_Word_97_-_2003_Document6.doc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IndoTERM</a:t>
            </a:r>
            <a:r>
              <a:rPr lang="en-US" dirty="0" smtClean="0"/>
              <a:t> Database Structure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6169570"/>
            <a:ext cx="127195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67010" y="6098630"/>
            <a:ext cx="6667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609600"/>
            <a:ext cx="7357853" cy="551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t="11804" r="73451" b="59867"/>
          <a:stretch>
            <a:fillRect/>
          </a:stretch>
        </p:blipFill>
        <p:spPr bwMode="auto">
          <a:xfrm>
            <a:off x="3786182" y="928670"/>
            <a:ext cx="357190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ight Arrow 9"/>
          <p:cNvSpPr/>
          <p:nvPr/>
        </p:nvSpPr>
        <p:spPr>
          <a:xfrm>
            <a:off x="3000364" y="185736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7158" y="1214422"/>
            <a:ext cx="2357454" cy="15716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21429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r="73786" b="61842"/>
          <a:stretch>
            <a:fillRect/>
          </a:stretch>
        </p:blipFill>
        <p:spPr bwMode="auto">
          <a:xfrm>
            <a:off x="4000495" y="714356"/>
            <a:ext cx="3076511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00364" y="185736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5720" y="285728"/>
            <a:ext cx="2428892" cy="23574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42852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t="13554" r="73786" b="47597"/>
          <a:stretch>
            <a:fillRect/>
          </a:stretch>
        </p:blipFill>
        <p:spPr bwMode="auto">
          <a:xfrm>
            <a:off x="4357686" y="857232"/>
            <a:ext cx="2893239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71802" y="257174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7158" y="1071546"/>
            <a:ext cx="2214578" cy="23574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t="11655" r="73786" b="36546"/>
          <a:stretch>
            <a:fillRect/>
          </a:stretch>
        </p:blipFill>
        <p:spPr bwMode="auto">
          <a:xfrm>
            <a:off x="4536317" y="857232"/>
            <a:ext cx="289320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71802" y="3357562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1214422"/>
            <a:ext cx="1857388" cy="30718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r="73786" b="29467"/>
          <a:stretch>
            <a:fillRect/>
          </a:stretch>
        </p:blipFill>
        <p:spPr bwMode="auto">
          <a:xfrm>
            <a:off x="4572000" y="357166"/>
            <a:ext cx="2920357" cy="589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156845">
            <a:off x="2714612" y="4286256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428604"/>
            <a:ext cx="1785950" cy="40719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-971" t="64058" r="73786"/>
          <a:stretch>
            <a:fillRect/>
          </a:stretch>
        </p:blipFill>
        <p:spPr bwMode="auto">
          <a:xfrm>
            <a:off x="3714744" y="1357298"/>
            <a:ext cx="3081281" cy="3054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9986053">
            <a:off x="2531790" y="3714855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00034" y="4286256"/>
            <a:ext cx="1643074" cy="18573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971" t="75712" r="59222"/>
          <a:stretch>
            <a:fillRect/>
          </a:stretch>
        </p:blipFill>
        <p:spPr bwMode="auto">
          <a:xfrm>
            <a:off x="1928794" y="1785926"/>
            <a:ext cx="5583797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9746424">
            <a:off x="2109545" y="4513820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4786322"/>
            <a:ext cx="1571636" cy="15716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t="13554" r="40775" b="61842"/>
          <a:stretch>
            <a:fillRect/>
          </a:stretch>
        </p:blipFill>
        <p:spPr bwMode="auto">
          <a:xfrm>
            <a:off x="785786" y="2714620"/>
            <a:ext cx="7568627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 rot="2237997">
            <a:off x="5686579" y="195827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00034" y="1214422"/>
            <a:ext cx="5143536" cy="1357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39807" t="12259" r="40775" b="35942"/>
          <a:stretch>
            <a:fillRect/>
          </a:stretch>
        </p:blipFill>
        <p:spPr bwMode="auto">
          <a:xfrm>
            <a:off x="6000760" y="714356"/>
            <a:ext cx="235745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5072066" y="257174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857620" y="1214422"/>
            <a:ext cx="1143008" cy="30003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42852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ight Arrow 5"/>
          <p:cNvSpPr/>
          <p:nvPr/>
        </p:nvSpPr>
        <p:spPr>
          <a:xfrm rot="19636026">
            <a:off x="3040359" y="2947464"/>
            <a:ext cx="785818" cy="642942"/>
          </a:xfrm>
          <a:prstGeom prst="rightArrow">
            <a:avLst>
              <a:gd name="adj1" fmla="val 50000"/>
              <a:gd name="adj2" fmla="val 51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357422" y="1142984"/>
            <a:ext cx="3500462" cy="52149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5243" t="36863" r="40775"/>
          <a:stretch>
            <a:fillRect/>
          </a:stretch>
        </p:blipFill>
        <p:spPr bwMode="auto">
          <a:xfrm>
            <a:off x="3571868" y="428604"/>
            <a:ext cx="4000528" cy="557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649CD26A-134A-4571-BD72-4E7DB9C96AAC}" type="slidenum">
              <a:rPr lang="en-US" sz="1400">
                <a:latin typeface="Times New Roman" pitchFamily="18" charset="0"/>
              </a:rPr>
              <a:pPr algn="r"/>
              <a:t>14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>
            <a:normAutofit fontScale="90000"/>
          </a:bodyPr>
          <a:lstStyle/>
          <a:p>
            <a:r>
              <a:rPr lang="en-AU" sz="3600" dirty="0">
                <a:latin typeface="Tahoma" pitchFamily="34" charset="0"/>
              </a:rPr>
              <a:t>Building a TERM </a:t>
            </a:r>
            <a:r>
              <a:rPr lang="en-AU" sz="3600" dirty="0" smtClean="0">
                <a:latin typeface="Tahoma" pitchFamily="34" charset="0"/>
              </a:rPr>
              <a:t>database</a:t>
            </a:r>
            <a:r>
              <a:rPr lang="id-ID" sz="3600" dirty="0" smtClean="0">
                <a:latin typeface="Tahoma" pitchFamily="34" charset="0"/>
              </a:rPr>
              <a:t/>
            </a:r>
            <a:br>
              <a:rPr lang="id-ID" sz="3600" dirty="0" smtClean="0">
                <a:latin typeface="Tahoma" pitchFamily="34" charset="0"/>
              </a:rPr>
            </a:br>
            <a:r>
              <a:rPr lang="id-ID" sz="2700" dirty="0" smtClean="0">
                <a:latin typeface="Tahoma" pitchFamily="34" charset="0"/>
              </a:rPr>
              <a:t>By Mark Horridge (CoPS)</a:t>
            </a:r>
            <a:endParaRPr lang="en-US" sz="2700" dirty="0"/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82600" y="1019175"/>
            <a:ext cx="81153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800">
                <a:solidFill>
                  <a:srgbClr val="CC3300"/>
                </a:solidFill>
                <a:latin typeface="Arial" charset="0"/>
              </a:rPr>
              <a:t>Highly simplified account</a:t>
            </a:r>
            <a:endParaRPr lang="en-AU" sz="2800">
              <a:latin typeface="Arial" charset="0"/>
            </a:endParaRP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There is NEVER enough regional data: we need to make some up.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Plausible assumptions are better than just giving up.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Simulations are best way to find out data problems, so we need to get to the simulation stage fast.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After simulating, we can seek to improve the database.</a:t>
            </a:r>
            <a:endParaRPr lang="en-AU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5164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A09269B2-C256-4D85-9711-868319E4FEE5}" type="slidenum">
              <a:rPr lang="en-US" sz="1400">
                <a:latin typeface="Times New Roman" pitchFamily="18" charset="0"/>
              </a:rPr>
              <a:pPr algn="r"/>
              <a:t>15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Starting point: National USE table</a:t>
            </a:r>
            <a:endParaRPr lang="en-US" sz="3200"/>
          </a:p>
        </p:txBody>
      </p:sp>
      <p:graphicFrame>
        <p:nvGraphicFramePr>
          <p:cNvPr id="197636" name="Object 3"/>
          <p:cNvGraphicFramePr>
            <a:graphicFrameLocks noChangeAspect="1"/>
          </p:cNvGraphicFramePr>
          <p:nvPr/>
        </p:nvGraphicFramePr>
        <p:xfrm>
          <a:off x="355600" y="1028700"/>
          <a:ext cx="11376025" cy="6883400"/>
        </p:xfrm>
        <a:graphic>
          <a:graphicData uri="http://schemas.openxmlformats.org/presentationml/2006/ole">
            <p:oleObj spid="_x0000_s7170" name="Document" r:id="rId4" imgW="8759952" imgH="5297424" progId="Word.Document.8">
              <p:embed/>
            </p:oleObj>
          </a:graphicData>
        </a:graphic>
      </p:graphicFrame>
      <p:sp>
        <p:nvSpPr>
          <p:cNvPr id="197637" name="Text Box 4"/>
          <p:cNvSpPr txBox="1">
            <a:spLocks noChangeArrowheads="1"/>
          </p:cNvSpPr>
          <p:nvPr/>
        </p:nvSpPr>
        <p:spPr bwMode="auto">
          <a:xfrm>
            <a:off x="482600" y="5715000"/>
            <a:ext cx="6078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000" b="1">
                <a:latin typeface="Arial" charset="0"/>
              </a:rPr>
              <a:t>We need to split each column between R regions</a:t>
            </a:r>
            <a:endParaRPr lang="en-AU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927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F11A5AFB-DBBD-4946-A833-44EBB4CD10E2}" type="slidenum">
              <a:rPr lang="en-US" sz="1400">
                <a:latin typeface="Times New Roman" pitchFamily="18" charset="0"/>
              </a:rPr>
              <a:pPr algn="r"/>
              <a:t>16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86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industry columns</a:t>
            </a:r>
            <a:endParaRPr lang="en-US" sz="3200"/>
          </a:p>
        </p:txBody>
      </p:sp>
      <p:graphicFrame>
        <p:nvGraphicFramePr>
          <p:cNvPr id="198660" name="Object 3"/>
          <p:cNvGraphicFramePr>
            <a:graphicFrameLocks noChangeAspect="1"/>
          </p:cNvGraphicFramePr>
          <p:nvPr/>
        </p:nvGraphicFramePr>
        <p:xfrm>
          <a:off x="3949700" y="533400"/>
          <a:ext cx="6999288" cy="4235450"/>
        </p:xfrm>
        <a:graphic>
          <a:graphicData uri="http://schemas.openxmlformats.org/presentationml/2006/ole">
            <p:oleObj spid="_x0000_s8194" name="Document" r:id="rId4" imgW="8759952" imgH="5297424" progId="Word.Document.8">
              <p:embed/>
            </p:oleObj>
          </a:graphicData>
        </a:graphic>
      </p:graphicFrame>
      <p:sp>
        <p:nvSpPr>
          <p:cNvPr id="198661" name="Text Box 4"/>
          <p:cNvSpPr txBox="1">
            <a:spLocks noChangeArrowheads="1"/>
          </p:cNvSpPr>
          <p:nvPr/>
        </p:nvSpPr>
        <p:spPr bwMode="auto">
          <a:xfrm>
            <a:off x="165100" y="3276600"/>
            <a:ext cx="8907463" cy="346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More plausible if the sectors are very detailed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Grape-growing is same everywhere, but "Agriculture" is not.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Sometimes we can do better: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in one region, Electricity uses Uranium; in another, Coal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A variety of sources for the Shr(i,r) 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often the fall-back source is a employment survey</a:t>
            </a: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>
              <a:latin typeface="Arial" charset="0"/>
            </a:endParaRPr>
          </a:p>
        </p:txBody>
      </p:sp>
      <p:sp>
        <p:nvSpPr>
          <p:cNvPr id="198662" name="TextBox 1"/>
          <p:cNvSpPr txBox="1">
            <a:spLocks noChangeArrowheads="1"/>
          </p:cNvSpPr>
          <p:nvPr/>
        </p:nvSpPr>
        <p:spPr bwMode="auto">
          <a:xfrm>
            <a:off x="165100" y="647700"/>
            <a:ext cx="37846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Suppose we knew production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then use these to uniformly split columns: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the "same technology everywhere" method.</a:t>
            </a:r>
          </a:p>
        </p:txBody>
      </p:sp>
    </p:spTree>
    <p:extLst>
      <p:ext uri="{BB962C8B-B14F-4D97-AF65-F5344CB8AC3E}">
        <p14:creationId xmlns:p14="http://schemas.microsoft.com/office/powerpoint/2010/main" xmlns="" val="15902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511F6292-BF08-4AD3-BE9C-4A23B14D5964}" type="slidenum">
              <a:rPr lang="en-US" sz="1400">
                <a:latin typeface="Times New Roman" pitchFamily="18" charset="0"/>
              </a:rPr>
              <a:pPr algn="r"/>
              <a:t>17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household and Gov columns</a:t>
            </a:r>
            <a:endParaRPr lang="en-US" sz="3200"/>
          </a:p>
        </p:txBody>
      </p:sp>
      <p:graphicFrame>
        <p:nvGraphicFramePr>
          <p:cNvPr id="199684" name="Object 3"/>
          <p:cNvGraphicFramePr>
            <a:graphicFrameLocks noChangeAspect="1"/>
          </p:cNvGraphicFramePr>
          <p:nvPr/>
        </p:nvGraphicFramePr>
        <p:xfrm>
          <a:off x="88900" y="482600"/>
          <a:ext cx="6999288" cy="4235450"/>
        </p:xfrm>
        <a:graphic>
          <a:graphicData uri="http://schemas.openxmlformats.org/presentationml/2006/ole">
            <p:oleObj spid="_x0000_s9218" name="Document" r:id="rId4" imgW="8759952" imgH="5297424" progId="Word.Document.8">
              <p:embed/>
            </p:oleObj>
          </a:graphicData>
        </a:graphic>
      </p:graphicFrame>
      <p:sp>
        <p:nvSpPr>
          <p:cNvPr id="199685" name="Text Box 4"/>
          <p:cNvSpPr txBox="1">
            <a:spLocks noChangeArrowheads="1"/>
          </p:cNvSpPr>
          <p:nvPr/>
        </p:nvSpPr>
        <p:spPr bwMode="auto">
          <a:xfrm>
            <a:off x="165100" y="3340100"/>
            <a:ext cx="8907463" cy="339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6096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After splitting industry columns, we know factor GDP by region.</a:t>
            </a:r>
          </a:p>
          <a:p>
            <a:pPr algn="l">
              <a:buFontTx/>
              <a:buChar char="•"/>
            </a:pPr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If no other data, GDP shares could be used to split C and G.</a:t>
            </a:r>
          </a:p>
          <a:p>
            <a:pPr algn="l">
              <a:buFontTx/>
              <a:buChar char="•"/>
            </a:pPr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But we may have: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household survey data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state or provincial accounts, listing main macro aggregates by region</a:t>
            </a:r>
          </a:p>
        </p:txBody>
      </p:sp>
    </p:spTree>
    <p:extLst>
      <p:ext uri="{BB962C8B-B14F-4D97-AF65-F5344CB8AC3E}">
        <p14:creationId xmlns:p14="http://schemas.microsoft.com/office/powerpoint/2010/main" xmlns="" val="39071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C6AA78DD-08C1-446F-B7C7-CFEEFC6C8A68}" type="slidenum">
              <a:rPr lang="en-US" sz="1400">
                <a:latin typeface="Times New Roman" pitchFamily="18" charset="0"/>
              </a:rPr>
              <a:pPr algn="r"/>
              <a:t>18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investment columns</a:t>
            </a:r>
            <a:endParaRPr lang="en-US" sz="3200"/>
          </a:p>
        </p:txBody>
      </p:sp>
      <p:graphicFrame>
        <p:nvGraphicFramePr>
          <p:cNvPr id="200708" name="Object 3"/>
          <p:cNvGraphicFramePr>
            <a:graphicFrameLocks noChangeAspect="1"/>
          </p:cNvGraphicFramePr>
          <p:nvPr/>
        </p:nvGraphicFramePr>
        <p:xfrm>
          <a:off x="3822700" y="495300"/>
          <a:ext cx="6999288" cy="4235450"/>
        </p:xfrm>
        <a:graphic>
          <a:graphicData uri="http://schemas.openxmlformats.org/presentationml/2006/ole">
            <p:oleObj spid="_x0000_s10242" name="Document" r:id="rId4" imgW="8759952" imgH="5297424" progId="Word.Document.8">
              <p:embed/>
            </p:oleObj>
          </a:graphicData>
        </a:graphic>
      </p:graphicFrame>
      <p:sp>
        <p:nvSpPr>
          <p:cNvPr id="200709" name="Text Box 4"/>
          <p:cNvSpPr txBox="1">
            <a:spLocks noChangeArrowheads="1"/>
          </p:cNvSpPr>
          <p:nvPr/>
        </p:nvSpPr>
        <p:spPr bwMode="auto">
          <a:xfrm>
            <a:off x="0" y="3486150"/>
            <a:ext cx="9072563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To do this, getting INVEST(COM,IND, REG)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sum this over IND to get INVEST_I(COM,REG)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Then sum over REG to get INVEST_IR(COM)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then compute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Q(COM,REG)= INVEST_I(COM,REG)/ INVEST_IR(COM) which may be used to split investment columns of USE and TAX </a:t>
            </a:r>
          </a:p>
          <a:p>
            <a:pPr algn="l"/>
            <a:endParaRPr lang="en-AU" sz="1800" b="1">
              <a:latin typeface="Arial" charset="0"/>
            </a:endParaRPr>
          </a:p>
        </p:txBody>
      </p:sp>
      <p:sp>
        <p:nvSpPr>
          <p:cNvPr id="200710" name="TextBox 1"/>
          <p:cNvSpPr txBox="1">
            <a:spLocks noChangeArrowheads="1"/>
          </p:cNvSpPr>
          <p:nvPr/>
        </p:nvSpPr>
        <p:spPr bwMode="auto">
          <a:xfrm>
            <a:off x="0" y="673100"/>
            <a:ext cx="3810000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need to split the satellite matrix: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INVEST(COM,IND) = value of investment at purchasers prices.</a:t>
            </a:r>
          </a:p>
          <a:p>
            <a:pPr lvl="1" algn="l">
              <a:buFontTx/>
              <a:buChar char="•"/>
            </a:pPr>
            <a:endParaRPr lang="en-AU" sz="18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Usually we use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</p:txBody>
      </p:sp>
    </p:spTree>
    <p:extLst>
      <p:ext uri="{BB962C8B-B14F-4D97-AF65-F5344CB8AC3E}">
        <p14:creationId xmlns:p14="http://schemas.microsoft.com/office/powerpoint/2010/main" xmlns="" val="180525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E404273D-18FB-4F67-B4F7-1279C57F51B3}" type="slidenum">
              <a:rPr lang="en-US" sz="1400">
                <a:latin typeface="Times New Roman" pitchFamily="18" charset="0"/>
              </a:rPr>
              <a:pPr algn="r"/>
              <a:t>19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the export column</a:t>
            </a:r>
            <a:endParaRPr lang="en-US" sz="3200"/>
          </a:p>
        </p:txBody>
      </p:sp>
      <p:graphicFrame>
        <p:nvGraphicFramePr>
          <p:cNvPr id="201732" name="Object 3"/>
          <p:cNvGraphicFramePr>
            <a:graphicFrameLocks noChangeAspect="1"/>
          </p:cNvGraphicFramePr>
          <p:nvPr/>
        </p:nvGraphicFramePr>
        <p:xfrm>
          <a:off x="3848100" y="495300"/>
          <a:ext cx="6999288" cy="4235450"/>
        </p:xfrm>
        <a:graphic>
          <a:graphicData uri="http://schemas.openxmlformats.org/presentationml/2006/ole">
            <p:oleObj spid="_x0000_s11266" name="Document" r:id="rId4" imgW="8759952" imgH="5297424" progId="Word.Document.8">
              <p:embed/>
            </p:oleObj>
          </a:graphicData>
        </a:graphic>
      </p:graphicFrame>
      <p:sp>
        <p:nvSpPr>
          <p:cNvPr id="201733" name="Text Box 4"/>
          <p:cNvSpPr txBox="1">
            <a:spLocks noChangeArrowheads="1"/>
          </p:cNvSpPr>
          <p:nvPr/>
        </p:nvSpPr>
        <p:spPr bwMode="auto">
          <a:xfrm>
            <a:off x="0" y="3140075"/>
            <a:ext cx="9072563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To guess regional exports as X(i,r) = Shr(i,r).X(i)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For service goods, this is adequate.</a:t>
            </a: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For non-service goods, TERM requires that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Exports(i,r) = value of i loaded onto ship at r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Port data will tell us (roughly):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V(r) = value of all goods loaded onto ship at r</a:t>
            </a:r>
          </a:p>
          <a:p>
            <a:pPr lvl="1" algn="l"/>
            <a:endParaRPr lang="en-AU" sz="18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scale (RAS)  X(i,r) = Shr(i,r).X(i).</a:t>
            </a:r>
            <a:r>
              <a:rPr lang="en-AU" sz="2200">
                <a:solidFill>
                  <a:srgbClr val="CC3300"/>
                </a:solidFill>
                <a:latin typeface="Arial" charset="0"/>
              </a:rPr>
              <a:t>A(r).B(i)             </a:t>
            </a:r>
            <a:r>
              <a:rPr lang="en-AU" sz="2200" i="1">
                <a:solidFill>
                  <a:srgbClr val="CC3300"/>
                </a:solidFill>
                <a:latin typeface="Arial" charset="0"/>
              </a:rPr>
              <a:t>multipliers</a:t>
            </a:r>
            <a:endParaRPr lang="en-AU" sz="2200">
              <a:solidFill>
                <a:srgbClr val="CC3300"/>
              </a:solidFill>
              <a:latin typeface="Arial" charset="0"/>
            </a:endParaRPr>
          </a:p>
          <a:p>
            <a:pPr algn="l"/>
            <a:r>
              <a:rPr lang="en-AU" sz="2200">
                <a:latin typeface="Arial" charset="0"/>
              </a:rPr>
              <a:t>    so that </a:t>
            </a:r>
            <a:r>
              <a:rPr lang="en-AU" sz="2800" b="1">
                <a:latin typeface="Symbol" pitchFamily="18" charset="2"/>
              </a:rPr>
              <a:t>S</a:t>
            </a:r>
            <a:r>
              <a:rPr lang="en-AU" sz="1800" b="1" baseline="-25000">
                <a:latin typeface="Arial" charset="0"/>
              </a:rPr>
              <a:t>i</a:t>
            </a:r>
            <a:r>
              <a:rPr lang="en-AU" sz="2200">
                <a:latin typeface="Arial" charset="0"/>
              </a:rPr>
              <a:t>X(i,r) = V(r)  and </a:t>
            </a:r>
            <a:r>
              <a:rPr lang="en-AU" sz="2800" b="1">
                <a:latin typeface="Symbol" pitchFamily="18" charset="2"/>
              </a:rPr>
              <a:t>S</a:t>
            </a:r>
            <a:r>
              <a:rPr lang="en-AU" sz="2200" baseline="-25000">
                <a:latin typeface="Arial" charset="0"/>
              </a:rPr>
              <a:t>r</a:t>
            </a:r>
            <a:r>
              <a:rPr lang="en-AU" sz="2200">
                <a:latin typeface="Arial" charset="0"/>
              </a:rPr>
              <a:t>X(i,r) = X(i) </a:t>
            </a:r>
          </a:p>
        </p:txBody>
      </p:sp>
      <p:sp>
        <p:nvSpPr>
          <p:cNvPr id="201734" name="Line 5"/>
          <p:cNvSpPr>
            <a:spLocks noChangeShapeType="1"/>
          </p:cNvSpPr>
          <p:nvPr/>
        </p:nvSpPr>
        <p:spPr bwMode="auto">
          <a:xfrm>
            <a:off x="4902200" y="5943600"/>
            <a:ext cx="3352800" cy="0"/>
          </a:xfrm>
          <a:prstGeom prst="line">
            <a:avLst/>
          </a:prstGeom>
          <a:noFill/>
          <a:ln w="317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01735" name="TextBox 6"/>
          <p:cNvSpPr txBox="1">
            <a:spLocks noChangeArrowheads="1"/>
          </p:cNvSpPr>
          <p:nvPr/>
        </p:nvSpPr>
        <p:spPr bwMode="auto">
          <a:xfrm>
            <a:off x="0" y="673100"/>
            <a:ext cx="3810000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Given X(i) = national exports of I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could use production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</p:txBody>
      </p:sp>
    </p:spTree>
    <p:extLst>
      <p:ext uri="{BB962C8B-B14F-4D97-AF65-F5344CB8AC3E}">
        <p14:creationId xmlns:p14="http://schemas.microsoft.com/office/powerpoint/2010/main" xmlns="" val="397515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6B9991A2-62A5-4B0D-B511-068AD87EAF61}" type="slidenum">
              <a:rPr lang="en-US" sz="1400">
                <a:latin typeface="Times New Roman" pitchFamily="18" charset="0"/>
              </a:rPr>
              <a:pPr algn="r"/>
              <a:t>20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Regional Demand and Supply</a:t>
            </a:r>
            <a:endParaRPr lang="en-US" sz="3200"/>
          </a:p>
        </p:txBody>
      </p:sp>
      <p:graphicFrame>
        <p:nvGraphicFramePr>
          <p:cNvPr id="202756" name="Object 3"/>
          <p:cNvGraphicFramePr>
            <a:graphicFrameLocks noChangeAspect="1"/>
          </p:cNvGraphicFramePr>
          <p:nvPr/>
        </p:nvGraphicFramePr>
        <p:xfrm>
          <a:off x="88900" y="482600"/>
          <a:ext cx="6896100" cy="4165600"/>
        </p:xfrm>
        <a:graphic>
          <a:graphicData uri="http://schemas.openxmlformats.org/presentationml/2006/ole">
            <p:oleObj spid="_x0000_s12290" name="Document" r:id="rId4" imgW="8778240" imgH="5297424" progId="Word.Document.8">
              <p:embed/>
            </p:oleObj>
          </a:graphicData>
        </a:graphic>
      </p:graphicFrame>
      <p:sp>
        <p:nvSpPr>
          <p:cNvPr id="202757" name="Text Box 4"/>
          <p:cNvSpPr txBox="1">
            <a:spLocks noChangeArrowheads="1"/>
          </p:cNvSpPr>
          <p:nvPr/>
        </p:nvSpPr>
        <p:spPr bwMode="auto">
          <a:xfrm>
            <a:off x="165100" y="3140075"/>
            <a:ext cx="8907463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200">
                <a:latin typeface="Arial" charset="0"/>
              </a:rPr>
              <a:t>With all columns split, we can work out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Supply by each region of each domestic good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Demand by each region for each domestic and imported good</a:t>
            </a:r>
          </a:p>
          <a:p>
            <a:pPr algn="l"/>
            <a:r>
              <a:rPr lang="en-AU" sz="2200">
                <a:latin typeface="Arial" charset="0"/>
              </a:rPr>
              <a:t>For non-service goods, TERM requires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Imports(i,r) = value of i unloaded from ship at r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We use port data to estimate this, similar to method used for exports</a:t>
            </a:r>
          </a:p>
          <a:p>
            <a:pPr algn="l"/>
            <a:r>
              <a:rPr lang="en-AU" sz="2200">
                <a:latin typeface="Arial" charset="0"/>
              </a:rPr>
              <a:t>For each good, domestic or imported, a region is:</a:t>
            </a:r>
          </a:p>
          <a:p>
            <a:pPr lvl="1" algn="l">
              <a:buFontTx/>
              <a:buChar char="•"/>
            </a:pPr>
            <a:r>
              <a:rPr lang="en-AU" sz="1800">
                <a:solidFill>
                  <a:srgbClr val="CC3300"/>
                </a:solidFill>
                <a:latin typeface="Arial" charset="0"/>
              </a:rPr>
              <a:t>self-sufficient</a:t>
            </a:r>
            <a:r>
              <a:rPr lang="en-AU" sz="1800">
                <a:latin typeface="Arial" charset="0"/>
              </a:rPr>
              <a:t> if Supply&gt;Demand </a:t>
            </a:r>
          </a:p>
          <a:p>
            <a:pPr lvl="1" algn="l">
              <a:buFontTx/>
              <a:buChar char="•"/>
            </a:pPr>
            <a:r>
              <a:rPr lang="en-AU" sz="1800">
                <a:solidFill>
                  <a:srgbClr val="CC3300"/>
                </a:solidFill>
                <a:latin typeface="Arial" charset="0"/>
              </a:rPr>
              <a:t>deficient</a:t>
            </a:r>
            <a:r>
              <a:rPr lang="en-AU" sz="1800">
                <a:latin typeface="Arial" charset="0"/>
              </a:rPr>
              <a:t> if Supply&lt;Demand</a:t>
            </a:r>
          </a:p>
          <a:p>
            <a:pPr algn="l"/>
            <a:r>
              <a:rPr lang="en-AU" sz="2200">
                <a:latin typeface="Arial" charset="0"/>
              </a:rPr>
              <a:t>We assume that deficient regions export less to other regions, </a:t>
            </a:r>
            <a:br>
              <a:rPr lang="en-AU" sz="2200">
                <a:latin typeface="Arial" charset="0"/>
              </a:rPr>
            </a:br>
            <a:r>
              <a:rPr lang="en-AU" sz="2200">
                <a:latin typeface="Arial" charset="0"/>
              </a:rPr>
              <a:t>and that self-sufficient regions import less from other regions.</a:t>
            </a:r>
          </a:p>
          <a:p>
            <a:endParaRPr lang="en-AU" sz="2200" b="1">
              <a:latin typeface="Arial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7151688" y="903288"/>
            <a:ext cx="1123950" cy="404812"/>
          </a:xfrm>
          <a:prstGeom prst="rect">
            <a:avLst/>
          </a:prstGeom>
          <a:solidFill>
            <a:srgbClr val="FFCC99"/>
          </a:solidFill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AU" sz="1800" b="1">
                <a:latin typeface="Arial" charset="0"/>
              </a:rPr>
              <a:t>Demand</a:t>
            </a:r>
          </a:p>
        </p:txBody>
      </p:sp>
      <p:sp>
        <p:nvSpPr>
          <p:cNvPr id="202759" name="Line 7"/>
          <p:cNvSpPr>
            <a:spLocks noChangeShapeType="1"/>
          </p:cNvSpPr>
          <p:nvPr/>
        </p:nvSpPr>
        <p:spPr bwMode="auto">
          <a:xfrm flipH="1" flipV="1">
            <a:off x="6032500" y="1104900"/>
            <a:ext cx="11049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02760" name="Text Box 10"/>
          <p:cNvSpPr txBox="1">
            <a:spLocks noChangeArrowheads="1"/>
          </p:cNvSpPr>
          <p:nvPr/>
        </p:nvSpPr>
        <p:spPr bwMode="auto">
          <a:xfrm>
            <a:off x="3538538" y="2719388"/>
            <a:ext cx="984250" cy="404812"/>
          </a:xfrm>
          <a:prstGeom prst="rect">
            <a:avLst/>
          </a:prstGeom>
          <a:solidFill>
            <a:srgbClr val="FFCC99"/>
          </a:solidFill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AU" sz="1800" b="1">
                <a:latin typeface="Arial" charset="0"/>
              </a:rPr>
              <a:t>Supply</a:t>
            </a:r>
          </a:p>
        </p:txBody>
      </p:sp>
      <p:sp>
        <p:nvSpPr>
          <p:cNvPr id="202761" name="Line 11"/>
          <p:cNvSpPr>
            <a:spLocks noChangeShapeType="1"/>
          </p:cNvSpPr>
          <p:nvPr/>
        </p:nvSpPr>
        <p:spPr bwMode="auto">
          <a:xfrm flipH="1" flipV="1">
            <a:off x="2413000" y="2921000"/>
            <a:ext cx="11176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xmlns="" val="27848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2C3CC4A0-12AE-4074-AC25-78DF9C83BF4B}" type="slidenum">
              <a:rPr lang="en-US" sz="1400">
                <a:latin typeface="Times New Roman" pitchFamily="18" charset="0"/>
              </a:rPr>
              <a:pPr algn="r"/>
              <a:t>21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7577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0"/>
            <a:ext cx="8534400" cy="800100"/>
          </a:xfrm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</a:extLst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Forming the TRADE matrix</a:t>
            </a:r>
            <a:endParaRPr lang="en-US" sz="3600">
              <a:latin typeface="Tahoma" pitchFamily="34" charset="0"/>
            </a:endParaRP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228600" y="5105400"/>
            <a:ext cx="8534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Row and Column Totals are already known.</a:t>
            </a:r>
          </a:p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Diagonal (goods produced and used in same region):</a:t>
            </a:r>
          </a:p>
          <a:p>
            <a:pPr marL="800100" lvl="1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based on Min(Demand,Supply).</a:t>
            </a:r>
          </a:p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Off-Diagonals follow Gravity rule: = K.Distance(org,dst)</a:t>
            </a:r>
            <a:r>
              <a:rPr lang="en-AU" sz="3200" baseline="30000">
                <a:solidFill>
                  <a:schemeClr val="tx2"/>
                </a:solidFill>
                <a:latin typeface="Arial" charset="0"/>
              </a:rPr>
              <a:t>-</a:t>
            </a:r>
            <a:r>
              <a:rPr lang="en-AU" sz="3200" baseline="30000">
                <a:solidFill>
                  <a:schemeClr val="tx2"/>
                </a:solidFill>
                <a:latin typeface="Symbol" pitchFamily="18" charset="2"/>
              </a:rPr>
              <a:t>a</a:t>
            </a:r>
            <a:r>
              <a:rPr lang="en-AU" sz="2000">
                <a:solidFill>
                  <a:schemeClr val="tx2"/>
                </a:solidFill>
                <a:latin typeface="Arial" charset="0"/>
              </a:rPr>
              <a:t/>
            </a:r>
            <a:br>
              <a:rPr lang="en-AU" sz="2000">
                <a:solidFill>
                  <a:schemeClr val="tx2"/>
                </a:solidFill>
                <a:latin typeface="Arial" charset="0"/>
              </a:rPr>
            </a:br>
            <a:endParaRPr lang="en-US" sz="200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757765" name="Rectangle 5"/>
          <p:cNvSpPr>
            <a:spLocks noChangeArrowheads="1"/>
          </p:cNvSpPr>
          <p:nvPr/>
        </p:nvSpPr>
        <p:spPr bwMode="auto">
          <a:xfrm>
            <a:off x="889000" y="990600"/>
            <a:ext cx="66040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endParaRPr lang="en-AU" sz="3600" b="1">
              <a:solidFill>
                <a:schemeClr val="tx2"/>
              </a:solidFill>
            </a:endParaRPr>
          </a:p>
        </p:txBody>
      </p:sp>
      <p:sp>
        <p:nvSpPr>
          <p:cNvPr id="757766" name="Rectangle 6"/>
          <p:cNvSpPr>
            <a:spLocks noChangeArrowheads="1"/>
          </p:cNvSpPr>
          <p:nvPr/>
        </p:nvSpPr>
        <p:spPr bwMode="auto">
          <a:xfrm>
            <a:off x="2717800" y="11303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AU" sz="2000" b="1">
                <a:solidFill>
                  <a:schemeClr val="tx2"/>
                </a:solidFill>
                <a:latin typeface="Arial" charset="0"/>
              </a:rPr>
              <a:t>User or destination region</a:t>
            </a:r>
            <a:endParaRPr lang="en-US" sz="3600" b="1">
              <a:solidFill>
                <a:schemeClr val="tx2"/>
              </a:solidFill>
            </a:endParaRPr>
          </a:p>
        </p:txBody>
      </p:sp>
      <p:sp>
        <p:nvSpPr>
          <p:cNvPr id="757767" name="Rectangle 7"/>
          <p:cNvSpPr>
            <a:spLocks noChangeArrowheads="1"/>
          </p:cNvSpPr>
          <p:nvPr/>
        </p:nvSpPr>
        <p:spPr bwMode="auto">
          <a:xfrm>
            <a:off x="0" y="2349500"/>
            <a:ext cx="111125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r>
              <a:rPr lang="en-AU" sz="1800" b="1">
                <a:solidFill>
                  <a:schemeClr val="tx2"/>
                </a:solidFill>
                <a:latin typeface="Arial" charset="0"/>
              </a:rPr>
              <a:t>Producer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or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source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region</a:t>
            </a:r>
            <a:endParaRPr lang="en-US" sz="3600" b="1">
              <a:solidFill>
                <a:schemeClr val="tx2"/>
              </a:solidFill>
            </a:endParaRPr>
          </a:p>
        </p:txBody>
      </p:sp>
      <p:sp>
        <p:nvSpPr>
          <p:cNvPr id="757768" name="Rectangle 8"/>
          <p:cNvSpPr>
            <a:spLocks noChangeArrowheads="1"/>
          </p:cNvSpPr>
          <p:nvPr/>
        </p:nvSpPr>
        <p:spPr bwMode="auto">
          <a:xfrm>
            <a:off x="0" y="1003300"/>
            <a:ext cx="29083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AU" sz="1400" b="1">
                <a:solidFill>
                  <a:schemeClr val="tx2"/>
                </a:solidFill>
                <a:latin typeface="Arial" charset="0"/>
              </a:rPr>
              <a:t>TRADE("FoodProd","dom") </a:t>
            </a:r>
            <a:endParaRPr lang="en-US" sz="1400" b="1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203785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2850" y="1595438"/>
            <a:ext cx="7842250" cy="350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3175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6955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CA21FDC9-0E55-431E-95E3-7109ED592F20}" type="slidenum">
              <a:rPr lang="en-US" sz="1400">
                <a:latin typeface="Times New Roman" pitchFamily="18" charset="0"/>
              </a:rPr>
              <a:pPr algn="r"/>
              <a:t>22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TRADE and TRADMAR</a:t>
            </a:r>
            <a:endParaRPr lang="en-US" sz="3200"/>
          </a:p>
        </p:txBody>
      </p:sp>
      <p:sp>
        <p:nvSpPr>
          <p:cNvPr id="204804" name="Text Box 3"/>
          <p:cNvSpPr txBox="1">
            <a:spLocks noChangeArrowheads="1"/>
          </p:cNvSpPr>
          <p:nvPr/>
        </p:nvSpPr>
        <p:spPr bwMode="auto">
          <a:xfrm>
            <a:off x="266700" y="1019175"/>
            <a:ext cx="870426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>
                <a:latin typeface="Arial" charset="0"/>
              </a:rPr>
              <a:t>TRADE matrix does not really matter if:</a:t>
            </a:r>
          </a:p>
          <a:p>
            <a:pPr lvl="1" algn="l">
              <a:buFontTx/>
              <a:buChar char="•"/>
            </a:pPr>
            <a:r>
              <a:rPr lang="en-AU">
                <a:latin typeface="Arial" charset="0"/>
              </a:rPr>
              <a:t> </a:t>
            </a:r>
            <a:r>
              <a:rPr lang="en-AU" sz="2000">
                <a:latin typeface="Arial" charset="0"/>
              </a:rPr>
              <a:t>a good is mainly produced in one region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goods from different regions are very good substitutes</a:t>
            </a:r>
          </a:p>
          <a:p>
            <a:pPr algn="l"/>
            <a:endParaRPr lang="en-AU">
              <a:latin typeface="Arial" charset="0"/>
            </a:endParaRPr>
          </a:p>
          <a:p>
            <a:pPr algn="l"/>
            <a:r>
              <a:rPr lang="en-AU">
                <a:latin typeface="Arial" charset="0"/>
              </a:rPr>
              <a:t>Shares from TRADE matrix are used to create TRADMAR, bearing in mind that:</a:t>
            </a:r>
          </a:p>
          <a:p>
            <a:pPr lvl="1" algn="l">
              <a:buFontTx/>
              <a:buChar char="•"/>
            </a:pPr>
            <a:r>
              <a:rPr lang="en-AU">
                <a:latin typeface="Arial" charset="0"/>
              </a:rPr>
              <a:t> </a:t>
            </a:r>
            <a:r>
              <a:rPr lang="en-AU" sz="2000">
                <a:latin typeface="Arial" charset="0"/>
              </a:rPr>
              <a:t>long trips need more transport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some regions have no railway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islands need more shipping</a:t>
            </a:r>
          </a:p>
        </p:txBody>
      </p:sp>
    </p:spTree>
    <p:extLst>
      <p:ext uri="{BB962C8B-B14F-4D97-AF65-F5344CB8AC3E}">
        <p14:creationId xmlns:p14="http://schemas.microsoft.com/office/powerpoint/2010/main" xmlns="" val="361390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0B7724E0-DD68-49E1-81BE-AA4482DF4704}" type="slidenum">
              <a:rPr lang="en-US" sz="1400">
                <a:latin typeface="Times New Roman" pitchFamily="18" charset="0"/>
              </a:rPr>
              <a:pPr algn="r"/>
              <a:t>23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58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Downloadable examples (China)</a:t>
            </a:r>
            <a:endParaRPr lang="en-US" sz="3200"/>
          </a:p>
        </p:txBody>
      </p:sp>
      <p:sp>
        <p:nvSpPr>
          <p:cNvPr id="205828" name="Text Box 3"/>
          <p:cNvSpPr txBox="1">
            <a:spLocks noChangeArrowheads="1"/>
          </p:cNvSpPr>
          <p:nvPr/>
        </p:nvSpPr>
        <p:spPr bwMode="auto">
          <a:xfrm>
            <a:off x="266700" y="1019175"/>
            <a:ext cx="870426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200">
                <a:latin typeface="Arial" charset="0"/>
              </a:rPr>
              <a:t>From http://www.copsmodels.com/archivep.htm</a:t>
            </a:r>
          </a:p>
          <a:p>
            <a:pPr algn="l"/>
            <a:endParaRPr lang="en-AU" sz="2200">
              <a:latin typeface="Arial" charset="0"/>
            </a:endParaRPr>
          </a:p>
          <a:p>
            <a:pPr algn="l"/>
            <a:endParaRPr lang="en-AU" sz="2200">
              <a:latin typeface="Arial" charset="0"/>
            </a:endParaRPr>
          </a:p>
          <a:p>
            <a:pPr algn="l"/>
            <a:r>
              <a:rPr lang="en-AU" sz="2200" b="1">
                <a:latin typeface="Arial" charset="0"/>
              </a:rPr>
              <a:t>TPMH0083</a:t>
            </a:r>
            <a:r>
              <a:rPr lang="en-AU" sz="2200">
                <a:latin typeface="Arial" charset="0"/>
              </a:rPr>
              <a:t> Version of ORANI-G model and data based on the Chinese 2002 Input-Output Tables. Agricultural detail has been added, expanding the original 122 sectors to 137. Top-down regional shares are included for 31 provinces. </a:t>
            </a:r>
            <a:r>
              <a:rPr lang="en-AU" sz="2200">
                <a:solidFill>
                  <a:srgbClr val="CC3300"/>
                </a:solidFill>
                <a:latin typeface="Arial" charset="0"/>
              </a:rPr>
              <a:t>Also included are all programs used to generate the database. </a:t>
            </a:r>
          </a:p>
          <a:p>
            <a:pPr algn="l"/>
            <a:endParaRPr lang="en-AU" sz="2200">
              <a:latin typeface="Arial" charset="0"/>
            </a:endParaRPr>
          </a:p>
          <a:p>
            <a:pPr algn="l"/>
            <a:r>
              <a:rPr lang="en-AU" sz="2200" b="1">
                <a:latin typeface="Arial" charset="0"/>
              </a:rPr>
              <a:t>TPMH006</a:t>
            </a:r>
            <a:r>
              <a:rPr lang="en-AU" sz="2200">
                <a:latin typeface="Arial" charset="0"/>
              </a:rPr>
              <a:t>7 Example of the generic (non-country specific) version of TERM (as at March 2006), For illustrative purposes, a 25-sector, 31-region China dataset is used. This download also </a:t>
            </a:r>
            <a:r>
              <a:rPr lang="en-AU" sz="2200">
                <a:solidFill>
                  <a:srgbClr val="CC3300"/>
                </a:solidFill>
                <a:latin typeface="Arial" charset="0"/>
              </a:rPr>
              <a:t>includes the full suite of programs and scripts used to generate the China TERM database from a national CGE database (ORANI-G format)</a:t>
            </a:r>
            <a:r>
              <a:rPr lang="en-AU" sz="2200">
                <a:latin typeface="Arial" charset="0"/>
              </a:rPr>
              <a:t> that includes the limited regional data needed for a "top-down" regional extension. </a:t>
            </a: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 b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6696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767</Words>
  <Application>Microsoft Office PowerPoint</Application>
  <PresentationFormat>On-screen Show (4:3)</PresentationFormat>
  <Paragraphs>115</Paragraphs>
  <Slides>23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Document</vt:lpstr>
      <vt:lpstr>IndoTERM Database Structure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Building a TERM database By Mark Horridge (CoPS)</vt:lpstr>
      <vt:lpstr>Starting point: National USE table</vt:lpstr>
      <vt:lpstr>Splitting industry columns</vt:lpstr>
      <vt:lpstr>Splitting household and Gov columns</vt:lpstr>
      <vt:lpstr>Splitting investment columns</vt:lpstr>
      <vt:lpstr>Splitting the export column</vt:lpstr>
      <vt:lpstr>Regional Demand and Supply</vt:lpstr>
      <vt:lpstr>Forming the TRADE matrix</vt:lpstr>
      <vt:lpstr>TRADE and TRADMAR</vt:lpstr>
      <vt:lpstr>Downloadable examples (China)</vt:lpstr>
    </vt:vector>
  </TitlesOfParts>
  <Company>Clemson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IndoTERM: The basic concept, theoretical foundation, and assumption</dc:title>
  <dc:creator>irum</dc:creator>
  <cp:lastModifiedBy>LP3E-FE</cp:lastModifiedBy>
  <cp:revision>21</cp:revision>
  <dcterms:created xsi:type="dcterms:W3CDTF">2012-10-18T06:52:08Z</dcterms:created>
  <dcterms:modified xsi:type="dcterms:W3CDTF">2015-04-04T19:52:36Z</dcterms:modified>
</cp:coreProperties>
</file>