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1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84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EC24-0E55-4994-8DDC-8058D186F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A80DD-8EC2-4FF3-A36E-886792FB3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38C99-0508-4510-9412-6581C070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A870-EDA1-4726-8C1D-7034C6B3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0E111-8C70-4641-9DC7-6758A73B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8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872F-E7E2-431C-8C94-0CCA26AA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090EE-7908-4EEB-A834-F0EB0724D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23E3C-4BAD-4323-8E05-DA47F26EA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3FABE-4E39-4772-977B-604FF8576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E594F-1FE6-431D-B3C4-42A2BAC6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8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490B-01A4-40F6-B724-7B24B5685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16F35-6EAA-446C-A95A-F1D9CBD88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D30AB-FF85-4DCA-8C7E-CB3A8E00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343EC-31ED-4FC9-93C2-B597B602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26FE4-4D42-4FC3-91A4-CC906892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5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07D8-38D0-43F4-BADB-3168D8CAD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E4B-F3D8-4638-93AA-471CDB403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3EF33-1D26-47E2-95BD-8C744BCF3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4D503-42A0-477D-A111-2E9EEE5D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B73BD-3BB2-4392-82DF-0058E740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A9CBA-C4FC-4CFF-BD83-860560DA3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7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B47C-6970-4568-9244-168BDD53C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9774E-2C11-4761-93A2-9CDB6638D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6C8F5-DD1D-4625-AE0A-7B50CCFDE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16E5A-03B3-454A-95C9-51FEBE954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5E0C4-BCDC-4C64-A12A-BB360B6B4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044380-F281-49F6-BC27-648A41A85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3C0DD1-3AD8-4003-B40B-4F5E4C5FA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5A831-550C-439E-8E3C-A36ED91A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66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82325-E295-4B7A-9F90-CF7977DC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1B3F0-F0BC-4754-B532-A32BF324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201DB-1F01-47E4-AA58-D4116C58F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0D454-3C0D-4EFD-A13D-CEBA0E53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4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CA32A-5590-4679-B344-564B8ACFE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39A83-8466-44CD-B032-19068B0A1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1D568-B619-4639-AECD-AE1530C6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5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2E92-AE36-45CC-8A9E-06F5D8BDD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3E86-C088-4BDA-A094-BA2336979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C0DD7-D785-43C3-AAB7-713BA8F7C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90E4C-7ABA-43C8-BDDC-DD128D5D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F0E5B-7911-4CB2-A442-EBB39622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8A8D8-DE52-4D6D-A7B2-7D969D23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5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7EA6-8265-423A-9D15-F3A27D7B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72D29-7823-4F93-9ACD-92435BAA26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0A32F-8432-4048-A575-176DF1FFC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D6BE1-F6EA-4933-AFC2-2A3FDF124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87A60-13FE-4424-83F8-6BBE6701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FFCDB-F298-44EF-B60C-174C31C5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2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674A-1C73-448A-BC5F-9D7BCEDC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3A071-A765-432B-B1F8-BC434CD25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C9FE2-7EFA-4B4E-96D0-367413B7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3D7F-C894-4BD7-9594-D06EFE02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FB2E7-DA3C-4009-9657-E9451A0C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8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E34D2F-0E96-4844-88A2-3FE3F26F6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AA427-70A6-4E88-9563-565E19EC6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C29D-9CDC-49FD-A4EB-AF6DFEE4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297E0-DF1D-4882-ABCD-C1ECB250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BF05E-6BC6-4401-86A9-0AFCBB0E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0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03F6AE-7F98-4209-9C45-972B57EC8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2F8C3-11B2-470A-9134-DD1C582DB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D45E5-FC97-4FDD-9355-3F304CDC7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FE951-424F-438D-8C6A-4FF31779CD5C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2C2E4-9BE5-473C-94D9-8AB1D76A3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D32E-99F7-4DB4-8673-92D5214F7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F1CD9-5081-4C55-9C99-45217EE8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30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F4D120-3921-42A8-A063-46B023CB0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red, man, white, display&#10;&#10;Description automatically generated">
            <a:extLst>
              <a:ext uri="{FF2B5EF4-FFF2-40B4-BE49-F238E27FC236}">
                <a16:creationId xmlns:a16="http://schemas.microsoft.com/office/drawing/2014/main" id="{6DB616D6-F016-4ECC-98B0-4B46A51E71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68" r="-2" b="-2"/>
          <a:stretch/>
        </p:blipFill>
        <p:spPr>
          <a:xfrm>
            <a:off x="4476307" y="595421"/>
            <a:ext cx="7715693" cy="56584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01B3E5-85F4-41A9-A504-D5E6268DE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9"/>
          <a:stretch>
            <a:fillRect/>
          </a:stretch>
        </p:blipFill>
        <p:spPr>
          <a:xfrm>
            <a:off x="3466214" y="550975"/>
            <a:ext cx="8725786" cy="5756049"/>
          </a:xfrm>
          <a:custGeom>
            <a:avLst/>
            <a:gdLst>
              <a:gd name="connsiteX0" fmla="*/ 0 w 8725786"/>
              <a:gd name="connsiteY0" fmla="*/ 0 h 5756049"/>
              <a:gd name="connsiteX1" fmla="*/ 8725786 w 8725786"/>
              <a:gd name="connsiteY1" fmla="*/ 0 h 5756049"/>
              <a:gd name="connsiteX2" fmla="*/ 8725786 w 8725786"/>
              <a:gd name="connsiteY2" fmla="*/ 5756049 h 5756049"/>
              <a:gd name="connsiteX3" fmla="*/ 0 w 8725786"/>
              <a:gd name="connsiteY3" fmla="*/ 5756049 h 5756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25786" h="5756049">
                <a:moveTo>
                  <a:pt x="0" y="0"/>
                </a:moveTo>
                <a:lnTo>
                  <a:pt x="8725786" y="0"/>
                </a:lnTo>
                <a:lnTo>
                  <a:pt x="8725786" y="5756049"/>
                </a:lnTo>
                <a:lnTo>
                  <a:pt x="0" y="575604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7171D1-690F-4712-A568-27785A88E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484" y="2546823"/>
            <a:ext cx="3948269" cy="2383844"/>
          </a:xfrm>
        </p:spPr>
        <p:txBody>
          <a:bodyPr anchor="t">
            <a:normAutofit/>
          </a:bodyPr>
          <a:lstStyle/>
          <a:p>
            <a:pPr algn="l"/>
            <a:r>
              <a:rPr lang="en-US" sz="4400">
                <a:solidFill>
                  <a:srgbClr val="000000"/>
                </a:solidFill>
              </a:rPr>
              <a:t>TERM Closure and Shocks guideline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978B0-7896-43C2-9B18-EB970AF3B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788" y="1485718"/>
            <a:ext cx="3745947" cy="1061105"/>
          </a:xfrm>
        </p:spPr>
        <p:txBody>
          <a:bodyPr anchor="b">
            <a:normAutofit/>
          </a:bodyPr>
          <a:lstStyle/>
          <a:p>
            <a:pPr algn="l"/>
            <a:r>
              <a:rPr lang="en-US" sz="1800">
                <a:solidFill>
                  <a:srgbClr val="000000"/>
                </a:solidFill>
              </a:rPr>
              <a:t>Arief Anshory Yusuf</a:t>
            </a:r>
          </a:p>
        </p:txBody>
      </p:sp>
    </p:spTree>
    <p:extLst>
      <p:ext uri="{BB962C8B-B14F-4D97-AF65-F5344CB8AC3E}">
        <p14:creationId xmlns:p14="http://schemas.microsoft.com/office/powerpoint/2010/main" val="2205867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976703-B2AA-4295-9352-595F34E35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51" y="42532"/>
            <a:ext cx="10278552" cy="44188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4EC9BF-83F2-4C08-A846-7EAD554A4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9" y="4450839"/>
            <a:ext cx="10822899" cy="228625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14FE680-4C74-4DF5-9459-57F10397EB7F}"/>
              </a:ext>
            </a:extLst>
          </p:cNvPr>
          <p:cNvGrpSpPr/>
          <p:nvPr/>
        </p:nvGrpSpPr>
        <p:grpSpPr>
          <a:xfrm rot="17816594">
            <a:off x="8261168" y="2748516"/>
            <a:ext cx="4263985" cy="461665"/>
            <a:chOff x="7803968" y="3429000"/>
            <a:chExt cx="4263985" cy="4616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9A853E-F6C0-47D8-993C-ABB6DCB02AD3}"/>
                </a:ext>
              </a:extLst>
            </p:cNvPr>
            <p:cNvSpPr txBox="1"/>
            <p:nvPr/>
          </p:nvSpPr>
          <p:spPr>
            <a:xfrm>
              <a:off x="7803968" y="3429000"/>
              <a:ext cx="42402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TERM Automatic Closure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EA9F48-F646-49F6-8B67-6D6D6F15230D}"/>
                </a:ext>
              </a:extLst>
            </p:cNvPr>
            <p:cNvCxnSpPr/>
            <p:nvPr/>
          </p:nvCxnSpPr>
          <p:spPr>
            <a:xfrm>
              <a:off x="7804298" y="3429000"/>
              <a:ext cx="4263655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32B0198-A206-4FDE-A431-1F2D7B45F9E0}"/>
                </a:ext>
              </a:extLst>
            </p:cNvPr>
            <p:cNvCxnSpPr/>
            <p:nvPr/>
          </p:nvCxnSpPr>
          <p:spPr>
            <a:xfrm>
              <a:off x="7804298" y="3890665"/>
              <a:ext cx="4263655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3225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05E4F47-B148-49E0-B472-BBF149315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9972" y="0"/>
            <a:ext cx="6421721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A2CE8EB-F719-4F84-9E91-F538438CA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C465CC-E5AA-47BF-A8D9-B98363B0C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40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Modifying automatic closures: </a:t>
            </a:r>
            <a:r>
              <a:rPr lang="en-US" sz="3600" b="1" dirty="0">
                <a:solidFill>
                  <a:srgbClr val="D11F21"/>
                </a:solidFill>
              </a:rPr>
              <a:t>short-run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CD0F-1AA1-4276-B4F0-74AD88DE7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>
                <a:solidFill>
                  <a:srgbClr val="000000"/>
                </a:solidFill>
              </a:rPr>
              <a:t>National Investment  is exogenous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 b="1">
                <a:solidFill>
                  <a:srgbClr val="000000"/>
                </a:solidFill>
              </a:rPr>
              <a:t>swap</a:t>
            </a:r>
            <a:r>
              <a:rPr lang="en-US" sz="1800">
                <a:solidFill>
                  <a:srgbClr val="000000"/>
                </a:solidFill>
              </a:rPr>
              <a:t> invslack =  NatMacro(</a:t>
            </a:r>
            <a:r>
              <a:rPr lang="en-US" sz="1800" i="1">
                <a:solidFill>
                  <a:srgbClr val="000000"/>
                </a:solidFill>
              </a:rPr>
              <a:t>"RealInv"</a:t>
            </a:r>
            <a:r>
              <a:rPr lang="en-US" sz="1800">
                <a:solidFill>
                  <a:srgbClr val="000000"/>
                </a:solidFill>
              </a:rPr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>
                <a:solidFill>
                  <a:srgbClr val="000000"/>
                </a:solidFill>
              </a:rPr>
              <a:t>Regional consumption follow wage income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 b="1">
                <a:solidFill>
                  <a:srgbClr val="000000"/>
                </a:solidFill>
              </a:rPr>
              <a:t>swap</a:t>
            </a:r>
            <a:r>
              <a:rPr lang="en-US" sz="1800">
                <a:solidFill>
                  <a:srgbClr val="000000"/>
                </a:solidFill>
              </a:rPr>
              <a:t> xhouhtot =  fhou; 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>
                <a:solidFill>
                  <a:srgbClr val="000000"/>
                </a:solidFill>
              </a:rPr>
              <a:t>Switch off regional wage differentials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 b="1">
                <a:solidFill>
                  <a:srgbClr val="000000"/>
                </a:solidFill>
              </a:rPr>
              <a:t>swap</a:t>
            </a:r>
            <a:r>
              <a:rPr lang="en-US" sz="1800">
                <a:solidFill>
                  <a:srgbClr val="000000"/>
                </a:solidFill>
              </a:rPr>
              <a:t>   flab_i = flabsupA;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>
                <a:solidFill>
                  <a:srgbClr val="000000"/>
                </a:solidFill>
              </a:rPr>
              <a:t>Switch off national labour supply mechanism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 b="1">
                <a:solidFill>
                  <a:srgbClr val="000000"/>
                </a:solidFill>
              </a:rPr>
              <a:t>swap</a:t>
            </a:r>
            <a:r>
              <a:rPr lang="en-US" sz="1800">
                <a:solidFill>
                  <a:srgbClr val="000000"/>
                </a:solidFill>
              </a:rPr>
              <a:t> labslack = flabsup_id; </a:t>
            </a:r>
            <a:br>
              <a:rPr lang="en-US" sz="1800" i="1">
                <a:solidFill>
                  <a:srgbClr val="000000"/>
                </a:solidFill>
              </a:rPr>
            </a:b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3" name="Freeform 50">
            <a:extLst>
              <a:ext uri="{FF2B5EF4-FFF2-40B4-BE49-F238E27FC236}">
                <a16:creationId xmlns:a16="http://schemas.microsoft.com/office/drawing/2014/main" id="{684BF3E1-C321-4F38-85CF-FEBBEEC15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7121" y="581159"/>
            <a:ext cx="5464879" cy="6276841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person jumping in the air&#10;&#10;Description automatically generated">
            <a:extLst>
              <a:ext uri="{FF2B5EF4-FFF2-40B4-BE49-F238E27FC236}">
                <a16:creationId xmlns:a16="http://schemas.microsoft.com/office/drawing/2014/main" id="{29DCAC13-4D10-4E95-9E8E-694AAAED6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7" r="1381" b="-3"/>
          <a:stretch/>
        </p:blipFill>
        <p:spPr>
          <a:xfrm>
            <a:off x="7708392" y="1819649"/>
            <a:ext cx="4142232" cy="4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8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65CC-E5AA-47BF-A8D9-B98363B0C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Modifying automatic closures: </a:t>
            </a:r>
            <a:r>
              <a:rPr lang="en-US" b="1" dirty="0">
                <a:solidFill>
                  <a:srgbClr val="C00000"/>
                </a:solidFill>
              </a:rPr>
              <a:t>long-run</a:t>
            </a:r>
          </a:p>
        </p:txBody>
      </p:sp>
      <p:cxnSp>
        <p:nvCxnSpPr>
          <p:cNvPr id="16" name="Straight Arrow Connector 9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CD0F-1AA1-4276-B4F0-74AD88DE7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500" i="1"/>
              <a:t>Capital stocks determined endogenously </a:t>
            </a:r>
            <a:br>
              <a:rPr lang="en-US" sz="1500" i="1"/>
            </a:br>
            <a:r>
              <a:rPr lang="en-US" sz="1500" b="1"/>
              <a:t>swap </a:t>
            </a:r>
            <a:r>
              <a:rPr lang="en-US" sz="1500"/>
              <a:t>xcap = fgret; 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i="1"/>
              <a:t>Sectoral Investment follows xcap</a:t>
            </a:r>
            <a:br>
              <a:rPr lang="en-US" sz="1500" i="1"/>
            </a:br>
            <a:r>
              <a:rPr lang="en-US" sz="1500" b="1"/>
              <a:t>swap</a:t>
            </a:r>
            <a:r>
              <a:rPr lang="en-US" sz="1500"/>
              <a:t> finv1 = ggro;     </a:t>
            </a:r>
            <a:endParaRPr lang="en-US" sz="1500" i="1"/>
          </a:p>
          <a:p>
            <a:pPr>
              <a:buFont typeface="Wingdings" panose="05000000000000000000" pitchFamily="2" charset="2"/>
              <a:buChar char="§"/>
            </a:pPr>
            <a:r>
              <a:rPr lang="en-US" sz="1500" i="1"/>
              <a:t>Make regional consumption follow wage income </a:t>
            </a:r>
            <a:br>
              <a:rPr lang="en-US" sz="1500" i="1"/>
            </a:br>
            <a:r>
              <a:rPr lang="en-US" sz="1500" b="1"/>
              <a:t>swap</a:t>
            </a:r>
            <a:r>
              <a:rPr lang="en-US" sz="1500"/>
              <a:t> xhouhtot = fhou; </a:t>
            </a:r>
            <a:endParaRPr lang="en-US" sz="1500" i="1"/>
          </a:p>
          <a:p>
            <a:pPr>
              <a:buFont typeface="Wingdings" panose="05000000000000000000" pitchFamily="2" charset="2"/>
              <a:buChar char="§"/>
            </a:pPr>
            <a:r>
              <a:rPr lang="en-US" sz="1500" i="1"/>
              <a:t>Fix nominal BOT/GDP nationally</a:t>
            </a:r>
            <a:br>
              <a:rPr lang="en-US" sz="1500" i="1"/>
            </a:br>
            <a:r>
              <a:rPr lang="en-US" sz="1500" b="1"/>
              <a:t>swap</a:t>
            </a:r>
            <a:r>
              <a:rPr lang="en-US" sz="1500"/>
              <a:t> houslack  = shrBoTnom;</a:t>
            </a:r>
            <a:r>
              <a:rPr lang="en-US" sz="1500" i="1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i="1"/>
              <a:t>Option: Link real gov demand to real consumption, by region </a:t>
            </a:r>
            <a:br>
              <a:rPr lang="en-US" sz="1500" i="1"/>
            </a:br>
            <a:r>
              <a:rPr lang="en-US" sz="1500" b="1"/>
              <a:t>swap</a:t>
            </a:r>
            <a:r>
              <a:rPr lang="en-US" sz="1500"/>
              <a:t> fgovtot  = fgovtot2;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i="1"/>
              <a:t>Fix national employment</a:t>
            </a:r>
            <a:br>
              <a:rPr lang="en-US" sz="1500" i="1"/>
            </a:br>
            <a:r>
              <a:rPr lang="en-US" sz="1500" b="1"/>
              <a:t>swap</a:t>
            </a:r>
            <a:r>
              <a:rPr lang="en-US" sz="1500"/>
              <a:t> flabsup_id  = xlab_id; </a:t>
            </a:r>
          </a:p>
        </p:txBody>
      </p:sp>
      <p:pic>
        <p:nvPicPr>
          <p:cNvPr id="5" name="Picture 4" descr="A group of people walking down the street&#10;&#10;Description automatically generated">
            <a:extLst>
              <a:ext uri="{FF2B5EF4-FFF2-40B4-BE49-F238E27FC236}">
                <a16:creationId xmlns:a16="http://schemas.microsoft.com/office/drawing/2014/main" id="{68976927-F73A-424C-93A3-7B8469A743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75"/>
          <a:stretch/>
        </p:blipFill>
        <p:spPr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00973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C38182-4B28-4813-BA50-93C083E8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guideline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841226D3-A166-4383-8A84-371BEB9217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632651"/>
              </p:ext>
            </p:extLst>
          </p:nvPr>
        </p:nvGraphicFramePr>
        <p:xfrm>
          <a:off x="838200" y="1831163"/>
          <a:ext cx="10519896" cy="400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Worksheet" r:id="rId3" imgW="8670134" imgH="3302627" progId="Excel.Sheet.12">
                  <p:embed/>
                </p:oleObj>
              </mc:Choice>
              <mc:Fallback>
                <p:oleObj name="Worksheet" r:id="rId3" imgW="8670134" imgH="3302627" progId="Excel.Sheet.12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31163"/>
                        <a:ext cx="10519896" cy="400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916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DC1281A-713F-4D4C-8C02-3DE90BE446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367275"/>
              </p:ext>
            </p:extLst>
          </p:nvPr>
        </p:nvGraphicFramePr>
        <p:xfrm>
          <a:off x="833107" y="719506"/>
          <a:ext cx="10525785" cy="541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Worksheet" r:id="rId3" imgW="8670134" imgH="4463855" progId="Excel.Sheet.12">
                  <p:embed/>
                </p:oleObj>
              </mc:Choice>
              <mc:Fallback>
                <p:oleObj name="Worksheet" r:id="rId3" imgW="8670134" imgH="4463855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BB67A70-26CC-4928-9BF1-BB2D21FE4B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107" y="719506"/>
                        <a:ext cx="10525785" cy="541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B42924A-83D7-4012-928C-C5B2614F9527}"/>
              </a:ext>
            </a:extLst>
          </p:cNvPr>
          <p:cNvSpPr/>
          <p:nvPr/>
        </p:nvSpPr>
        <p:spPr>
          <a:xfrm>
            <a:off x="8495414" y="5199321"/>
            <a:ext cx="956930" cy="393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72480-4BA9-4D8F-9C37-A59370FC427E}"/>
              </a:ext>
            </a:extLst>
          </p:cNvPr>
          <p:cNvSpPr/>
          <p:nvPr/>
        </p:nvSpPr>
        <p:spPr>
          <a:xfrm>
            <a:off x="8495414" y="5668907"/>
            <a:ext cx="956930" cy="393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3B158-1CEE-4A40-A5AB-92770FCA75C4}"/>
              </a:ext>
            </a:extLst>
          </p:cNvPr>
          <p:cNvSpPr/>
          <p:nvPr/>
        </p:nvSpPr>
        <p:spPr>
          <a:xfrm>
            <a:off x="8266814" y="5252483"/>
            <a:ext cx="1414130" cy="28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atradmar</a:t>
            </a:r>
            <a:r>
              <a:rPr lang="en-US" sz="1600" b="1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E9C8A2-4B60-43CB-8238-7C67143730D1}"/>
              </a:ext>
            </a:extLst>
          </p:cNvPr>
          <p:cNvSpPr/>
          <p:nvPr/>
        </p:nvSpPr>
        <p:spPr>
          <a:xfrm>
            <a:off x="8266814" y="5697242"/>
            <a:ext cx="1414130" cy="28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atrad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853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34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Courier New</vt:lpstr>
      <vt:lpstr>Tw Cen MT</vt:lpstr>
      <vt:lpstr>Wingdings</vt:lpstr>
      <vt:lpstr>Office Theme</vt:lpstr>
      <vt:lpstr>Worksheet</vt:lpstr>
      <vt:lpstr>TERM Closure and Shocks guideline</vt:lpstr>
      <vt:lpstr>PowerPoint Presentation</vt:lpstr>
      <vt:lpstr>Modifying automatic closures: short-run</vt:lpstr>
      <vt:lpstr>Modifying automatic closures: long-run</vt:lpstr>
      <vt:lpstr>Shock guideline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Closure and Shocks guideline</dc:title>
  <dc:creator>Arief Yusuf</dc:creator>
  <cp:lastModifiedBy>Arief Yusuf</cp:lastModifiedBy>
  <cp:revision>5</cp:revision>
  <dcterms:created xsi:type="dcterms:W3CDTF">2020-03-11T07:47:59Z</dcterms:created>
  <dcterms:modified xsi:type="dcterms:W3CDTF">2020-03-11T07:59:38Z</dcterms:modified>
</cp:coreProperties>
</file>